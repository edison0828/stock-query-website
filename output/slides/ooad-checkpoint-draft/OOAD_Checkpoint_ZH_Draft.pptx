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bb460e15124daf" /><Relationship Type="http://schemas.openxmlformats.org/officeDocument/2006/relationships/extended-properties" Target="/docProps/app.xml" Id="R15ef531c5b204b01" /><Relationship Type="http://schemas.openxmlformats.org/officeDocument/2006/relationships/officeDocument" Target="/ppt/presentation.xml" Id="R7dcc47055f594c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626043e3ce484a"/>
  </p:sldMasterIdLst>
  <p:notesMasterIdLst>
    <p:notesMasterId xmlns:r="http://schemas.openxmlformats.org/officeDocument/2006/relationships" r:id="Rd558dbe198a84b83"/>
  </p:notesMasterIdLst>
  <p:sldIdLst>
    <p:sldId xmlns:r="http://schemas.openxmlformats.org/officeDocument/2006/relationships" id="256" r:id="R0f3620c1ce9e4cb4"/>
    <p:sldId xmlns:r="http://schemas.openxmlformats.org/officeDocument/2006/relationships" id="257" r:id="R6aa292237c704743"/>
    <p:sldId xmlns:r="http://schemas.openxmlformats.org/officeDocument/2006/relationships" id="258" r:id="R090e567a01004b6f"/>
    <p:sldId xmlns:r="http://schemas.openxmlformats.org/officeDocument/2006/relationships" id="259" r:id="R439be707b19547de"/>
    <p:sldId xmlns:r="http://schemas.openxmlformats.org/officeDocument/2006/relationships" id="260" r:id="R49279b1467c14299"/>
    <p:sldId xmlns:r="http://schemas.openxmlformats.org/officeDocument/2006/relationships" id="261" r:id="Reff7b89b440f4c8a"/>
    <p:sldId xmlns:r="http://schemas.openxmlformats.org/officeDocument/2006/relationships" id="262" r:id="R625ee12f085f4e10"/>
    <p:sldId xmlns:r="http://schemas.openxmlformats.org/officeDocument/2006/relationships" id="263" r:id="Rb343b4a3b17b432d"/>
    <p:sldId xmlns:r="http://schemas.openxmlformats.org/officeDocument/2006/relationships" id="264" r:id="R3ac5dd0d3f1e42a6"/>
    <p:sldId xmlns:r="http://schemas.openxmlformats.org/officeDocument/2006/relationships" id="265" r:id="R36f20b3c871c4d97"/>
    <p:sldId xmlns:r="http://schemas.openxmlformats.org/officeDocument/2006/relationships" id="266" r:id="Rdc51243e531640b7"/>
    <p:sldId xmlns:r="http://schemas.openxmlformats.org/officeDocument/2006/relationships" id="267" r:id="R46358597395a4d82"/>
    <p:sldId xmlns:r="http://schemas.openxmlformats.org/officeDocument/2006/relationships" id="268" r:id="R8222c5f91d084898"/>
    <p:sldId xmlns:r="http://schemas.openxmlformats.org/officeDocument/2006/relationships" id="269" r:id="R1b71f5144877454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626043e3ce484a" /><Relationship Type="http://schemas.openxmlformats.org/officeDocument/2006/relationships/theme" Target="/ppt/theme/theme1.xml" Id="R5016ac65c46d4338" /><Relationship Type="http://schemas.openxmlformats.org/officeDocument/2006/relationships/notesMaster" Target="/ppt/notesMasters/notesMaster1.xml" Id="Rd558dbe198a84b83" /><Relationship Type="http://schemas.openxmlformats.org/officeDocument/2006/relationships/presProps" Target="/ppt/presProps.xml" Id="R6701a4ff1d47479b" /><Relationship Type="http://schemas.openxmlformats.org/officeDocument/2006/relationships/viewProps" Target="/ppt/viewProps.xml" Id="R76137124d8f747ab" /><Relationship Type="http://schemas.openxmlformats.org/officeDocument/2006/relationships/tableStyles" Target="/ppt/tableStyles.xml" Id="Rda99d4f7375d4743" /><Relationship Type="http://schemas.openxmlformats.org/officeDocument/2006/relationships/slide" Target="/ppt/slides/slide1.xml" Id="R0f3620c1ce9e4cb4" /><Relationship Type="http://schemas.openxmlformats.org/officeDocument/2006/relationships/slide" Target="/ppt/slides/slide2.xml" Id="R6aa292237c704743" /><Relationship Type="http://schemas.openxmlformats.org/officeDocument/2006/relationships/slide" Target="/ppt/slides/slide3.xml" Id="R090e567a01004b6f" /><Relationship Type="http://schemas.openxmlformats.org/officeDocument/2006/relationships/slide" Target="/ppt/slides/slide4.xml" Id="R439be707b19547de" /><Relationship Type="http://schemas.openxmlformats.org/officeDocument/2006/relationships/slide" Target="/ppt/slides/slide5.xml" Id="R49279b1467c14299" /><Relationship Type="http://schemas.openxmlformats.org/officeDocument/2006/relationships/slide" Target="/ppt/slides/slide6.xml" Id="Reff7b89b440f4c8a" /><Relationship Type="http://schemas.openxmlformats.org/officeDocument/2006/relationships/slide" Target="/ppt/slides/slide7.xml" Id="R625ee12f085f4e10" /><Relationship Type="http://schemas.openxmlformats.org/officeDocument/2006/relationships/slide" Target="/ppt/slides/slide8.xml" Id="Rb343b4a3b17b432d" /><Relationship Type="http://schemas.openxmlformats.org/officeDocument/2006/relationships/slide" Target="/ppt/slides/slide9.xml" Id="R3ac5dd0d3f1e42a6" /><Relationship Type="http://schemas.openxmlformats.org/officeDocument/2006/relationships/slide" Target="/ppt/slides/slide10.xml" Id="R36f20b3c871c4d97" /><Relationship Type="http://schemas.openxmlformats.org/officeDocument/2006/relationships/slide" Target="/ppt/slides/slide11.xml" Id="Rdc51243e531640b7" /><Relationship Type="http://schemas.openxmlformats.org/officeDocument/2006/relationships/slide" Target="/ppt/slides/slide12.xml" Id="R46358597395a4d82" /><Relationship Type="http://schemas.openxmlformats.org/officeDocument/2006/relationships/slide" Target="/ppt/slides/slide13.xml" Id="R8222c5f91d084898" /><Relationship Type="http://schemas.openxmlformats.org/officeDocument/2006/relationships/slide" Target="/ppt/slides/slide14.xml" Id="R1b71f514487745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3e686fc64fe41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bf746f689a43fb" /><Relationship Type="http://schemas.openxmlformats.org/officeDocument/2006/relationships/notesMaster" Target="/ppt/notesMasters/notesMaster1.xml" Id="R15b1493f2b244c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886056e6e14049" /><Relationship Type="http://schemas.openxmlformats.org/officeDocument/2006/relationships/notesMaster" Target="/ppt/notesMasters/notesMaster1.xml" Id="Rfd92a65370ef4f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1c1ca2be654f5e" /><Relationship Type="http://schemas.openxmlformats.org/officeDocument/2006/relationships/notesMaster" Target="/ppt/notesMasters/notesMaster1.xml" Id="Rd37df5a2da784a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f9bccf2a49482b" /><Relationship Type="http://schemas.openxmlformats.org/officeDocument/2006/relationships/notesMaster" Target="/ppt/notesMasters/notesMaster1.xml" Id="R164fcc25d90240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82f6b15cb14e8d" /><Relationship Type="http://schemas.openxmlformats.org/officeDocument/2006/relationships/notesMaster" Target="/ppt/notesMasters/notesMaster1.xml" Id="R4efede632c1244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599e80828943a1" /><Relationship Type="http://schemas.openxmlformats.org/officeDocument/2006/relationships/notesMaster" Target="/ppt/notesMasters/notesMaster1.xml" Id="R6566dadee86b42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e217329bab4dfa" /><Relationship Type="http://schemas.openxmlformats.org/officeDocument/2006/relationships/notesMaster" Target="/ppt/notesMasters/notesMaster1.xml" Id="R62a24465804341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c7a90d50724e5c" /><Relationship Type="http://schemas.openxmlformats.org/officeDocument/2006/relationships/notesMaster" Target="/ppt/notesMasters/notesMaster1.xml" Id="R9e0009360e4146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3bdf7663f64c22" /><Relationship Type="http://schemas.openxmlformats.org/officeDocument/2006/relationships/notesMaster" Target="/ppt/notesMasters/notesMaster1.xml" Id="R1597adf6aad948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11893fd310b4802" /><Relationship Type="http://schemas.openxmlformats.org/officeDocument/2006/relationships/notesMaster" Target="/ppt/notesMasters/notesMaster1.xml" Id="Rec868a09183845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3268b32d63438b" /><Relationship Type="http://schemas.openxmlformats.org/officeDocument/2006/relationships/notesMaster" Target="/ppt/notesMasters/notesMaster1.xml" Id="Rfe5d4865ffb941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ea77ee4c9f4d3d" /><Relationship Type="http://schemas.openxmlformats.org/officeDocument/2006/relationships/notesMaster" Target="/ppt/notesMasters/notesMaster1.xml" Id="Re944e4c1e7d44b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007c1e3cd34e16" /><Relationship Type="http://schemas.openxmlformats.org/officeDocument/2006/relationships/notesMaster" Target="/ppt/notesMasters/notesMaster1.xml" Id="Rbd9b3d760e314f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514430c01e421e" /><Relationship Type="http://schemas.openxmlformats.org/officeDocument/2006/relationships/notesMaster" Target="/ppt/notesMasters/notesMaster1.xml" Id="R02b5d31ddff64e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開場說明專題名稱、修正方向，以及目前三個核心領域。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說明我們不是只增加頁面，而是透過規則、策略與 domain objects 提升 OOAD 複雜度。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說明近期完成內容，並提醒正式版需改成真實組員分工。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這次把使用案例圖從 8 個擴充為 11 個，將交易與警示生命週期拆成更具體的 user tasks，讓 use cases 更符合 OOAD 對功能獨立性的要求。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說明回測是目前最能展現系統複雜度的流程，因為它包含輸入驗證、資料檢查、策略物件、交易模擬與績效報告。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說明架構分層：前端只負責呈現與互動，API 呼叫 domain objects，資料透過 Prisma 存取 MySQL。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說明資料不是只有存在資料庫，而是由對應的領域物件與服務在執行時使用。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說明目前 UI 已可支援 dashboard、個股、警示與回測流程，正式版可以替換為實際系統截圖。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強調投資組合不只是資料表，而是由 Portfolio 聚合交易、Position、驗證與價格服務形成的物件模型。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說明警示用抽象 AlertRule 與多個具體規則，回測用 strategy 與 engine 分工，讓系統不是單純 CRUD。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說明 Strategy Pattern 在回測領域的角色。BacktestEngine 不知道每種策略的演算法細節，只透過 TradingStrategy 共同介面取得 warmup period 與交易訊號，因此 MovingAverageCross、RSI 或突破策略都能套用同一個回測流程。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說明 Template Method Pattern 與 Strategy 的差異。AlertRule 的 buildNotification 固定通知產生流程，但會呼叫 getConditionLabel，讓 PriceAboveAlertRule、PriceBelowAlertRule 等子類別補上不同條件文字與觸發判斷。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收尾時強調本次修正已回應老師對 CRUD 複雜度不足的提醒，後續會補更多策略、排程與正式畫面。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這一頁是備援 use cases。若老師現場質疑某一項不夠獨立，就從這頁挑一個已完成的候選項目立即替換。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249eb4688445c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43c790b247f4a45" /><Relationship Type="http://schemas.openxmlformats.org/officeDocument/2006/relationships/slideLayout" Target="/ppt/slideLayouts/slideLayout2.xml" Id="R20042cd229f346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042cd229f346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814ceaa6b442e2" /><Relationship Type="http://schemas.openxmlformats.org/officeDocument/2006/relationships/notesSlide" Target="/ppt/notesSlides/notesSlide1.xml" Id="Rf64af23b92c84b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6c319f09ea42fc" /><Relationship Type="http://schemas.openxmlformats.org/officeDocument/2006/relationships/notesSlide" Target="/ppt/notesSlides/notesSlide2.xml" Id="R8e7001f6edf84a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881675e5904c97" /><Relationship Type="http://schemas.openxmlformats.org/officeDocument/2006/relationships/notesSlide" Target="/ppt/notesSlides/notesSlide3.xml" Id="Rb6ef38aeeda745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115ef8ef274c97" /><Relationship Type="http://schemas.openxmlformats.org/officeDocument/2006/relationships/notesSlide" Target="/ppt/notesSlides/notesSlide4.xml" Id="R189318dbaa78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94575270324053" /><Relationship Type="http://schemas.openxmlformats.org/officeDocument/2006/relationships/notesSlide" Target="/ppt/notesSlides/notesSlide5.xml" Id="R02dbbebf44b944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b04a0644b749d5" /><Relationship Type="http://schemas.openxmlformats.org/officeDocument/2006/relationships/notesSlide" Target="/ppt/notesSlides/notesSlide6.xml" Id="R715dfff1351844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c674db9df43e1" /><Relationship Type="http://schemas.openxmlformats.org/officeDocument/2006/relationships/notesSlide" Target="/ppt/notesSlides/notesSlide7.xml" Id="R489ed51167eb42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37743a90f744d7" /><Relationship Type="http://schemas.openxmlformats.org/officeDocument/2006/relationships/notesSlide" Target="/ppt/notesSlides/notesSlide8.xml" Id="Rae7b31eeb6cd4a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0cdada75024262" /><Relationship Type="http://schemas.openxmlformats.org/officeDocument/2006/relationships/notesSlide" Target="/ppt/notesSlides/notesSlide9.xml" Id="Rc6076c198a324e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8df93ea4444670" /><Relationship Type="http://schemas.openxmlformats.org/officeDocument/2006/relationships/notesSlide" Target="/ppt/notesSlides/notesSlide10.xml" Id="R25fc2aff32ac43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3cc6e990a7409c" /><Relationship Type="http://schemas.openxmlformats.org/officeDocument/2006/relationships/notesSlide" Target="/ppt/notesSlides/notesSlide11.xml" Id="R4a9ca81d755141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3d4b29a09143ed" /><Relationship Type="http://schemas.openxmlformats.org/officeDocument/2006/relationships/notesSlide" Target="/ppt/notesSlides/notesSlide12.xml" Id="R62e55ffeddeb43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afaba56e1d4aa9" /><Relationship Type="http://schemas.openxmlformats.org/officeDocument/2006/relationships/notesSlide" Target="/ppt/notesSlides/notesSlide13.xml" Id="R736d612cefe84f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1db67a20d04ca5" /><Relationship Type="http://schemas.openxmlformats.org/officeDocument/2006/relationships/notesSlide" Target="/ppt/notesSlides/notesSlide14.xml" Id="Rc9ed1177208742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CC14BB-493E-4701-AAAC-90E74F1E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86750" y="-952500"/>
            <a:ext cx="4286250" cy="428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D4152-523A-4192-A859-EDC43A10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29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EDC6C-D594-43F9-A3A3-A693CF77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4762500"/>
            <a:ext cx="30480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E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82D0C-8A19-45D2-9B16-78464197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819150"/>
            <a:ext cx="95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4E3EE-6489-467D-91EF-9CB2840B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8382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6B52"/>
                </a:solidFill>
              </a:defRPr>
            </a:pPr>
            <a:r>
              <a:rPr sz="1050" b="1">
                <a:solidFill>
                  <a:srgbClr val="0E6B52"/>
                </a:solidFill>
              </a:rPr>
              <a:t>CSC0005 物件導向分析與設計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3762B-2D2E-4508-8B34-2186A447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1257300"/>
            <a:ext cx="723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</a:defRPr>
            </a:pPr>
            <a:r>
              <a:rPr sz="2850" b="1">
                <a:solidFill>
                  <a:srgbClr val="172026"/>
                </a:solidFill>
              </a:rPr>
              <a:t>股市投資組合、警示與策略回測分析平台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203D6-230C-45BC-8C88-548C0514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514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期中檢查簡報初稿</a:t>
            </a:r>
          </a:p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從資料管理型網站提升為規則與策略驅動平台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F9935-8CAF-4DCD-B1A5-6BC6534C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44687-E25C-4C78-9E03-F46421F1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E7CCD-671E-4773-9507-3B50AE77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目前範圍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40788-52FE-485F-B3C7-12D79F05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投資組合領域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警示與通知領域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策略回測領域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73FCD-A0B1-42B8-AAA3-6F97E782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0C4BE-22B3-4734-80A6-94402753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1639E-2D93-428D-B0E5-57A718B5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檢查重點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F2FC0E-0BAE-4049-A68D-886B9D2D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使用案例圖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活動圖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架構與資料儲存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E93D5-D874-4DB1-9572-2C82437B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583037-B7FB-413A-A7E5-6A9525C1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CF4369-41D6-4C28-8B32-91289951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報告資訊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AD5E67-AD4D-49B2-9659-6B7D7EBF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組員：請替換實際姓名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日期：2026/05/08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版本：初稿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027573-6CA5-4DCC-BB50-A1BFC956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4C416-B1B4-470B-958E-D4700D88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FB824B-68CE-4700-B3BF-7644736C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29540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專題定位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74B3F8-BDD4-43A4-9716-4C00B1D4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657350"/>
            <a:ext cx="27622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本系統整合股市資料、投資組合、警示規則與策略回測，目標是建立一個符合 OOAD 精神的投資分析平台。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AE832-1B3D-41E1-AFD3-948C8D78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可編輯 PowerPoint 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302244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8C3037-8466-4CCE-9595-F37E43C7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243D3-F12C-4F05-9112-A8BEA07E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211FC-96F5-4834-A03B-304BE953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EA4B7-72CC-42F2-AC52-BB16BEFE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7DC-C612-46A5-8A27-6E66683C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9E4B1-9AAF-44D8-A1A3-7A30AEC4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依老師回饋修正專題方向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DE37A-820D-4856-BBA0-E32C43C1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本頁說明我們如何回應第一次提案後的意見。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3C796-F091-42F4-8D0A-E792BC33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78BA7A-F23F-4DD9-B192-05117BF6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491F4-C01F-44D9-AF82-02B8AEF6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老師回饋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FC8AC-18E4-4D05-93D2-716016E0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2400300"/>
            <a:ext cx="3009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主題生活化，容易理解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架構大致符合課程條件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部分功能相似，容易被視為 CRUD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後續需強化物件設計與課程連結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8309C-C047-4010-9C66-F29FAACB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CDD92-303D-4E0A-A2F7-F2746E14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BA6F4-860B-44C0-B1B5-E3FA008C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原始風險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641D5-5EA9-411E-B603-E65A33A5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400300"/>
            <a:ext cx="3009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原本功能多集中在股票查詢、自選股、投資組合新增刪除，以及基本摘要計算。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雖然功能可用，但物件互動、規則判斷與演算法複雜度不夠明顯。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75558-C390-486E-9971-233D55EF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9AD4B-0BD4-41B4-8F8F-BD5E5A00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60712-75D4-415F-A022-945740ED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20574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本次修正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4FC8B-7EA6-458D-9ACE-1ADE1588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240030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重構投資組合領域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新增警示與通知領域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新增策略回測領域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將邏輯從 API route 移入 domain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B74971-FBE5-4C25-97BA-AF8ED7B3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5148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76EEF-F430-4A01-9D49-7F353CB8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7434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修正前</a:t>
            </a:r>
          </a:p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資料查詢 + CRUD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71683A-FC73-4C41-835F-B9665F80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100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B4441C-103F-4D4C-A906-053C7D7F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4514850"/>
            <a:ext cx="3048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A61783-2A6C-4EA6-B1B9-AC5EA464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472440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修正後</a:t>
            </a:r>
          </a:p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規則與策略驅動的分析平台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A82F29-C336-49BD-9C29-7CE62C43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352D9E-B477-4738-A45B-AA768DC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4514850"/>
            <a:ext cx="15430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E1EA59-879F-4CE9-9A90-81ED12F6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4724400"/>
            <a:ext cx="135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符合檢查重點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OOAD 設計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6869B-E6C2-40D6-B567-872CC8B8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627692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FDC30B-8467-4E98-9486-3EF0A7CA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C0903-50D6-4DBD-B57B-A5AAAF72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FD91D-7199-4271-ADBC-DB5842AF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089C5-FD52-4ABF-B283-6CDD05CB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F9D85-7871-49C5-B521-734DE16F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A3398-A187-4D16-A86D-840A5B2F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進度總結與組員分工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5450F-DBA6-46A3-93EB-E7C81B7C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Checkpoint 要求說明近期完成內容，以及組員之間的工作分配。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A2C97-472B-4668-B7E7-06D3F72B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9B5B-20F5-4E5D-97D0-17F8693E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9DB67-38B0-44BB-AFB0-A4FB06AF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市場資料重建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087A2-3436-4857-B4F8-085B20C9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重建 MySQL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匯入 FinLab 資料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恢復股票、價格、財報與股利資料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E7057-3921-48B9-ABF3-251BC719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C4A32-FBE5-42FE-852B-AC22B21E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D771D9-99C9-42A4-87C7-4F0A93F6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投資組合重構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2BB9E-B2AC-4FB5-9B04-AFCAA59D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Portfolio, Position,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TransactionValidator,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15FF75-73C9-4964-B06C-AC15C6E7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AEB18-0F48-4B07-9B2B-6A8C5DEE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C3BC9C-883D-461C-8AD6-C31163C8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警示領域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9200C2-806B-4AF3-A05D-83E648B0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AlertRule hierarchy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AlertEvaluator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NotificationService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Alerts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E29C9C-316B-42CA-B781-FDD70002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EB801D-0B22-4649-A3D4-B3D1597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44164-0664-4CEA-A33C-521187B5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回測領域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1A14D-A325-41EC-B9D2-1FE15DC9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MovingAverageCrossStrategy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BacktestEngine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PerformanceReport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Backtests UI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F52A0A-BA43-4F4D-9472-77F16CAB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7015DC-DF4E-4208-935D-FD65FC2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13C571-2125-43EC-81E2-BA568E5C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9621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本機整合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ABC1C-FCCC-437F-99B7-0FF7A0CA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247900"/>
            <a:ext cx="1600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Next.js + Prisma + MySQL 已通過 build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Dashboard / Alerts / Backtests 已串接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CC6EC3-25FD-4A66-BE00-A57BFB65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F35E7-B3C1-4B83-AE15-003F0FB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B4097E-F21E-47A6-8345-02BF3EB4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A - 請替換姓名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B89C4A-4D88-4F5B-BB69-45ECDC1A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資料庫重建與 Prisma schema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股票與市場資料 API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FinLab 匯入與資料維護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3EA2C9-14F1-46E5-A293-F212468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FDCE54-930B-448C-BF4F-A268E8EA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03290B-7CF9-4FCA-BF28-FDDF0713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B - 請替換姓名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10234D-2427-40F9-BDE2-C8728077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85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投資組合 domain 重構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交易與投資組合 UI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活動圖與資料儲存頁面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0A885-273F-4073-9534-20354B3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9B40C-E8F6-40AE-9D3E-9E2702A1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4D614F-5B72-482B-A531-D5CB8FA6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C - 請替換姓名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B89EBE-678E-4345-BDCE-9480D6FE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79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警示與通知模組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警示規則與通知流程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use case 與類別圖頁面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F3FB16-876F-425F-9BC6-994C1FB7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B93884-B13A-4040-912C-97ED173F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B41553-5E30-4D62-B165-7C449D4F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583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D - 請替換姓名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B47E5D-F2E6-407E-BC15-37E62E21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策略與回測模組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Backtests UI 與結果呈現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設計模式與簡報整合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F9EC3F-61C8-47E6-A1F6-E73266FD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正式繳交前請將組員 A/B/C/D 替換為實際姓名與最終分工。</a:t>
            </a:r>
          </a:p>
        </p:txBody>
      </p:sp>
    </p:spTree>
    <p:extLst>
      <p:ext uri="{BB962C8B-B14F-4D97-AF65-F5344CB8AC3E}">
        <p14:creationId xmlns:p14="http://schemas.microsoft.com/office/powerpoint/2010/main" val="31301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8DCA5B-FF73-408F-A3CD-D5DEDCA9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08184-286E-44A2-991C-CC7C3A16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D804B-1AE5-4CC0-859A-FFCD9022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79E9A-7266-4A0A-A376-ABB62ADE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9D7DF-4132-4F63-A736-90329571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0DF87-2824-4561-ADB7-91EA00F8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使用案例圖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E5D72-EC2A-4ACD-A5C9-C6F9EAE5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本頁以 actor、subject、association 與 include 關係呈現主要 use cases。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AA0CA4-5BA7-43EC-A644-88CDB81E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1676400"/>
            <a:ext cx="742950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5C232-0048-4581-8445-743474A5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17716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E6B52"/>
                </a:solidFill>
              </a:defRPr>
            </a:pPr>
            <a:r>
              <a:rPr sz="1200" b="1">
                <a:solidFill>
                  <a:srgbClr val="0E6B52"/>
                </a:solidFill>
              </a:rPr>
              <a:t>System：股市投資組合、警示與策略回測平台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26666-E448-4677-82DC-FD56373E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0955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EB242-185D-4200-B7BD-ECE396DF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24384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5302D-AE19-4819-B7ED-DCDD0A6C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2628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0CA74-6387-4236-A703-D850EE3B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AF03E-EA7B-49A8-B980-B4003141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96D1F-5648-4BE3-81B8-FA35DF82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32575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5E9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62A01-DEF4-4665-BCF4-71CA061E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3528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投資者 / 使用者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67F61-97EE-481C-92BD-69132019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3434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8D0629-8164-4F82-A3C5-CEA2CBF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46863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FC8A3-80C5-472C-B07C-B24A5DD2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48768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24DF91-F7F2-49E2-98FB-5ED054A9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FAF967-6A58-4259-85CB-C93F31F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AEF9E6-4BD0-4DE9-B60C-D83AC76F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5054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D6A0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B86479-E327-47C9-B49D-12492822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管理者 / 資料維護者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53C73-40CD-4AAC-841E-52E13574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0" y="3143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913CC-12E8-47C5-84AC-62DC016A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25175" y="348615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3F8857-21C7-415C-AD40-66A3C29F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0850" y="36766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0B8542-DAFA-427B-A80D-82438CA4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1070610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E58EB9-9EAB-492C-8213-E6DDB13E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1068705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86D774-09E5-4D26-A272-6DB4CB2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430530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E57B6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2F58F6-FAC3-41CA-A94E-18B083DC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44005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FinLab 資料來源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3DDC29-BC3F-4074-BA84-CF8AEAF9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A5CF77-D673-4DC4-A5F8-F2537A22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查詢股票資訊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2F1F92-F7E9-4EC7-903D-A0EF6FF1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2857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CECF42-BB32-4291-AA82-BAA94C31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990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管理自選股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9B70C9-45F1-47E5-ABDE-E08E25AD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90E8EF-EC93-418F-BE6D-1D0F4CFF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管理投資組合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380AB0-F828-4E1D-A9CA-19BFD4C3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30480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BD2327-7B87-4536-9E60-5AE6CDC3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57750" y="31813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記錄買進交易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36E624-6300-48CC-A999-67C9834E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3810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F0E2D7-6B47-46B5-BAA6-F45899DA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72150" y="3943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記錄賣出交易 /</a:t>
            </a:r>
          </a:p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驗證庫存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E013DB-43DF-443D-8084-09635978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095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6AD5AE-77C8-4699-B84B-56B9F030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2228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建立警示規則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5CE433-F77B-48E8-80AC-DA26822F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857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257BBC-3D6D-4CBB-AB9A-1EFC874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2990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啟用 / 停用警示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8199FD-8CDC-4081-97BE-3A6B8F7A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361950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CE1D5C-C761-4EFA-BFB7-D52AA02F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37528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查看通知與已讀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E6790A-BE45-46E2-9B57-000DF573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7A2D09-B0E8-4F89-8407-159A4B04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執行策略回測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A884A3D-934F-4408-B873-CB1D62A2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97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D50F4A-BADA-447B-876E-4FF54AD0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查看回測結果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ADE83E-1792-41B3-9DE8-AF9071F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4476750"/>
            <a:ext cx="17907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55A2E7-D151-4823-8534-18B98E34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39050" y="461010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更新市場資料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D2ECB1-118D-4560-875B-B4BD65CD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31362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68CE99-C9DA-4D07-90EF-72DBB0BE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07562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BA46A47-6B13-4512-8A42-6929C9DD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313623"/>
            <a:ext cx="33718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6F5BF1-12CF-499D-B78B-8E90E7C8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0756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7A7F3C-F5E0-4B70-B585-4D9DF7B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8376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C759D1-43D2-450F-92CA-D5C17DC5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694873"/>
            <a:ext cx="10096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F38FD1-9118-4F97-A90D-035D1CF6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4694873"/>
            <a:ext cx="742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CC0354-6ADE-47EE-BFFF-3AD4B78F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28775" y="4913948"/>
            <a:ext cx="4381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DA38E26-DC63-4F9B-9F05-C21DF705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5133023"/>
            <a:ext cx="56959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3DE90E-F2CE-47E5-87C0-91FC660E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7324725" y="4913948"/>
            <a:ext cx="438150" cy="209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46D444-8512-41C3-B065-61B80C44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6035122" y="257817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B09B01-A5BE-4C2B-81B8-97A22F5A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925291" y="269715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061C9B-C452-4485-8B3C-0F67EC2D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815461" y="2816136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F591BC-A0C6-4F7E-BCB8-39D4139F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962563">
            <a:off x="5739462" y="2920307"/>
            <a:ext cx="5493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0EAADDB-7B0D-4156-8489-641CFD88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362563">
            <a:off x="5524500" y="29813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48B4309-E463-471B-8B16-F3B05232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628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07962FD-311A-4FA8-B80A-DA030D4A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177115" y="2588558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A6D243-0A29-43EF-AED2-77E6345D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226211" y="2742861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0A48832-706A-4AB7-90EB-96E3C4E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275308" y="289716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9E7AE0-24EC-49E2-8FCC-DCECC13D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324404" y="3051466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B1B50D8-5E9A-40F3-BB25-6ED064B7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373500" y="3205768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148BDFF-6409-40B7-8090-7273C542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422596" y="3360071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E8C684E-A61E-49E6-AFAA-B41BB327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471693" y="3514373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DB27B35-EA03-4B18-846D-B66006D1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340993">
            <a:off x="6535653" y="3648347"/>
            <a:ext cx="5258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8E8493F-8AA6-451E-BE96-000F70FF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740993">
            <a:off x="6477000" y="37433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30E1FEB-2A92-482B-809A-DB9AF34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67425" y="3009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3B5066D-E58A-4338-950D-42513226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8200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8D44CB-3C2A-4E26-9968-983A76D7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B6FCDC7-E8E0-4118-B1A2-7D869B75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72050" y="46958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3E250D-58E2-41B1-B4C2-D828FA1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86350" y="4638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79D9AF6-68A1-4653-8FC4-82F26213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91050" y="45339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&lt;&lt;include&gt;&gt;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B2EA71D-5860-47D0-9F95-D81750E9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主清單共 11 個 use cases，並以 association 呈現 actor 與主要任務的關聯。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4FF8502-3727-411A-BF72-E35AA56C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60007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其中以 include 表示投資組合管理包含買賣交易；回測執行則包含結果查看。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B2C1765-D779-418E-8398-AFC8E743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9182620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DF22E-D912-4704-959A-0F57B5D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ADCEF-95B3-4D45-9BE8-242E4851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B2B8B-9B60-408A-96BD-BB3D2301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A96CC-72AA-4780-B6E2-245E251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B5AA3-F8D7-478B-B31C-7B5B9F74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19C83-A7E5-4787-9CE6-25B2E268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最複雜使用案例的活動圖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D936D-A404-4A17-A147-91B83E25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選定使用案例：執行策略回測。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6453BE-374C-4E83-8825-DBB9D2D3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676400"/>
            <a:ext cx="14287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10326-9A99-4FB0-84FF-724330A6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771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開始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311CF-2530-4A5A-8487-71CE5A5C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2098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657E99-311F-4174-A498-6F217CAA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2860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輸入股票、區間、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均線參數與初始資金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3157B-44CB-42E0-BA25-7F538F43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4290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4065A-987C-4882-AA70-604BFBCA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35052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載入歷史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股價資料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78D34C-98DC-48C2-A326-37A8C44A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6863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27950-D225-408A-96B7-63EF0C67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47625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建立策略物件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並計算指標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E046E-0827-481C-998C-FD7B5E84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31495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FEEC9-BB35-44D2-AD9B-11D0B7AC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539115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產生訊號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並模擬交易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F48A36-A5ED-489A-AF53-C79F001C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9436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46505-4D78-4189-BB3F-F3E18AF8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60198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計算績效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並顯示結果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047E0-DBB5-40E5-BC87-F28B455B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2114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A1624B-78E0-43DB-85F0-072DD083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28384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AE587C-D4CB-4E92-A98D-26584972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90512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參數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有效？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CAF045-7C66-49B8-A99C-CE1E2DD3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2766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415378-C391-4274-A890-36F590D2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9052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7A3C81-CAC9-47F3-A397-3180736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40576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97C283-C8DF-424B-A213-762F3ACB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412432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歷史資料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足夠？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106B2-942B-44E8-9228-73509942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45339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7A684A-CA39-4D81-ADED-783C769F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162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EEFC26-6D17-4513-9CE6-FCA7C06B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7912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41351A-4861-4B6B-B07D-F27975EC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64008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059F7D-BC4B-49C9-B686-958FA5D1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34150"/>
            <a:ext cx="1390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1B53C-FF80-4C81-96E6-F893A01B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8177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結束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CABE78-3FA6-47E5-A03B-B6666E0E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0ED030-231C-4EDA-B627-CC531FA4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68FC04-8E5A-4026-82F2-611A830C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289560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621518-8D39-4F04-A64F-0EFCBBC5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3257550"/>
            <a:ext cx="2209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顯示驗證錯誤，停止本次回測。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A19EC2-0BC2-4D9B-BBCD-3892D1DF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30480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074764-27CC-4EFE-BBCC-2A2374BF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47B790-D92D-4DB2-90C7-483024A1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2611AE-31C7-440F-BA3E-C5FEA2DC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114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CA8525-EA53-4BC2-81D2-8C2C6FED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476750"/>
            <a:ext cx="2400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顯示資料不足訊息，使用者調整參數。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098708-DFFD-4684-B19C-9B6B3D60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2672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62DCB8-739D-4669-997A-0307BA92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30480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A19602-FAD6-4333-B70B-CDAB2DCC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30861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815952-8147-4DA5-8220-86D0D78A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2672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02C206-D42E-44AF-8D0C-4567DD32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2862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549F70-B2BA-4A46-9758-CA2DA92F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20454146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F9B40D-AF0D-4644-B5FD-07EBDC00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F03B8-6B02-4679-A7CA-9563EE98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E3501-2E3E-41E4-81F3-F3C871F0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50E00-BB06-4C67-AFFA-6187478D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6341E-3D9D-46B1-92D5-BCAD18BA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51C0E-CEBA-464E-9CF6-FA2C4C9F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系統架構圖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83655-D342-4168-A186-43C0EB8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本頁說明主要元件、框架選擇，以及請求與回應的結構。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3B011-8709-4E52-A35D-6739F7F5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419350"/>
            <a:ext cx="1714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5B993-98E0-4626-8121-8899DC48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628900"/>
            <a:ext cx="1485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6159A-4F83-4424-94A6-D99FECC9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419350"/>
            <a:ext cx="1866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E70E8-36ED-49BF-9456-9FE6DC91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2628900"/>
            <a:ext cx="1638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App Router 介面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80B6DC-07A4-4A2D-B994-60C8C95D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2419350"/>
            <a:ext cx="18288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1A411-8466-4338-B620-6E466E24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628900"/>
            <a:ext cx="1600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API Routes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9858A-1590-4856-9623-0C9DB23B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2190750"/>
            <a:ext cx="19431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899D-0C04-4E09-BB14-65372ED7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24003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領域層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 / Alerts /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A296E-779B-4BEF-9DA9-92581E26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241935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323A9-1CEB-40CC-9D10-C436F610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262890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Prisma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06DED-D75E-48F0-B95F-CE340E6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377190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32138-7317-4BF9-B879-6E69F83F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398145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MySQL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969FC-08B0-47F9-A493-76EACB87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DC6610-D5A4-45C6-B66D-20781D71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53550-75BE-41CB-9780-A309FE7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85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DB99C8-FE91-4C96-A7E6-8A881E05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2724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99EEAC-D782-41F3-949B-253F2411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744200" y="3352800"/>
            <a:ext cx="228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5CF98F-0068-4A58-A5FA-3BDE77F8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69FDA3-C675-4927-9D9B-A2DCA7D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947656-EB13-4B83-ADEF-F335C00A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使用者認證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B900CB-1914-409D-96E2-13D565DF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NextAuth 負責登入與 session，並保護 dashboard 頁面與 API。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307BD8-14AA-4C85-863D-B54D5169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4629150"/>
            <a:ext cx="762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227FE-C4CD-48F1-B9B3-46F9C3EF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41EB1D-14C7-4770-B3EF-44073F06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C52F82-909B-45E5-AEBD-5028E4B0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外部資料匯入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7035B9-0868-4C77-A6B2-93A026F6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FinLab 匯入腳本重建市場資料，並寫入 MySQL。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D0AEAB-653A-4025-A4F7-6F262F15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4629150"/>
            <a:ext cx="1143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C0DD32-B826-4F44-B936-371291C1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829300"/>
            <a:ext cx="571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請求路徑：瀏覽器 -&gt; UI -&gt; API -&gt; Domain -&gt; Prisma -&gt; MySQL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0780BD-F740-4A88-9A85-64E36E29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57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使用框架：Next.js、Prisma、MySQL、NextAuth、FinLab 匯入腳本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213693-E9B1-4379-8C29-748D6370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586349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4C1F8A-7344-4BDF-A9D7-2CEA9B68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729AF-5C96-4284-B673-8AE8B5E3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93B96-B452-4BE0-91BD-79197D84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C6D4D-550F-45E7-A46D-9D7AAD14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72771-B664-46E8-9B11-2D8A046B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3D11B-2B55-4A38-87F5-288763DD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資料儲存設計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3B418-14FB-4371-A5AC-5DE34F67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說明資料存在哪裡，以及執行時由哪些類別與服務存取。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AEF21-1C9A-428B-AF1C-3739987D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CDAC3-CB62-46D6-9182-7AF56943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C719F-0436-4468-92CD-4E5EBA73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市場資料（MySQL）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893D4-5679-4E89-9942-8C24C267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historicalprices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financialreports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dividends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 APIs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PortfolioPriceService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7BBC2-9A65-4D33-9691-18687089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8F681-3967-44E0-A834-6475AD2D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50578-12E0-4AD1-B6AC-E7A90A75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使用者與投資組合資料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96E32-392E-4E30-A695-8E3353ED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users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watchlistitems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Position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PortfolioTransaction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TransactionValidator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81B14-89BF-4CD7-9DB1-9A6C3B8A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20D4F-7E97-4072-A476-671BA2B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885FC-F53E-4F8A-AEBE-62AA7A0F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規則與通知資料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2FB9E-494A-41DB-A424-A4C2E4B8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 hierarchy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AlertEvaluator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NotificationService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37ED8-4EFA-4341-AF76-699FC4D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704C8-2D78-4864-9CF2-6156E748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D4DEAB-8497-461A-894B-226EEA2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策略與回測資料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59A07E-2800-466C-B4E0-D0D7786B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backtestruns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backtesttrades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MovingAverageCrossStrategy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BacktestEngine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PerformanceReport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022E8-1FF5-426B-A48F-10BA21C4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期中檢查範圍的資料皆存於 MySQL，並透過 Prisma 與 domain services 存取。</a:t>
            </a:r>
          </a:p>
        </p:txBody>
      </p:sp>
    </p:spTree>
    <p:extLst>
      <p:ext uri="{BB962C8B-B14F-4D97-AF65-F5344CB8AC3E}">
        <p14:creationId xmlns:p14="http://schemas.microsoft.com/office/powerpoint/2010/main" val="18255001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997E-F341-4A42-B86B-BFD7BE7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1D358-3D56-4A4D-A393-39E83C2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CF953-B7DE-4179-92AB-2518FA6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1236F-8F39-42FF-91C9-71C3F64E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F36F4-CDAB-4A3C-BD6C-37F7A018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8A350-D9F6-4D7F-AB51-FF51F761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使用者介面 Mockups / Prototype Screens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77BB2-91AB-4ADB-B67C-9B620EF7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以原型畫面說明導覽方式與資料呈現。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6367D-636B-459E-91EA-31A790F6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98816-92C3-49D1-973C-B91BDDA7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B83C8-B813-4C70-8146-E5078D3E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儀表板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35E9AC-E40B-4969-BD46-6722DC16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30406-66A4-45E9-B544-EC2D2990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1A5F9-2AD4-4E32-AA02-FAE05E1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D55BB-E55C-4F89-95FB-81CA2BA1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B4C25-7ED4-4F49-91A6-FB950560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0CD8F-F5F3-423C-B993-8F70E255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908AC-CC4C-4A14-A34E-35DD363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480F5-47DF-4737-A3DD-F38528B4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4F1E9-6248-41E6-9BD4-DBB565FA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8501F3-90BC-4AD2-8F40-84FB3BE8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個股詳情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1BBC5-7137-4801-B52E-975A7847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6B1B4-660C-4A8E-81BC-4ACDE28D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810543-22FB-432F-9A98-2154E20C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19974B-F5E8-4B95-9C53-5049B828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394BDD-A617-437D-A5A1-0A4AC69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8F1465-2744-404A-9BD5-289ED454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AC0942-63AA-4BF1-B1FB-37E7074F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610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BAB625-3CD7-47BB-979B-CAEB3BC3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95026E-5BAF-425C-9A12-9E1EE195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A034F7-D5AB-4322-AF7C-E078B170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D69039-7F0C-4410-98CF-2B36CCE2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警示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EECDE3-9C82-44B7-8A9D-D49DDB05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7C3857-C331-4E05-8E17-F4B605AE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49ED4D-A778-481F-9F1C-4A6F05A1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17FBE1-A24D-465F-88E4-39F424D9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C0AAED-8864-420F-84C6-341FAEB2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EE2A9E-F0D2-4FA1-A583-920A3D85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10C0C1-D310-4E1C-B60E-2A33D418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983AC1-147D-44E8-936B-54C59C79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385D7E-41F6-4E90-B985-F04BA9AB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6640F0-97BD-4665-9392-89C579C0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回測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118457-7631-4712-8198-9E74E3E0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A22058-9A7D-45AB-B8CB-DB5F14CB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E2914F-777C-4E41-841F-4A74A72C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764C63-0275-469B-8933-7C8F3505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F4DA2C-1BB2-4C9B-BE11-C228EF7A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254329-1602-4465-9AEC-BC32D21F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00E2A9-D661-44C8-B805-11ECC3E7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FAA0C1-F0D8-4124-8E50-0739BE21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0917C05-630A-4D07-99D8-F26F6282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142623-B7B7-4ACA-96E0-C4ABC694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導覽邏輯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A64C81-A8B2-4D73-B014-118EA816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側邊欄提供 dashboard、stocks、watchlist、portfolios、alerts、backtests 等路由。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A433E4-EC10-4143-9051-12371C8F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B0D109-5AB1-41DB-9F2C-D012E68C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DB7CA86-4C0E-46C9-BCB8-F65A6B30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資料呈現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DE146F-3C87-4795-99BE-27296468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價格、財報、警示規則、equity curve 與交易紀錄以卡片、圖表與表格呈現。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8BAE32-AFC5-4148-A279-33FD342C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7463D14-1372-45E4-AD9F-EA0B7ACC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423A29-E15E-4487-A5E0-6222952C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主要使用路徑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420D924-56DE-4080-8D04-A7C2BCEA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使用者可從個股詳情頁直接建立警示，或執行策略回測。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9675B1-6BCD-4979-9939-77BBA5C0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若時間允許，正式繳交前可替換為 localhost 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580894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60BA04-7361-49C9-8C57-BB1D8829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B402A-7166-4C78-A4E0-575B187C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74A94-612C-4232-A4CD-1EF15F55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7CCF6-1CB6-4119-A3B3-570FB7E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BFF60-6B8C-4044-B3A2-FBBBCC5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9BC66-DFAD-4756-98E4-A002E486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A - 投資組合領域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2909C-9CAF-446C-AFEB-B6589EE4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本圖說明投資組合計算如何從 route handler 移入 domain objects。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D7F4B-C1AC-4FBC-9EE0-A542DF5C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A6D1D-D56D-4741-AA9A-3B74F3C6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DC276-78C2-4D8E-A1E3-C88F69CF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095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E2C94-144D-4AC7-A582-03200C05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4BA9E-393B-4F83-A332-5B3C5C23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55270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email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220A2-D501-4AC3-AA8E-1459FB47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2575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015DD-C008-48A4-AD9A-5EEA2FC1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337185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createPortfolio()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viewSummary()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5BD5E-641B-4383-B490-A573DC2D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1B95D2-3FF9-4AA0-B325-EEE7AC62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1E7C7E-084E-4301-AAF9-1C14B658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D71C6-2D76-455D-8DC9-71FB00F8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8C8AB-EC68-4BEF-9115-8C50D73C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portfolioId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transactions[]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positions[]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FC62A5-6276-41CA-BFA7-C595591F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1156EB-69CC-430E-9985-0FBE2AF1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buildPositions()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createSnapshot()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getSummary()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B3D56-B4BB-4C30-92E5-1A4B1B6B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7FFE0-EFA3-47D5-886A-B740FB8C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36A19B-1816-4D61-918B-6D4FE4C9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2F9183-5FF6-4FFD-AAE0-E9C44F86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031E57-47F0-4CF2-BB46-286871F7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averageCost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realizedPnl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626243-CDA3-4AE5-AB9F-2D1580E6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F0E3D7-C6E5-44F1-9435-15F578C2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getMarketValue()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getUnrealizedPnl()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59528A-3C90-4443-9BCC-1FEFA800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2590F5-8576-47FE-BFC5-14B96448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E03748-9CC8-4F2A-9B28-FA8F5229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8097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F5F956-DECD-41E3-BF81-F417D338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215265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1992CA-F9D5-4249-B2FB-CFE300A6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266950"/>
            <a:ext cx="2324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pricePerShare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commission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17376D-AB3B-4685-B731-A436E66D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31470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984B3B-4EA2-46AB-BD71-53718067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4290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getGrossAmount()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getNetAmount()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FA8710-B138-481C-9A78-D20B7C14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CA227F-0C45-46E9-8006-28B4FCF7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F72A00-BE38-4CE0-B151-385D505A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TransactionValidator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CC14D6-9C78-4F18-B0A4-70117A18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1C4F-9CC1-4319-B0F2-521F6A5E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normalizeInput()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validateSell()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73CDC5-F9B1-4C2A-8B64-835157E5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CC4348-C1DF-401C-B9D2-C8CF0A01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canSell()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validateRequiredFields()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AADB8B-FC42-4127-BB5E-8D50F9FE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3E4699-AF91-4B4F-BFE1-0F885A2D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BB6AD0-F565-4295-8C78-75D4D61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961C47-5431-496B-B34A-F9BD3DFC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E73BDA-8934-4CB0-95BD-610A5BE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getLatestPrices()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2D19FA-9DA6-4D00-BB72-2A836C0C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1B8768-28E7-4599-8208-6E65EE69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mapPricesToPositions()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785C58-F5B9-467C-99E3-A8758E8E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4574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2EA2E3-01FB-4230-87CA-3BD4E3B8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2860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擁有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ACA1D1-9C0F-4D54-B217-889E4E4C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457450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FD8F7AE-9571-48C5-A94B-1B4CE3EE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286000"/>
            <a:ext cx="533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6AA6E8-0ED6-4844-B683-A055EB9C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8650" y="2457450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EA6E77-B9DB-4EDD-BC98-CF2488A3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22860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0C15F4-726D-44AD-ACDE-A830A96C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482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27F500-D035-4E4C-BA91-163776D6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771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7C027E-CF72-449B-822C-A2916590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61722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Portfolio 會聚合交易、建立持股部位，並產生摘要快照。</a:t>
            </a:r>
          </a:p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重構後 route handler 變薄，物件責任也更清楚。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8982DF-9BB9-4984-828B-47F19948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39656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398FEF-E5C9-4CDB-B4B4-CAA85DE5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9B18D-0FC5-4A29-B752-58900997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2DA85-5D8A-4D34-88EA-FEA1A992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08494-2CDD-4788-AC34-ED495B27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2E774-09A7-487C-9DA7-F8F5B185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D90AE-475B-4AE6-BA55-5B500D7A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B - 警示與回測領域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653A5C-C552-4DFB-A059-7D99B0B5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這兩個新增領域是本專題超越 CRUD 的主要證據。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72C48-DD5C-4B43-BF50-78CBE703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209550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B47FF-09A2-4A55-AAFE-0338FC6E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DBC9A-70E5-4A7A-A58D-441650EE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859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 &lt;&lt;abstract&gt;&gt;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F853E-355D-403D-977C-A53696E2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22885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5BA9C-B810-452B-8E86-AEE46B4E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3431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thresholdValue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isActive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ADA1E-0124-4530-A584-3B58D782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4800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C7A69-19F8-4D84-BDE0-5EF54AF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162300"/>
            <a:ext cx="1733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isTriggered(snapshot)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getConditionLabel()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buildNotification()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0F7C2-95D0-41F5-8F4D-79D89C70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EDCC2-B7CA-468B-BE50-A016DAE6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CB9DB-4457-4AE8-9E4B-A256E665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188595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PriceAbove / Below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PercentChangeUp / Down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92771-B1FE-40CA-BF66-D2F3740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3622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A1101-C404-43FC-87B0-6C640032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247650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concrete rule fields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68E497-CBDB-46E2-99A5-C7C69B54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0861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F94C3-8ADC-4426-939F-659E46CF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32004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override isTriggered()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F3C09-62C0-4AA2-B95C-8DC647B8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6F49F9-A8A9-41B7-8506-0AE42B87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A8045A-3159-4C9D-95B4-D3F85FC6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AlertEvaluator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50538E-A063-4D69-86EA-3BF6AAB9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D9BD5A-9A8A-46A4-BF24-D622F87D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evaluate(rules, snapshots)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7E76C6-71A9-4516-B851-F1934A2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5FE8E-B83D-48ED-B029-8660675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skip duplicate trigger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 notifications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43F34-E629-45BD-B1AD-2222727D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9B761-B5A9-4D79-955C-DE32B76D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1286F3-1489-4F2C-8E16-47412C6F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NotificationService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30FBF7-44AA-47A6-BFD0-9084A5A9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005241-3957-475D-9546-5B762341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persistTriggeredAlerts()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A3CCF9-F5FF-4462-89CD-A7410AFA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2AC842-A6C1-4550-B17F-9320AC24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update lastTriggeredDate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E599B9-F5E8-4431-A06A-59F79F31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20955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E9008C-FAF4-4EC1-8FF0-927806B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B72082-262D-440B-B230-DDE43766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188595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Market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Snapshot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AF8215-FB58-4F90-AB84-F832723E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23622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910DEE-6F5B-4D9E-B684-28827558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2476500"/>
            <a:ext cx="118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currentPrice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previousClose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4CEA55-F2DF-4328-B3E6-04E1959A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30861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D5C03B-E080-424A-8E26-11F2766A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3200400"/>
            <a:ext cx="1181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getPercentChange()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F5F9A4-218E-48D7-9857-CDB429B9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E383B4-E9CE-488B-B3D2-E73F3938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A1A79B-2E47-469A-A05F-0A20020C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476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MovingAverageCross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7BBCC-F69C-46E1-8BB9-FD8232E2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9530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20A945-087C-4783-A3BA-D3B5516F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067300"/>
            <a:ext cx="2114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shortWindow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longWindow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39DE25-8D88-4FC6-A7A0-06A9B02C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56769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4C8EE8-496C-4B93-A4CE-81E79FCC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79120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generateSignals(priceSeries)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9A68B2-2B56-4753-913F-D91F6923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C35CC0-A03D-495B-A234-C462B857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5294335-62B0-43FA-A225-E609BF92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476750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B7C2A6-2308-42B3-8158-90835120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48196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5F00B8-334F-45B9-BFFB-8A92F239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933950"/>
            <a:ext cx="182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run(strategy, priceSeries,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  initialCapital)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8FB72A8-E90E-4E5C-A6D5-52DCAF37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5435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0A0214-0BAF-436E-ADEB-C478D6E5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56578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simulate trades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 equity curve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A3C241-05DF-4436-A11D-D58E1A95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718041-B2EB-475C-B94D-620126A9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7D4AC4-4E73-4411-81C8-97AE8E09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476750"/>
            <a:ext cx="1638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BacktestTrade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4A4476A-90BB-44E2-B663-9D96BEFE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8196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648545B-3D11-4FCF-A6DD-F081ED5F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933950"/>
            <a:ext cx="1638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tradeDate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B97E7C-E0E7-48C5-A7F0-D6BC4DB8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58102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A42BCFE-6E1B-4E6C-A49C-DB671FF3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5924550"/>
            <a:ext cx="1638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toPersistence()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A90F7C-7BBD-45E9-8476-3AC92C9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00C069-2E0C-4F69-ABA3-8749234D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FA34F4-04C8-4723-83F8-35F7815F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4767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PerformanceReport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C31255-06E0-43B8-BA9F-704C85DA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48196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E0432EF-B188-4618-8E76-F3E3ABBB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93395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totalReturnPercent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maxDrawdownPercent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winRatePercent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99BAC7A-A0AE-4A0D-A91B-C0ADC676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56388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992E80E-91FC-46DD-8AE0-5DC60BF5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57531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fromBacktest()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BE35F5-3B00-499B-9E7D-18D1A1F7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6098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132B692-E2F9-4D9C-83F2-27307D8C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4384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繼承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85DBCBA-227C-4E9F-95FD-A785C17C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404CE21-239B-41B7-98AC-B7149B7F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BF74098-8C50-410A-9041-6438083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718BB28-6DB5-47F9-B89F-EB395336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D0BCAA4-F25A-4665-8647-3F0D21C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609850"/>
            <a:ext cx="304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147E48D-0066-42EB-AB83-AADD4911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44050" y="2438400"/>
            <a:ext cx="495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讀取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C71DF4C-B20B-49C6-8ECE-CCBB5C31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520065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6F51188-9D70-4432-B4BF-83B7DBB0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4300" y="502920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執行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DFC5378-F210-4981-A994-2DE81B75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52006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F277CBA-4D23-4C7F-8303-E1C2857F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50292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10D6CDD-1F0E-456F-AE17-B45BD118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52006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B0522CD-9EC7-4F98-95AF-EFBC8E34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0" y="502920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產生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93AE6DC-6C03-41C3-A460-5E291F76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本頁是主要 OOAD 證據：抽象規則、具體策略、回測引擎與報告物件。</a:t>
            </a:r>
          </a:p>
        </p:txBody>
      </p:sp>
    </p:spTree>
    <p:extLst>
      <p:ext uri="{BB962C8B-B14F-4D97-AF65-F5344CB8AC3E}">
        <p14:creationId xmlns:p14="http://schemas.microsoft.com/office/powerpoint/2010/main" val="269657122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F3C1D5-F998-4845-9597-D06CE45C4D38}"/>
              </a:ext>
            </a:extLst>
          </p:cNvPr>
          <p:cNvSpPr>
            <a:spLocks noGrp="1"/>
          </p:cNvSpPr>
          <p:nvPr/>
        </p:nvSpPr>
        <p:spPr>
          <a:xfrm rot="0">
            <a:off x="9620250" y="-857250"/>
            <a:ext cx="3429000" cy="3429000"/>
          </a:xfrm>
          <a:prstGeom prst="ellipse">
            <a:avLst/>
          </a:prstGeom>
          <a:solidFill>
            <a:srgbClr val="DFF5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B7405F5E-6072-4ECC-B7C5-A34D9A1B908E}"/>
              </a:ext>
            </a:extLst>
          </p:cNvPr>
          <p:cNvSpPr>
            <a:spLocks noGrp="1"/>
          </p:cNvSpPr>
          <p:nvPr/>
        </p:nvSpPr>
        <p:spPr>
          <a:xfrm rot="0">
            <a:off x="-857250" y="5334000"/>
            <a:ext cx="2286000" cy="2286000"/>
          </a:xfrm>
          <a:prstGeom prst="ellipse">
            <a:avLst/>
          </a:prstGeom>
          <a:solidFill>
            <a:srgbClr val="FAEF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9E762F36-AA0D-4544-9968-8AD0964AF411}"/>
              </a:ext>
            </a:extLst>
          </p:cNvPr>
          <p:cNvSpPr>
            <a:spLocks noGrp="1"/>
          </p:cNvSpPr>
          <p:nvPr/>
        </p:nvSpPr>
        <p:spPr>
          <a:xfrm rot="0">
            <a:off x="609600" y="2667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>
              <a:ext uri="{FF2B5EF4-FFF2-40B4-BE49-F238E27FC236}">
                <ns2:creationId id="{10C59D8C-7EB8-4A50-9299-45255B9479F3}"/>
              </a:ext>
            </a:extLst>
          </p:cNvPr>
          <p:cNvSpPr>
            <a:spLocks noGrp="1"/>
          </p:cNvSpPr>
          <p:nvPr/>
        </p:nvSpPr>
        <p:spPr>
          <a:xfrm rot="0">
            <a:off x="11163300" y="24765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11</a:t>
            </a:r>
          </a:p>
        </p:txBody>
      </p:sp>
      <p:sp>
        <p:nvSpPr>
          <p:cNvPr id="5" name="">
            <a:extLst>
              <a:ext uri="{FF2B5EF4-FFF2-40B4-BE49-F238E27FC236}">
                <ns2:creationId id="{CBE5ADFC-9BAE-4874-AFCE-2750D64B1E91}"/>
              </a:ext>
            </a:extLst>
          </p:cNvPr>
          <p:cNvSpPr>
            <a:spLocks noGrp="1"/>
          </p:cNvSpPr>
          <p:nvPr/>
        </p:nvSpPr>
        <p:spPr>
          <a:xfrm rot="0">
            <a:off x="609600" y="514350"/>
            <a:ext cx="10972800" cy="19050"/>
          </a:xfrm>
          <a:prstGeom prst="rect">
            <a:avLst/>
          </a:prstGeom>
          <a:solidFill>
            <a:srgbClr val="2331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33EF3D8-62CB-4B77-A3F7-D5E2EF5F230D}"/>
              </a:ext>
            </a:extLst>
          </p:cNvPr>
          <p:cNvSpPr>
            <a:spLocks noGrp="1"/>
          </p:cNvSpPr>
          <p:nvPr/>
        </p:nvSpPr>
        <p:spPr>
          <a:xfrm rot="0">
            <a:off x="609600" y="781050"/>
            <a:ext cx="8858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1 - Strategy Pattern</a:t>
            </a:r>
          </a:p>
        </p:txBody>
      </p:sp>
      <p:sp>
        <p:nvSpPr>
          <p:cNvPr id="7" name="">
            <a:extLst>
              <a:ext uri="{FF2B5EF4-FFF2-40B4-BE49-F238E27FC236}">
                <ns2:creationId id="{557A604C-DD00-4FD7-B680-9E15706F82EF}"/>
              </a:ext>
            </a:extLst>
          </p:cNvPr>
          <p:cNvSpPr>
            <a:spLocks noGrp="1"/>
          </p:cNvSpPr>
          <p:nvPr/>
        </p:nvSpPr>
        <p:spPr>
          <a:xfrm rot="0">
            <a:off x="628650" y="1257300"/>
            <a:ext cx="9334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以回測策略說明：引擎固定流程，策略演算法可替換。</a:t>
            </a:r>
          </a:p>
        </p:txBody>
      </p:sp>
      <p:sp>
        <p:nvSpPr>
          <p:cNvPr id="8" name="">
            <a:extLst>
              <a:ext uri="{FF2B5EF4-FFF2-40B4-BE49-F238E27FC236}">
                <ns2:creationId id="{E2D97AA9-0F5A-44C5-80E2-1E973617D2B6}"/>
              </a:ext>
            </a:extLst>
          </p:cNvPr>
          <p:cNvSpPr>
            <a:spLocks noGrp="1"/>
          </p:cNvSpPr>
          <p:nvPr/>
        </p:nvSpPr>
        <p:spPr>
          <a:xfrm rot="0">
            <a:off x="609600" y="1866900"/>
            <a:ext cx="3086100" cy="3829050"/>
          </a:xfrm>
          <a:prstGeom prst="roundRect">
            <a:avLst>
              <a:gd name="adj" fmla="val 2469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3D27DEC-6B05-4C67-A477-7638BE39E9D1}"/>
              </a:ext>
            </a:extLst>
          </p:cNvPr>
          <p:cNvSpPr>
            <a:spLocks noGrp="1"/>
          </p:cNvSpPr>
          <p:nvPr/>
        </p:nvSpPr>
        <p:spPr>
          <a:xfrm rot="0">
            <a:off x="609600" y="1866900"/>
            <a:ext cx="3086100" cy="76200"/>
          </a:xfrm>
          <a:prstGeom prst="rect">
            <a:avLst/>
          </a:prstGeom>
          <a:solidFill>
            <a:srgbClr val="38B58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BE1C61C-D2ED-4994-BE1B-1F8BE8008F58}"/>
              </a:ext>
            </a:extLst>
          </p:cNvPr>
          <p:cNvSpPr>
            <a:spLocks noGrp="1"/>
          </p:cNvSpPr>
          <p:nvPr/>
        </p:nvSpPr>
        <p:spPr>
          <a:xfrm rot="0">
            <a:off x="800100" y="2038350"/>
            <a:ext cx="27051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>
              <a:ext uri="{FF2B5EF4-FFF2-40B4-BE49-F238E27FC236}">
                <ns2:creationId id="{F12AF1F4-7B0C-47E2-9F27-193F8F78D47C}"/>
              </a:ext>
            </a:extLst>
          </p:cNvPr>
          <p:cNvSpPr>
            <a:spLocks noGrp="1"/>
          </p:cNvSpPr>
          <p:nvPr/>
        </p:nvSpPr>
        <p:spPr>
          <a:xfrm rot="0">
            <a:off x="857250" y="2400300"/>
            <a:ext cx="25908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把不同交易訊號演算法封裝在 TradingStrategy 介面後面。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BacktestEngine 只負責回測流程，不需要知道每種策略如何產生 BUY / SELL 訊號。</a:t>
            </a:r>
          </a:p>
        </p:txBody>
      </p:sp>
      <p:sp>
        <p:nvSpPr>
          <p:cNvPr id="12" name="">
            <a:extLst>
              <a:ext uri="{FF2B5EF4-FFF2-40B4-BE49-F238E27FC236}">
                <ns2:creationId id="{8A236BB3-73B9-4D90-8215-529E74321807}"/>
              </a:ext>
            </a:extLst>
          </p:cNvPr>
          <p:cNvSpPr>
            <a:spLocks noGrp="1"/>
          </p:cNvSpPr>
          <p:nvPr/>
        </p:nvSpPr>
        <p:spPr>
          <a:xfrm rot="0">
            <a:off x="4533900" y="1866900"/>
            <a:ext cx="3162300" cy="3829050"/>
          </a:xfrm>
          <a:prstGeom prst="roundRect">
            <a:avLst>
              <a:gd name="adj" fmla="val 2410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2B0858F-0B0A-4AD0-B910-D2AE624A2B99}"/>
              </a:ext>
            </a:extLst>
          </p:cNvPr>
          <p:cNvSpPr>
            <a:spLocks noGrp="1"/>
          </p:cNvSpPr>
          <p:nvPr/>
        </p:nvSpPr>
        <p:spPr>
          <a:xfrm rot="0">
            <a:off x="4533900" y="1866900"/>
            <a:ext cx="3162300" cy="76200"/>
          </a:xfrm>
          <a:prstGeom prst="rect">
            <a:avLst/>
          </a:prstGeom>
          <a:solidFill>
            <a:srgbClr val="5E9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86101DFA-9852-459B-B75C-97B95749AB73}"/>
              </a:ext>
            </a:extLst>
          </p:cNvPr>
          <p:cNvSpPr>
            <a:spLocks noGrp="1"/>
          </p:cNvSpPr>
          <p:nvPr/>
        </p:nvSpPr>
        <p:spPr>
          <a:xfrm rot="0">
            <a:off x="4724400" y="2038350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>
              <a:ext uri="{FF2B5EF4-FFF2-40B4-BE49-F238E27FC236}">
                <ns2:creationId id="{D2FE6769-9707-40EC-8547-44CF714E1AE8}"/>
              </a:ext>
            </a:extLst>
          </p:cNvPr>
          <p:cNvSpPr>
            <a:spLocks noGrp="1"/>
          </p:cNvSpPr>
          <p:nvPr/>
        </p:nvSpPr>
        <p:spPr>
          <a:xfrm rot="0">
            <a:off x="4781550" y="2400300"/>
            <a:ext cx="2667000" cy="2038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主要 class 對應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TradingStrategy：定義 getWarmupPeriod() 與 generateSignals()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BacktestEngine：只呼叫 strategy.getWarmupPeriod() 和 strategy.generateSignals()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具體策略：MovingAverageCrossStrategy、RsiReversionStrategy、BreakoutStrategy 等</a:t>
            </a:r>
          </a:p>
        </p:txBody>
      </p:sp>
      <p:sp>
        <p:nvSpPr>
          <p:cNvPr id="16" name="">
            <a:extLst>
              <a:ext uri="{FF2B5EF4-FFF2-40B4-BE49-F238E27FC236}">
                <ns2:creationId id="{318DDFFF-A235-431C-AAEA-490D8D7E6CAC}"/>
              </a:ext>
            </a:extLst>
          </p:cNvPr>
          <p:cNvSpPr>
            <a:spLocks noGrp="1"/>
          </p:cNvSpPr>
          <p:nvPr/>
        </p:nvSpPr>
        <p:spPr>
          <a:xfrm rot="0">
            <a:off x="8534400" y="1866900"/>
            <a:ext cx="3048000" cy="3829050"/>
          </a:xfrm>
          <a:prstGeom prst="roundRect">
            <a:avLst>
              <a:gd name="adj" fmla="val 2500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D7973C1-39BF-428C-A40F-7FE2EA56A892}"/>
              </a:ext>
            </a:extLst>
          </p:cNvPr>
          <p:cNvSpPr>
            <a:spLocks noGrp="1"/>
          </p:cNvSpPr>
          <p:nvPr/>
        </p:nvSpPr>
        <p:spPr>
          <a:xfrm rot="0">
            <a:off x="8534400" y="1866900"/>
            <a:ext cx="3048000" cy="76200"/>
          </a:xfrm>
          <a:prstGeom prst="rect">
            <a:avLst/>
          </a:prstGeom>
          <a:solidFill>
            <a:srgbClr val="D6A04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82DA91FA-5E23-46FF-A6A2-1D0E7A894599}"/>
              </a:ext>
            </a:extLst>
          </p:cNvPr>
          <p:cNvSpPr>
            <a:spLocks noGrp="1"/>
          </p:cNvSpPr>
          <p:nvPr/>
        </p:nvSpPr>
        <p:spPr>
          <a:xfrm rot="0">
            <a:off x="8724900" y="203835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>
              <a:ext uri="{FF2B5EF4-FFF2-40B4-BE49-F238E27FC236}">
                <ns2:creationId id="{20B49210-D243-454E-A736-E9ABBAEF14EA}"/>
              </a:ext>
            </a:extLst>
          </p:cNvPr>
          <p:cNvSpPr>
            <a:spLocks noGrp="1"/>
          </p:cNvSpPr>
          <p:nvPr/>
        </p:nvSpPr>
        <p:spPr>
          <a:xfrm rot="0">
            <a:off x="8782050" y="2400300"/>
            <a:ext cx="25527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回測流程與策略邏輯分離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新增策略時不改 BacktestEngine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不同策略可用同一套交易模擬流程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比 Factory 更強調「演算法替換」</a:t>
            </a:r>
          </a:p>
        </p:txBody>
      </p:sp>
      <p:sp>
        <p:nvSpPr>
          <p:cNvPr id="20" name="">
            <a:extLst>
              <a:ext uri="{FF2B5EF4-FFF2-40B4-BE49-F238E27FC236}">
                <ns2:creationId id="{C0A7B2B6-DD8E-4B3F-B93B-A99B9F4C4C2D}"/>
              </a:ext>
            </a:extLst>
          </p:cNvPr>
          <p:cNvSpPr>
            <a:spLocks noGrp="1"/>
          </p:cNvSpPr>
          <p:nvPr/>
        </p:nvSpPr>
        <p:spPr>
          <a:xfrm rot="0">
            <a:off x="4743450" y="4838700"/>
            <a:ext cx="1085850" cy="457200"/>
          </a:xfrm>
          <a:prstGeom prst="roundRect">
            <a:avLst>
              <a:gd name="adj" fmla="val 16667"/>
            </a:avLst>
          </a:prstGeom>
          <a:solidFill>
            <a:srgbClr val="FAEFD9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11DDAA1-A2ED-447A-9138-21A3CD77A80A}"/>
              </a:ext>
            </a:extLst>
          </p:cNvPr>
          <p:cNvSpPr>
            <a:spLocks noGrp="1"/>
          </p:cNvSpPr>
          <p:nvPr/>
        </p:nvSpPr>
        <p:spPr>
          <a:xfrm rot="0">
            <a:off x="4743450" y="4953000"/>
            <a:ext cx="1085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TradingStrategy</a:t>
            </a:r>
          </a:p>
        </p:txBody>
      </p:sp>
      <p:sp>
        <p:nvSpPr>
          <p:cNvPr id="22" name="">
            <a:extLst>
              <a:ext uri="{FF2B5EF4-FFF2-40B4-BE49-F238E27FC236}">
                <ns2:creationId id="{E558AF6C-33C7-4B7A-9B78-5AD033D4A5A5}"/>
              </a:ext>
            </a:extLst>
          </p:cNvPr>
          <p:cNvSpPr>
            <a:spLocks noGrp="1"/>
          </p:cNvSpPr>
          <p:nvPr/>
        </p:nvSpPr>
        <p:spPr>
          <a:xfrm rot="0">
            <a:off x="5867400" y="4972050"/>
            <a:ext cx="552450" cy="133350"/>
          </a:xfrm>
          <a:prstGeom prst="rightArrow">
            <a:avLst/>
          </a:prstGeom>
          <a:solidFill>
            <a:srgbClr val="172026"/>
          </a:solidFill>
          <a:ln w="0">
            <a:solidFill>
              <a:srgbClr val="172026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029B7255-BCA3-4868-B805-CFC532228C13}"/>
              </a:ext>
            </a:extLst>
          </p:cNvPr>
          <p:cNvSpPr>
            <a:spLocks noGrp="1"/>
          </p:cNvSpPr>
          <p:nvPr/>
        </p:nvSpPr>
        <p:spPr>
          <a:xfrm rot="0">
            <a:off x="6553200" y="4686300"/>
            <a:ext cx="952500" cy="342900"/>
          </a:xfrm>
          <a:prstGeom prst="roundRect">
            <a:avLst>
              <a:gd name="adj" fmla="val 22222"/>
            </a:avLst>
          </a:prstGeom>
          <a:solidFill>
            <a:srgbClr val="DFF5EC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BD610A4-C657-4105-A5CF-A9E58859D63E}"/>
              </a:ext>
            </a:extLst>
          </p:cNvPr>
          <p:cNvSpPr>
            <a:spLocks noGrp="1"/>
          </p:cNvSpPr>
          <p:nvPr/>
        </p:nvSpPr>
        <p:spPr>
          <a:xfrm rot="0">
            <a:off x="6553200" y="47720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MA Cross</a:t>
            </a:r>
          </a:p>
        </p:txBody>
      </p:sp>
      <p:sp>
        <p:nvSpPr>
          <p:cNvPr id="25" name="">
            <a:extLst>
              <a:ext uri="{FF2B5EF4-FFF2-40B4-BE49-F238E27FC236}">
                <ns2:creationId id="{428D9EA6-AEA6-4AF6-B999-4EBB07F3C40A}"/>
              </a:ext>
            </a:extLst>
          </p:cNvPr>
          <p:cNvSpPr>
            <a:spLocks noGrp="1"/>
          </p:cNvSpPr>
          <p:nvPr/>
        </p:nvSpPr>
        <p:spPr>
          <a:xfrm rot="0">
            <a:off x="6553200" y="5105400"/>
            <a:ext cx="952500" cy="342900"/>
          </a:xfrm>
          <a:prstGeom prst="roundRect">
            <a:avLst>
              <a:gd name="adj" fmla="val 22222"/>
            </a:avLst>
          </a:prstGeom>
          <a:solidFill>
            <a:srgbClr val="E5EEFF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63E9EC2B-A303-4243-BB89-D11D7FA72973}"/>
              </a:ext>
            </a:extLst>
          </p:cNvPr>
          <p:cNvSpPr>
            <a:spLocks noGrp="1"/>
          </p:cNvSpPr>
          <p:nvPr/>
        </p:nvSpPr>
        <p:spPr>
          <a:xfrm rot="0">
            <a:off x="6553200" y="51911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RSI / Breakout</a:t>
            </a:r>
          </a:p>
        </p:txBody>
      </p:sp>
      <p:sp>
        <p:nvSpPr>
          <p:cNvPr id="27" name="">
            <a:extLst>
              <a:ext uri="{FF2B5EF4-FFF2-40B4-BE49-F238E27FC236}">
                <ns2:creationId id="{80A9362A-C429-4659-8FD6-5D3ED8A3C8AB}"/>
              </a:ext>
            </a:extLst>
          </p:cNvPr>
          <p:cNvSpPr>
            <a:spLocks noGrp="1"/>
          </p:cNvSpPr>
          <p:nvPr/>
        </p:nvSpPr>
        <p:spPr>
          <a:xfrm rot="0">
            <a:off x="609600" y="6534150"/>
            <a:ext cx="971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ns3:creationId val="868772418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728322D-3D86-4B09-B39C-917C2B112803}"/>
              </a:ext>
            </a:extLst>
          </p:cNvPr>
          <p:cNvSpPr>
            <a:spLocks noGrp="1"/>
          </p:cNvSpPr>
          <p:nvPr/>
        </p:nvSpPr>
        <p:spPr>
          <a:xfrm rot="0">
            <a:off x="9620250" y="-857250"/>
            <a:ext cx="3429000" cy="3429000"/>
          </a:xfrm>
          <a:prstGeom prst="ellipse">
            <a:avLst/>
          </a:prstGeom>
          <a:solidFill>
            <a:srgbClr val="DFF5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AFBB68BD-2E52-4C6C-9C63-304F6D7ACE21}"/>
              </a:ext>
            </a:extLst>
          </p:cNvPr>
          <p:cNvSpPr>
            <a:spLocks noGrp="1"/>
          </p:cNvSpPr>
          <p:nvPr/>
        </p:nvSpPr>
        <p:spPr>
          <a:xfrm rot="0">
            <a:off x="-857250" y="5334000"/>
            <a:ext cx="2286000" cy="2286000"/>
          </a:xfrm>
          <a:prstGeom prst="ellipse">
            <a:avLst/>
          </a:prstGeom>
          <a:solidFill>
            <a:srgbClr val="FAEF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F08D0F6B-CF2D-4D11-9F97-C807ABEB7409}"/>
              </a:ext>
            </a:extLst>
          </p:cNvPr>
          <p:cNvSpPr>
            <a:spLocks noGrp="1"/>
          </p:cNvSpPr>
          <p:nvPr/>
        </p:nvSpPr>
        <p:spPr>
          <a:xfrm rot="0">
            <a:off x="609600" y="266700"/>
            <a:ext cx="3429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>
              <a:ext uri="{FF2B5EF4-FFF2-40B4-BE49-F238E27FC236}">
                <ns2:creationId id="{458B74BF-30F1-43A1-B73C-16DA7C548F5B}"/>
              </a:ext>
            </a:extLst>
          </p:cNvPr>
          <p:cNvSpPr>
            <a:spLocks noGrp="1"/>
          </p:cNvSpPr>
          <p:nvPr/>
        </p:nvSpPr>
        <p:spPr>
          <a:xfrm rot="0">
            <a:off x="11163300" y="247650"/>
            <a:ext cx="419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12</a:t>
            </a:r>
          </a:p>
        </p:txBody>
      </p:sp>
      <p:sp>
        <p:nvSpPr>
          <p:cNvPr id="5" name="">
            <a:extLst>
              <a:ext uri="{FF2B5EF4-FFF2-40B4-BE49-F238E27FC236}">
                <ns2:creationId id="{FCF240D4-74A8-466F-AE56-682EAD24CD82}"/>
              </a:ext>
            </a:extLst>
          </p:cNvPr>
          <p:cNvSpPr>
            <a:spLocks noGrp="1"/>
          </p:cNvSpPr>
          <p:nvPr/>
        </p:nvSpPr>
        <p:spPr>
          <a:xfrm rot="0">
            <a:off x="609600" y="514350"/>
            <a:ext cx="10972800" cy="19050"/>
          </a:xfrm>
          <a:prstGeom prst="rect">
            <a:avLst/>
          </a:prstGeom>
          <a:solidFill>
            <a:srgbClr val="2331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65B99A4-3384-48EB-B227-11523E5F4252}"/>
              </a:ext>
            </a:extLst>
          </p:cNvPr>
          <p:cNvSpPr>
            <a:spLocks noGrp="1"/>
          </p:cNvSpPr>
          <p:nvPr/>
        </p:nvSpPr>
        <p:spPr>
          <a:xfrm rot="0">
            <a:off x="609600" y="781050"/>
            <a:ext cx="8858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2 - Template Method Pattern</a:t>
            </a:r>
          </a:p>
        </p:txBody>
      </p:sp>
      <p:sp>
        <p:nvSpPr>
          <p:cNvPr id="7" name="">
            <a:extLst>
              <a:ext uri="{FF2B5EF4-FFF2-40B4-BE49-F238E27FC236}">
                <ns2:creationId id="{25435270-FA93-4477-9F64-8E1780E9F60D}"/>
              </a:ext>
            </a:extLst>
          </p:cNvPr>
          <p:cNvSpPr>
            <a:spLocks noGrp="1"/>
          </p:cNvSpPr>
          <p:nvPr/>
        </p:nvSpPr>
        <p:spPr>
          <a:xfrm rot="0">
            <a:off x="628650" y="1257300"/>
            <a:ext cx="9334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用 AlertRule 說明：父類別固定通知流程，子類別補上可變步驟。</a:t>
            </a:r>
          </a:p>
        </p:txBody>
      </p:sp>
      <p:sp>
        <p:nvSpPr>
          <p:cNvPr id="8" name="">
            <a:extLst>
              <a:ext uri="{FF2B5EF4-FFF2-40B4-BE49-F238E27FC236}">
                <ns2:creationId id="{9CADA108-9B83-4FBC-A24D-9A36AB1715B9}"/>
              </a:ext>
            </a:extLst>
          </p:cNvPr>
          <p:cNvSpPr>
            <a:spLocks noGrp="1"/>
          </p:cNvSpPr>
          <p:nvPr/>
        </p:nvSpPr>
        <p:spPr>
          <a:xfrm rot="0">
            <a:off x="609600" y="1866900"/>
            <a:ext cx="3143250" cy="3790950"/>
          </a:xfrm>
          <a:prstGeom prst="roundRect">
            <a:avLst>
              <a:gd name="adj" fmla="val 2424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D87C1353-F658-40A2-860E-8D09D0B1DCD6}"/>
              </a:ext>
            </a:extLst>
          </p:cNvPr>
          <p:cNvSpPr>
            <a:spLocks noGrp="1"/>
          </p:cNvSpPr>
          <p:nvPr/>
        </p:nvSpPr>
        <p:spPr>
          <a:xfrm rot="0">
            <a:off x="609600" y="1866900"/>
            <a:ext cx="3143250" cy="76200"/>
          </a:xfrm>
          <a:prstGeom prst="rect">
            <a:avLst/>
          </a:prstGeom>
          <a:solidFill>
            <a:srgbClr val="E57B6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B844A5A-8EDE-4029-9D87-AB5F53CEF05C}"/>
              </a:ext>
            </a:extLst>
          </p:cNvPr>
          <p:cNvSpPr>
            <a:spLocks noGrp="1"/>
          </p:cNvSpPr>
          <p:nvPr/>
        </p:nvSpPr>
        <p:spPr>
          <a:xfrm rot="0">
            <a:off x="800100" y="203835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>
              <a:ext uri="{FF2B5EF4-FFF2-40B4-BE49-F238E27FC236}">
                <ns2:creationId id="{5344813E-6AB7-4F14-9F8A-733C5027B82C}"/>
              </a:ext>
            </a:extLst>
          </p:cNvPr>
          <p:cNvSpPr>
            <a:spLocks noGrp="1"/>
          </p:cNvSpPr>
          <p:nvPr/>
        </p:nvSpPr>
        <p:spPr>
          <a:xfrm rot="0">
            <a:off x="857250" y="2400300"/>
            <a:ext cx="2647950" cy="1657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父類別定義演算法骨架，並在固定流程中呼叫由子類別實作的步驟。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AlertRule.buildNotification() 固定通知格式，但條件文字由 getConditionLabel() 決定。</a:t>
            </a:r>
          </a:p>
        </p:txBody>
      </p:sp>
      <p:sp>
        <p:nvSpPr>
          <p:cNvPr id="12" name="">
            <a:extLst>
              <a:ext uri="{FF2B5EF4-FFF2-40B4-BE49-F238E27FC236}">
                <ns2:creationId id="{B71D6A12-DB77-4686-87FE-48B2698A49B9}"/>
              </a:ext>
            </a:extLst>
          </p:cNvPr>
          <p:cNvSpPr>
            <a:spLocks noGrp="1"/>
          </p:cNvSpPr>
          <p:nvPr/>
        </p:nvSpPr>
        <p:spPr>
          <a:xfrm rot="0">
            <a:off x="4514850" y="1866900"/>
            <a:ext cx="3295650" cy="3790950"/>
          </a:xfrm>
          <a:prstGeom prst="roundRect">
            <a:avLst>
              <a:gd name="adj" fmla="val 2312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945D8EA9-6A57-43B6-AC52-6B509CF56125}"/>
              </a:ext>
            </a:extLst>
          </p:cNvPr>
          <p:cNvSpPr>
            <a:spLocks noGrp="1"/>
          </p:cNvSpPr>
          <p:nvPr/>
        </p:nvSpPr>
        <p:spPr>
          <a:xfrm rot="0">
            <a:off x="4514850" y="1866900"/>
            <a:ext cx="3295650" cy="76200"/>
          </a:xfrm>
          <a:prstGeom prst="rect">
            <a:avLst/>
          </a:prstGeom>
          <a:solidFill>
            <a:srgbClr val="38B58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983EA221-38A5-4948-843B-BF1F168B4EB3}"/>
              </a:ext>
            </a:extLst>
          </p:cNvPr>
          <p:cNvSpPr>
            <a:spLocks noGrp="1"/>
          </p:cNvSpPr>
          <p:nvPr/>
        </p:nvSpPr>
        <p:spPr>
          <a:xfrm rot="0">
            <a:off x="4705350" y="20383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>
              <a:ext uri="{FF2B5EF4-FFF2-40B4-BE49-F238E27FC236}">
                <ns2:creationId id="{9D8A6B41-5336-4FBB-A464-33959291A629}"/>
              </a:ext>
            </a:extLst>
          </p:cNvPr>
          <p:cNvSpPr>
            <a:spLocks noGrp="1"/>
          </p:cNvSpPr>
          <p:nvPr/>
        </p:nvSpPr>
        <p:spPr>
          <a:xfrm rot="0">
            <a:off x="4762500" y="2400300"/>
            <a:ext cx="2800350" cy="1771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主要 class 對應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AlertRule：提供 buildNotification(snapshot) 通知產生流程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子類別：PriceAboveAlertRule / PriceBelowAlertRule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/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可變步驟：各自實作 getConditionLabel() 與 isTriggered(snapshot)</a:t>
            </a:r>
          </a:p>
        </p:txBody>
      </p:sp>
      <p:sp>
        <p:nvSpPr>
          <p:cNvPr id="16" name="">
            <a:extLst>
              <a:ext uri="{FF2B5EF4-FFF2-40B4-BE49-F238E27FC236}">
                <ns2:creationId id="{B7FA66B7-A58B-4B6C-A65D-BA8D0B277C75}"/>
              </a:ext>
            </a:extLst>
          </p:cNvPr>
          <p:cNvSpPr>
            <a:spLocks noGrp="1"/>
          </p:cNvSpPr>
          <p:nvPr/>
        </p:nvSpPr>
        <p:spPr>
          <a:xfrm rot="0">
            <a:off x="8572500" y="1866900"/>
            <a:ext cx="3009900" cy="3790950"/>
          </a:xfrm>
          <a:prstGeom prst="roundRect">
            <a:avLst>
              <a:gd name="adj" fmla="val 2532"/>
            </a:avLst>
          </a:prstGeom>
          <a:solidFill>
            <a:srgbClr val="FFFDF8"/>
          </a:solidFill>
          <a:ln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34BDC0C-1929-4BEB-8CF8-EF486219E46A}"/>
              </a:ext>
            </a:extLst>
          </p:cNvPr>
          <p:cNvSpPr>
            <a:spLocks noGrp="1"/>
          </p:cNvSpPr>
          <p:nvPr/>
        </p:nvSpPr>
        <p:spPr>
          <a:xfrm rot="0">
            <a:off x="8572500" y="1866900"/>
            <a:ext cx="3009900" cy="76200"/>
          </a:xfrm>
          <a:prstGeom prst="rect">
            <a:avLst/>
          </a:prstGeom>
          <a:solidFill>
            <a:srgbClr val="D6A04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19DADF23-1C3D-4264-9B5A-54015CB62A2D}"/>
              </a:ext>
            </a:extLst>
          </p:cNvPr>
          <p:cNvSpPr>
            <a:spLocks noGrp="1"/>
          </p:cNvSpPr>
          <p:nvPr/>
        </p:nvSpPr>
        <p:spPr>
          <a:xfrm rot="0">
            <a:off x="8763000" y="2038350"/>
            <a:ext cx="2628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>
              <a:ext uri="{FF2B5EF4-FFF2-40B4-BE49-F238E27FC236}">
                <ns2:creationId id="{85F5B18F-F69C-4522-94D2-E6160700BE4C}"/>
              </a:ext>
            </a:extLst>
          </p:cNvPr>
          <p:cNvSpPr>
            <a:spLocks noGrp="1"/>
          </p:cNvSpPr>
          <p:nvPr/>
        </p:nvSpPr>
        <p:spPr>
          <a:xfrm rot="0">
            <a:off x="8820150" y="2400300"/>
            <a:ext cx="2514600" cy="1790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通知格式集中在父類別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不同警示條件保留自己的判斷邏輯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新增規則時只補子類別步驟</a:t>
            </a:r>
          </a:p>
          <a:p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和 Strategy 區隔：重點是「固定流程 + 延遲步驟」</a:t>
            </a:r>
          </a:p>
        </p:txBody>
      </p:sp>
      <p:sp>
        <p:nvSpPr>
          <p:cNvPr id="20" name="">
            <a:extLst>
              <a:ext uri="{FF2B5EF4-FFF2-40B4-BE49-F238E27FC236}">
                <ns2:creationId id="{14989240-FEBF-40CC-8DFC-377D55A04A9D}"/>
              </a:ext>
            </a:extLst>
          </p:cNvPr>
          <p:cNvSpPr>
            <a:spLocks noGrp="1"/>
          </p:cNvSpPr>
          <p:nvPr/>
        </p:nvSpPr>
        <p:spPr>
          <a:xfrm rot="0">
            <a:off x="4800600" y="461010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FBE5DF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F5355225-410F-4488-B797-0CF56A8C4C32}"/>
              </a:ext>
            </a:extLst>
          </p:cNvPr>
          <p:cNvSpPr>
            <a:spLocks noGrp="1"/>
          </p:cNvSpPr>
          <p:nvPr/>
        </p:nvSpPr>
        <p:spPr>
          <a:xfrm rot="0">
            <a:off x="4800600" y="472440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AlertRule</a:t>
            </a:r>
          </a:p>
        </p:txBody>
      </p:sp>
      <p:sp>
        <p:nvSpPr>
          <p:cNvPr id="22" name="">
            <a:extLst>
              <a:ext uri="{FF2B5EF4-FFF2-40B4-BE49-F238E27FC236}">
                <ns2:creationId id="{4A1B2ECF-6199-4F83-80C1-51043A56DA21}"/>
              </a:ext>
            </a:extLst>
          </p:cNvPr>
          <p:cNvSpPr>
            <a:spLocks noGrp="1"/>
          </p:cNvSpPr>
          <p:nvPr/>
        </p:nvSpPr>
        <p:spPr>
          <a:xfrm rot="0">
            <a:off x="6305550" y="4752975"/>
            <a:ext cx="704850" cy="133350"/>
          </a:xfrm>
          <a:prstGeom prst="rightArrow">
            <a:avLst/>
          </a:prstGeom>
          <a:solidFill>
            <a:srgbClr val="172026"/>
          </a:solidFill>
          <a:ln w="0">
            <a:solidFill>
              <a:srgbClr val="172026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FCF747A2-E8C1-4F50-AFE3-D2CDE1B8FE2D}"/>
              </a:ext>
            </a:extLst>
          </p:cNvPr>
          <p:cNvSpPr>
            <a:spLocks noGrp="1"/>
          </p:cNvSpPr>
          <p:nvPr/>
        </p:nvSpPr>
        <p:spPr>
          <a:xfrm rot="0">
            <a:off x="7067550" y="4514850"/>
            <a:ext cx="1485900" cy="628650"/>
          </a:xfrm>
          <a:prstGeom prst="roundRect">
            <a:avLst>
              <a:gd name="adj" fmla="val 12121"/>
            </a:avLst>
          </a:prstGeom>
          <a:solidFill>
            <a:srgbClr val="DFF5EC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B4367873-1A2E-45BF-8CCC-6CE00E7073ED}"/>
              </a:ext>
            </a:extLst>
          </p:cNvPr>
          <p:cNvSpPr>
            <a:spLocks noGrp="1"/>
          </p:cNvSpPr>
          <p:nvPr/>
        </p:nvSpPr>
        <p:spPr>
          <a:xfrm rot="0">
            <a:off x="7067550" y="466725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buildNotification()</a:t>
            </a:r>
          </a:p>
        </p:txBody>
      </p:sp>
      <p:sp>
        <p:nvSpPr>
          <p:cNvPr id="25" name="">
            <a:extLst>
              <a:ext uri="{FF2B5EF4-FFF2-40B4-BE49-F238E27FC236}">
                <ns2:creationId id="{11944876-9532-4289-A0C1-F426D6AF216F}"/>
              </a:ext>
            </a:extLst>
          </p:cNvPr>
          <p:cNvSpPr>
            <a:spLocks noGrp="1"/>
          </p:cNvSpPr>
          <p:nvPr/>
        </p:nvSpPr>
        <p:spPr>
          <a:xfrm rot="0">
            <a:off x="8610600" y="4752975"/>
            <a:ext cx="704850" cy="133350"/>
          </a:xfrm>
          <a:prstGeom prst="rightArrow">
            <a:avLst/>
          </a:prstGeom>
          <a:solidFill>
            <a:srgbClr val="172026"/>
          </a:solidFill>
          <a:ln w="0">
            <a:solidFill>
              <a:srgbClr val="172026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38A06DDA-77D2-4356-A012-12F680FEFE8E}"/>
              </a:ext>
            </a:extLst>
          </p:cNvPr>
          <p:cNvSpPr>
            <a:spLocks noGrp="1"/>
          </p:cNvSpPr>
          <p:nvPr/>
        </p:nvSpPr>
        <p:spPr>
          <a:xfrm rot="0">
            <a:off x="9391650" y="4400550"/>
            <a:ext cx="1733550" cy="381000"/>
          </a:xfrm>
          <a:prstGeom prst="roundRect">
            <a:avLst>
              <a:gd name="adj" fmla="val 20000"/>
            </a:avLst>
          </a:prstGeom>
          <a:solidFill>
            <a:srgbClr val="FAEFD9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F22CE732-0B00-4BBB-82CC-EAF183885EF4}"/>
              </a:ext>
            </a:extLst>
          </p:cNvPr>
          <p:cNvSpPr>
            <a:spLocks noGrp="1"/>
          </p:cNvSpPr>
          <p:nvPr/>
        </p:nvSpPr>
        <p:spPr>
          <a:xfrm rot="0">
            <a:off x="9391650" y="4495800"/>
            <a:ext cx="1733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PriceAboveRule</a:t>
            </a:r>
          </a:p>
        </p:txBody>
      </p:sp>
      <p:sp>
        <p:nvSpPr>
          <p:cNvPr id="28" name="">
            <a:extLst>
              <a:ext uri="{FF2B5EF4-FFF2-40B4-BE49-F238E27FC236}">
                <ns2:creationId id="{F187C29D-BA7F-4ADC-ABE6-138C56C3675B}"/>
              </a:ext>
            </a:extLst>
          </p:cNvPr>
          <p:cNvSpPr>
            <a:spLocks noGrp="1"/>
          </p:cNvSpPr>
          <p:nvPr/>
        </p:nvSpPr>
        <p:spPr>
          <a:xfrm rot="0">
            <a:off x="9391650" y="4876800"/>
            <a:ext cx="1733550" cy="381000"/>
          </a:xfrm>
          <a:prstGeom prst="roundRect">
            <a:avLst>
              <a:gd name="adj" fmla="val 20000"/>
            </a:avLst>
          </a:prstGeom>
          <a:solidFill>
            <a:srgbClr val="E5EEFF"/>
          </a:solidFill>
          <a:ln w="10478">
            <a:solidFill>
              <a:srgbClr val="23313B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587BE118-3568-4149-B85D-648EFC08C8F3}"/>
              </a:ext>
            </a:extLst>
          </p:cNvPr>
          <p:cNvSpPr>
            <a:spLocks noGrp="1"/>
          </p:cNvSpPr>
          <p:nvPr/>
        </p:nvSpPr>
        <p:spPr>
          <a:xfrm rot="0">
            <a:off x="9391650" y="4972050"/>
            <a:ext cx="1733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PriceBelowRule</a:t>
            </a:r>
          </a:p>
        </p:txBody>
      </p:sp>
      <p:sp>
        <p:nvSpPr>
          <p:cNvPr id="30" name="">
            <a:extLst>
              <a:ext uri="{FF2B5EF4-FFF2-40B4-BE49-F238E27FC236}">
                <ns2:creationId id="{E5CD213A-40E8-4BC9-BC14-15E59170B317}"/>
              </a:ext>
            </a:extLst>
          </p:cNvPr>
          <p:cNvSpPr>
            <a:spLocks noGrp="1"/>
          </p:cNvSpPr>
          <p:nvPr/>
        </p:nvSpPr>
        <p:spPr>
          <a:xfrm rot="0">
            <a:off x="609600" y="6534150"/>
            <a:ext cx="971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ns3:creationId val="7418964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8CBE7F-49C6-4AFE-9C71-8D2C4BD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38324-94A3-4FF0-A192-D8B1AD6F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4A4F5-E9CF-4807-A807-C1FFB493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6752F-F11E-4463-B871-EABEAAD3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8B633-02A4-4881-8F24-194F7028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CBA75-671B-49D5-ABFC-C26B3934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結論與下一步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3BF0B-6292-40AE-9F84-EEA71354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用已完成修正與後續方向收束本次期中檢查。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127D0-B592-49AF-8079-DD947DE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AADEB-CCD9-4E17-A585-C45F4239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5FBA-2E27-4B3E-9DC6-8A36112E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期中檢查結論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10D89-3DF9-4204-8A51-3D7DB253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本專題已從資料查詢網站，提升為規則與策略驅動的投資分析平台。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目前能展示物件責任、領域建模、可繪製圖表的架構，以及設計模式的實際效果。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444BB-49F5-40AB-B7C5-6069FDB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7086F-E8E9-455E-98B6-23111AE5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A03BA-2C61-44E5-8A39-FDF06FF3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已完成內容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E2D90-3B7A-410A-A3D6-1FA9CD38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MySQL 已重建並整合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Portfolio Domain 已重構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已新增警示與通知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已新增移動平均回測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已整理為 11 個主要 use cases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B8AA3A-5AD0-44CB-BF0A-A45ED242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99F122-D860-4366-AFC5-C23BDD25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0A97B-3109-4131-9D73-DA44C44D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下一步開發方向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FA5B15-73AE-45BD-9223-56078659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新增 RSI 等更多策略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加入排程式警示評估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比較多組回測參數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替換正式截圖與組員姓名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4E9F0-6D92-4843-8278-98A901F7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5105400"/>
            <a:ext cx="90868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97BFE-F488-4565-AE28-AD814BF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5391150"/>
            <a:ext cx="847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本次報告重點：</a:t>
            </a:r>
          </a:p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我們不只展示系統能做什麼，也展示物件導向分析與設計如何組織整個系統。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F1ACC-C5A2-47DB-AB7C-A764DDFA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本版之後建議替換組員姓名，並從實際可運行原型匯出正式截圖。</a:t>
            </a:r>
          </a:p>
        </p:txBody>
      </p:sp>
    </p:spTree>
    <p:extLst>
      <p:ext uri="{BB962C8B-B14F-4D97-AF65-F5344CB8AC3E}">
        <p14:creationId xmlns:p14="http://schemas.microsoft.com/office/powerpoint/2010/main" val="5888341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412002-6C77-493A-9356-F921B94C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E50301-06CF-4EB5-87F5-47364292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0D753-D1FC-4754-BAAB-951BCB46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D1254-221F-495B-986C-CD9886FC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980B9-5301-4F68-B62E-B3B5FCB8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04112-A8E0-4CFB-9A43-DBFA4021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候選 Use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AD347-7E10-4BA3-9162-1FFD45DC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作為備援清單，避免現場若有 use case 被認定過大或過小時缺少替換項目。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8F995-4F8F-4206-8718-69474464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2C725-AE23-45F5-8FCF-B2B48BDF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91ECC-4D62-4E68-A00D-FA94B240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ALT01 刪除警示規則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538D4-75C3-48D3-AA7D-327D8B5F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可替換 alert lifecycle 相關項目，獨立性高。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9FB1E-CD2B-4993-84C4-3A3D93F1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FE4AF-C4FA-4631-B8D3-6E0C8A85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43CA0A-9632-4CD2-8F04-BAB1F56D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ALT02 查看投資組合摘要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5B773C-11F3-47EA-8C5B-B40EDBB2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若老師認為「管理投資組合」太泛，可改用此任務。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28D35-977B-450C-8FB4-D06F8142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03406-6CB3-409F-9F97-F61AAAD4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6E4DE-D8EC-4656-97F3-E168763E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ALT03 查看投資組合交易紀錄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1B230-D22C-4857-ACEB-ADC7825C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可用來替換較偏管理者或系統型的 use case。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C72DD-E976-43C7-905A-3CFBD524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E2F05-7E8E-4F1A-A611-46E47F3E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B3FF5-DF37-4EC0-86B7-D98FEAD3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01955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ALT04 手動執行警示評估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E8D38-CAAD-4CD9-8785-56E61548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38150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直接對應 evaluate route，能展示規則批次評估流程。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A42C3-2BF2-403B-BD11-63E20FEB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B4AF47-6AC3-43EC-8B90-7FFE9541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6EA284-8FDF-4792-83B4-3842FFF9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019550"/>
            <a:ext cx="426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ALT05 比較不同回測參數結果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303DE-631E-4D02-9574-07E2AE7A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381500"/>
            <a:ext cx="4267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尚未完成。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若後續補做成功，最適合提升策略與報告物件的複雜度。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62521-5D56-470D-B6C7-4817EAE2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5810250"/>
            <a:ext cx="1076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替換建議：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1. 若「查看通知與標記已讀」太像結果頁，可改成「手動執行警示評估」。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2. 若「管理投資組合」太大，可拆成「查看投資組合摘要」。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3. 若「更新市場資料」太偏維護，可改成「查看投資組合交易紀錄」。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CEFE4A-C5F1-4DD6-B2D7-0D2E26D7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此頁可放在最後作為口頭備援，不一定要逐項詳細講解。</a:t>
            </a:r>
          </a:p>
        </p:txBody>
      </p:sp>
    </p:spTree>
    <p:extLst>
      <p:ext uri="{BB962C8B-B14F-4D97-AF65-F5344CB8AC3E}">
        <p14:creationId xmlns:p14="http://schemas.microsoft.com/office/powerpoint/2010/main" val="1342361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2026-05-05T12:15:56.7530000Z</dcterms:created>
  <dcterms:modified xsi:type="dcterms:W3CDTF">2026-05-05T12:15:56.7530000Z</dcterms:modified>
</coreProperties>
</file>