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c5300854364653" /><Relationship Type="http://schemas.openxmlformats.org/officeDocument/2006/relationships/extended-properties" Target="/docProps/app.xml" Id="R819f2116998d47c5" /><Relationship Type="http://schemas.openxmlformats.org/officeDocument/2006/relationships/officeDocument" Target="/ppt/presentation.xml" Id="R96fd21d15a8544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21b857b6e84b57"/>
  </p:sldMasterIdLst>
  <p:notesMasterIdLst>
    <p:notesMasterId xmlns:r="http://schemas.openxmlformats.org/officeDocument/2006/relationships" r:id="R06b2c6daf80f4a3c"/>
  </p:notesMasterIdLst>
  <p:sldIdLst>
    <p:sldId xmlns:r="http://schemas.openxmlformats.org/officeDocument/2006/relationships" id="256" r:id="Rbd9a6519baa34fb1"/>
    <p:sldId xmlns:r="http://schemas.openxmlformats.org/officeDocument/2006/relationships" id="257" r:id="R7740ec6bfd1c49d8"/>
    <p:sldId xmlns:r="http://schemas.openxmlformats.org/officeDocument/2006/relationships" id="258" r:id="R53e7982ddd794a73"/>
    <p:sldId xmlns:r="http://schemas.openxmlformats.org/officeDocument/2006/relationships" id="259" r:id="R088e8d62df5d447f"/>
    <p:sldId xmlns:r="http://schemas.openxmlformats.org/officeDocument/2006/relationships" id="260" r:id="R2c53dc4dc8304eea"/>
    <p:sldId xmlns:r="http://schemas.openxmlformats.org/officeDocument/2006/relationships" id="261" r:id="R044a65dcb7144bb8"/>
    <p:sldId xmlns:r="http://schemas.openxmlformats.org/officeDocument/2006/relationships" id="262" r:id="R64fe7c76aa06488b"/>
    <p:sldId xmlns:r="http://schemas.openxmlformats.org/officeDocument/2006/relationships" id="263" r:id="Rb115f85dee29402c"/>
    <p:sldId xmlns:r="http://schemas.openxmlformats.org/officeDocument/2006/relationships" id="264" r:id="R731d651f684d4471"/>
    <p:sldId xmlns:r="http://schemas.openxmlformats.org/officeDocument/2006/relationships" id="265" r:id="R9aaf9bb1318e4c21"/>
    <p:sldId xmlns:r="http://schemas.openxmlformats.org/officeDocument/2006/relationships" id="266" r:id="R96b2175b47214c16"/>
    <p:sldId xmlns:r="http://schemas.openxmlformats.org/officeDocument/2006/relationships" id="267" r:id="R9b5838637ead44d0"/>
    <p:sldId xmlns:r="http://schemas.openxmlformats.org/officeDocument/2006/relationships" id="268" r:id="R942c90963b6140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1b857b6e84b57" /><Relationship Type="http://schemas.openxmlformats.org/officeDocument/2006/relationships/theme" Target="/ppt/theme/theme1.xml" Id="R1f94f294302346ce" /><Relationship Type="http://schemas.openxmlformats.org/officeDocument/2006/relationships/notesMaster" Target="/ppt/notesMasters/notesMaster1.xml" Id="R06b2c6daf80f4a3c" /><Relationship Type="http://schemas.openxmlformats.org/officeDocument/2006/relationships/presProps" Target="/ppt/presProps.xml" Id="R47b1524c0e494d48" /><Relationship Type="http://schemas.openxmlformats.org/officeDocument/2006/relationships/viewProps" Target="/ppt/viewProps.xml" Id="R2793bb99b5f74c73" /><Relationship Type="http://schemas.openxmlformats.org/officeDocument/2006/relationships/tableStyles" Target="/ppt/tableStyles.xml" Id="R8fe6c9acae594ba9" /><Relationship Type="http://schemas.openxmlformats.org/officeDocument/2006/relationships/slide" Target="/ppt/slides/slide1.xml" Id="Rbd9a6519baa34fb1" /><Relationship Type="http://schemas.openxmlformats.org/officeDocument/2006/relationships/slide" Target="/ppt/slides/slide2.xml" Id="R7740ec6bfd1c49d8" /><Relationship Type="http://schemas.openxmlformats.org/officeDocument/2006/relationships/slide" Target="/ppt/slides/slide3.xml" Id="R53e7982ddd794a73" /><Relationship Type="http://schemas.openxmlformats.org/officeDocument/2006/relationships/slide" Target="/ppt/slides/slide4.xml" Id="R088e8d62df5d447f" /><Relationship Type="http://schemas.openxmlformats.org/officeDocument/2006/relationships/slide" Target="/ppt/slides/slide5.xml" Id="R2c53dc4dc8304eea" /><Relationship Type="http://schemas.openxmlformats.org/officeDocument/2006/relationships/slide" Target="/ppt/slides/slide6.xml" Id="R044a65dcb7144bb8" /><Relationship Type="http://schemas.openxmlformats.org/officeDocument/2006/relationships/slide" Target="/ppt/slides/slide7.xml" Id="R64fe7c76aa06488b" /><Relationship Type="http://schemas.openxmlformats.org/officeDocument/2006/relationships/slide" Target="/ppt/slides/slide8.xml" Id="Rb115f85dee29402c" /><Relationship Type="http://schemas.openxmlformats.org/officeDocument/2006/relationships/slide" Target="/ppt/slides/slide9.xml" Id="R731d651f684d4471" /><Relationship Type="http://schemas.openxmlformats.org/officeDocument/2006/relationships/slide" Target="/ppt/slides/slide10.xml" Id="R9aaf9bb1318e4c21" /><Relationship Type="http://schemas.openxmlformats.org/officeDocument/2006/relationships/slide" Target="/ppt/slides/slide11.xml" Id="R96b2175b47214c16" /><Relationship Type="http://schemas.openxmlformats.org/officeDocument/2006/relationships/slide" Target="/ppt/slides/slide12.xml" Id="R9b5838637ead44d0" /><Relationship Type="http://schemas.openxmlformats.org/officeDocument/2006/relationships/slide" Target="/ppt/slides/slide13.xml" Id="R942c90963b6140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5c8e4dad45b4f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496cf4c5564032" /><Relationship Type="http://schemas.openxmlformats.org/officeDocument/2006/relationships/notesMaster" Target="/ppt/notesMasters/notesMaster1.xml" Id="Rf130f89549ab4f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d3b94736d34f54" /><Relationship Type="http://schemas.openxmlformats.org/officeDocument/2006/relationships/notesMaster" Target="/ppt/notesMasters/notesMaster1.xml" Id="R614725211c3044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dad705273042bb" /><Relationship Type="http://schemas.openxmlformats.org/officeDocument/2006/relationships/notesMaster" Target="/ppt/notesMasters/notesMaster1.xml" Id="R988047a902b846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ecd3be796d4c2c" /><Relationship Type="http://schemas.openxmlformats.org/officeDocument/2006/relationships/notesMaster" Target="/ppt/notesMasters/notesMaster1.xml" Id="Ra924f2f0e2d344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3eed998e1e400d" /><Relationship Type="http://schemas.openxmlformats.org/officeDocument/2006/relationships/notesMaster" Target="/ppt/notesMasters/notesMaster1.xml" Id="Rfb369862b96c40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aab7121c6c47b0" /><Relationship Type="http://schemas.openxmlformats.org/officeDocument/2006/relationships/notesMaster" Target="/ppt/notesMasters/notesMaster1.xml" Id="R281b9adc52e64a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15b07abb2d4080" /><Relationship Type="http://schemas.openxmlformats.org/officeDocument/2006/relationships/notesMaster" Target="/ppt/notesMasters/notesMaster1.xml" Id="R9eedb59920de45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8e77dd6c51433a" /><Relationship Type="http://schemas.openxmlformats.org/officeDocument/2006/relationships/notesMaster" Target="/ppt/notesMasters/notesMaster1.xml" Id="Rbeb8fe4e163448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6861eca07f48c0" /><Relationship Type="http://schemas.openxmlformats.org/officeDocument/2006/relationships/notesMaster" Target="/ppt/notesMasters/notesMaster1.xml" Id="Rd3941936ebac4f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c0daf062834aa3" /><Relationship Type="http://schemas.openxmlformats.org/officeDocument/2006/relationships/notesMaster" Target="/ppt/notesMasters/notesMaster1.xml" Id="R7856102cff1e45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8ba54b10b54f9f" /><Relationship Type="http://schemas.openxmlformats.org/officeDocument/2006/relationships/notesMaster" Target="/ppt/notesMasters/notesMaster1.xml" Id="Re1fecedfe5044b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c3807c0ff9425c" /><Relationship Type="http://schemas.openxmlformats.org/officeDocument/2006/relationships/notesMaster" Target="/ppt/notesMasters/notesMaster1.xml" Id="R47ecbd68ff0443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b0654af3dd4f67" /><Relationship Type="http://schemas.openxmlformats.org/officeDocument/2006/relationships/notesMaster" Target="/ppt/notesMasters/notesMaster1.xml" Id="R7d6ac5f6694c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開場說明專題名稱、修正方向，以及目前三個核心領域。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說明我們不是只增加頁面，而是透過規則、策略與 domain objects 提升 OOAD 複雜度。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說明近期完成內容，並提醒正式版需改成真實組員分工。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說明回測是目前最能展現系統複雜度的流程，因為它包含輸入驗證、資料檢查、策略物件、交易模擬與績效報告。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說明架構分層：前端只負責呈現與互動，API 呼叫 domain objects，資料透過 Prisma 存取 MySQL。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說明資料不是只有存在資料庫，而是由對應的領域物件與服務在執行時使用。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說明目前 UI 已可支援 dashboard、個股、警示與回測流程，正式版可以替換為實際系統截圖。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強調投資組合不只是資料表，而是由 Portfolio 聚合交易、Position、驗證與價格服務形成的物件模型。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說明警示用抽象 AlertRule 與多個具體規則，回測用 strategy 與 engine 分工，讓系統不是單純 CRUD。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 Strategy Pattern 不只是理論，而是用在警示規則與回測策略，解決未來擴充不同規則與策略的問題。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 Factory Pattern 負責把資料庫儲存的設定轉成正確的 AlertRule 物件，讓 API 不需要知道每個具體類別。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收尾時強調本次修正已回應老師對 CRUD 複雜度不足的提醒，後續會補更多策略、排程與正式畫面。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1831dab87484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2d68424f3a54e42" /><Relationship Type="http://schemas.openxmlformats.org/officeDocument/2006/relationships/slideLayout" Target="/ppt/slideLayouts/slideLayout2.xml" Id="R4d0ad948f1a94f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0ad948f1a94f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c1e9d1198d4c1c" /><Relationship Type="http://schemas.openxmlformats.org/officeDocument/2006/relationships/notesSlide" Target="/ppt/notesSlides/notesSlide1.xml" Id="Rc15430a33a8841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a4dbedc65a474d" /><Relationship Type="http://schemas.openxmlformats.org/officeDocument/2006/relationships/notesSlide" Target="/ppt/notesSlides/notesSlide2.xml" Id="Rbdb26a9312c648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45c0d652c34f2a" /><Relationship Type="http://schemas.openxmlformats.org/officeDocument/2006/relationships/notesSlide" Target="/ppt/notesSlides/notesSlide3.xml" Id="Rc22ba1e2dcef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6ee2d07da47e7" /><Relationship Type="http://schemas.openxmlformats.org/officeDocument/2006/relationships/notesSlide" Target="/ppt/notesSlides/notesSlide4.xml" Id="Rd84f45adad314c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20d33cbd2d4a90" /><Relationship Type="http://schemas.openxmlformats.org/officeDocument/2006/relationships/notesSlide" Target="/ppt/notesSlides/notesSlide5.xml" Id="Rcf9af24cf56c44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87b7d2afc4450e" /><Relationship Type="http://schemas.openxmlformats.org/officeDocument/2006/relationships/notesSlide" Target="/ppt/notesSlides/notesSlide6.xml" Id="Re40ed3e5454b42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5d4cd3bc264de8" /><Relationship Type="http://schemas.openxmlformats.org/officeDocument/2006/relationships/notesSlide" Target="/ppt/notesSlides/notesSlide7.xml" Id="Rbc4307ab503c4b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a360f7cf894016" /><Relationship Type="http://schemas.openxmlformats.org/officeDocument/2006/relationships/notesSlide" Target="/ppt/notesSlides/notesSlide8.xml" Id="R32e466af12ab4b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0806e248c4c0c" /><Relationship Type="http://schemas.openxmlformats.org/officeDocument/2006/relationships/notesSlide" Target="/ppt/notesSlides/notesSlide9.xml" Id="Rf6e174cea5b34c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f02e7d2491473e" /><Relationship Type="http://schemas.openxmlformats.org/officeDocument/2006/relationships/notesSlide" Target="/ppt/notesSlides/notesSlide10.xml" Id="Reb7fe54151ed42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bc28b9f0274a4c" /><Relationship Type="http://schemas.openxmlformats.org/officeDocument/2006/relationships/notesSlide" Target="/ppt/notesSlides/notesSlide11.xml" Id="R9ff0c742a4a640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a0ceb026cf46d2" /><Relationship Type="http://schemas.openxmlformats.org/officeDocument/2006/relationships/notesSlide" Target="/ppt/notesSlides/notesSlide12.xml" Id="R43845ccd43f642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417291245f444c" /><Relationship Type="http://schemas.openxmlformats.org/officeDocument/2006/relationships/notesSlide" Target="/ppt/notesSlides/notesSlide13.xml" Id="R0eb1ee1ec2b441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7A91D-F5B6-4237-A86F-9B890449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-952500"/>
            <a:ext cx="4286250" cy="428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2B0E5-DC99-466F-A32F-C37CC83D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ABE98-B57D-4233-AAC5-50205D87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47625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E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048DD-E09A-4070-815A-6BD86BE1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8191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2FFD9-0C33-44DB-BEA3-E22C7A80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8382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6B52"/>
                </a:solidFill>
              </a:defRPr>
            </a:pPr>
            <a:r>
              <a:rPr sz="1050" b="1">
                <a:solidFill>
                  <a:srgbClr val="0E6B52"/>
                </a:solidFill>
              </a:rPr>
              <a:t>CSC0005 物件導向分析與設計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B5D90-E67D-404A-9CF5-36A9F54A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125730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6"/>
                </a:solidFill>
              </a:defRPr>
            </a:pPr>
            <a:r>
              <a:rPr sz="2850" b="1">
                <a:solidFill>
                  <a:srgbClr val="172026"/>
                </a:solidFill>
              </a:rPr>
              <a:t>股市投資組合、警示與策略回測分析平台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34E8F-17D7-4FBF-A7B6-95D0DDB1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590800"/>
            <a:ext cx="514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F5B66"/>
                </a:solidFill>
              </a:defRPr>
            </a:pPr>
            <a:r>
              <a:rPr sz="1650" b="0">
                <a:solidFill>
                  <a:srgbClr val="4F5B66"/>
                </a:solidFill>
              </a:rPr>
              <a:t>期中檢查簡報初稿</a:t>
            </a:r>
          </a:p>
          <a:p xmlns:a="http://schemas.openxmlformats.org/drawingml/2006/main">
            <a:pPr algn="l">
              <a:defRPr sz="1650" b="0">
                <a:solidFill>
                  <a:srgbClr val="4F5B66"/>
                </a:solidFill>
              </a:defRPr>
            </a:pPr>
            <a:r>
              <a:rPr sz="1650" b="0">
                <a:solidFill>
                  <a:srgbClr val="4F5B66"/>
                </a:solidFill>
              </a:rPr>
              <a:t>從資料管理型網站提升為規則與策略驅動平台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9A189-97FA-4D07-858F-ED6D6B91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924300"/>
            <a:ext cx="26479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F9135-1342-4206-8B71-28189B2D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92430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D64D0-7846-4894-991B-26BDEDA2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095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目前範圍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73E33-5907-416E-8C49-60643C05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457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投資組合領域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警示與通知領域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策略回測領域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21E66-0A6C-4B33-8AFE-FF3875CD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3924300"/>
            <a:ext cx="26479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34A64-1644-4288-9FED-AD7CEAA0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392430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8A6E5-DB8E-4127-BC9E-98440AF8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4095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檢查重點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270FBA-A2D9-4CEF-B8E8-A3737DD3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8100" y="4457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使用案例圖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活動圖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架構與資料儲存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9339E-7DBB-4879-A97A-D71A8B9B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924300"/>
            <a:ext cx="26479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1846E-EF07-4051-93DA-5BC51E2D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924300"/>
            <a:ext cx="2647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E00E7-9960-4247-80C7-3318D1AE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0957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報告資訊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9ED8F-151E-44EE-837C-ACEDF638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4577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組員：請替換實際姓名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日期：2026/05/08</a:t>
            </a:r>
          </a:p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版本：初稿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C9A43-2C6D-45CF-9BAD-1EA903AB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1239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0347A-1056-4FBE-9443-C121D069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1239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F9861-A5C5-41D5-9A58-BEB40E49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12954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專題定位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23D13-9440-41A7-8C14-35595754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2950" y="1657350"/>
            <a:ext cx="2762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本系統整合股市資料、投資組合、警示規則與策略回測，目標是建立一個符合 OOAD 精神的投資分析平台。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DAD9D-B106-48D2-A867-877455B9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可編輯 PowerPoint 初稿。正式繳交前請替換組員姓名與實際截圖。</a:t>
            </a:r>
          </a:p>
        </p:txBody>
      </p:sp>
    </p:spTree>
    <p:extLst>
      <p:ext uri="{BB962C8B-B14F-4D97-AF65-F5344CB8AC3E}">
        <p14:creationId xmlns:p14="http://schemas.microsoft.com/office/powerpoint/2010/main" val="1266056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EA6DB-41C6-4745-BDB8-E82ED453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25F68-BD67-42BA-8D31-788A6442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3B621-7587-4AB5-90E7-DC8BCBE8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08287-395B-409E-A1B0-C7EEFA2D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E4DD7-2B42-4E57-9093-D066F204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8A6E3-EE38-4C00-AC8B-5FE1D735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依老師回饋修正專題方向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E2362-7936-4712-A4B4-91842723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本頁說明我們如何回應第一次提案後的意見。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3D4BF-01D3-4992-B4A4-963577B1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85950"/>
            <a:ext cx="342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3A349-13CB-4009-A9A2-BB698D76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859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0B696-3524-4CE7-9D31-1C2FFD59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0574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老師回饋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EB619-3E77-49F7-9BF8-EEFE78F8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240030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1. 主題生活化，容易理解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2. 架構大致符合課程條件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3. 部分功能相似，容易被視為 CRUD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4. 後續需強化物件設計與課程連結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08925-6DBC-4127-A0D1-A9E1929C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1885950"/>
            <a:ext cx="342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06E2D-CD10-4FEE-A9FC-03AB5BAE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2450" y="18859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AA7EE-A711-4840-A011-D82B00D0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20574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原始風險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6A9DB-CD75-40F2-AC0C-54E29922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40030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原本功能多集中在股票查詢、自選股、投資組合新增刪除，以及基本摘要計算。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雖然功能可用，但物件互動、規則判斷與演算法複雜度不夠明顯。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B72E4-2EDD-4412-AAE4-AC5E57AC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885950"/>
            <a:ext cx="34671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F7075-0ACF-4CD2-83CE-4C0BBDA3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885950"/>
            <a:ext cx="3467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5977E-CB29-4973-8E73-C2489DD2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20574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本次修正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DDBF1-5E08-4088-B646-9DBAFC3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24003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1. 重構投資組合領域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2. 新增警示與通知領域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3. 新增策略回測領域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4. 將邏輯從 API route 移入 domain objects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2C119C-59B2-47E5-BEA9-BCB3DE4E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5148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BE5D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6A84B-6AD5-4182-8398-9E5F1E2C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7434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修正前</a:t>
            </a:r>
          </a:p>
          <a:p xmlns:a="http://schemas.openxmlformats.org/drawingml/2006/main">
            <a:pPr algn="ctr">
              <a:defRPr sz="1650" b="1">
                <a:solidFill>
                  <a:srgbClr val="172026"/>
                </a:solidFill>
              </a:defRPr>
            </a:pPr>
            <a:r>
              <a:rPr sz="1650" b="1">
                <a:solidFill>
                  <a:srgbClr val="172026"/>
                </a:solidFill>
              </a:rPr>
              <a:t>資料查詢 + CRUD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867DE-96FE-4336-9C21-F6F0BE7B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4829175"/>
            <a:ext cx="1047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1C888-9D97-4886-B440-4BA1E8BB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4514850"/>
            <a:ext cx="3048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874B0-BDFF-4D21-8168-1D603AEB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47244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6"/>
                </a:solidFill>
              </a:defRPr>
            </a:pPr>
            <a:r>
              <a:rPr sz="1575" b="1">
                <a:solidFill>
                  <a:srgbClr val="172026"/>
                </a:solidFill>
              </a:rPr>
              <a:t>修正後</a:t>
            </a:r>
          </a:p>
          <a:p xmlns:a="http://schemas.openxmlformats.org/drawingml/2006/main">
            <a:pPr algn="ctr">
              <a:defRPr sz="1575" b="1">
                <a:solidFill>
                  <a:srgbClr val="172026"/>
                </a:solidFill>
              </a:defRPr>
            </a:pPr>
            <a:r>
              <a:rPr sz="1575" b="1">
                <a:solidFill>
                  <a:srgbClr val="172026"/>
                </a:solidFill>
              </a:rPr>
              <a:t>規則與策略驅動的分析平台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90CD2-7869-45CF-B8E0-155A9B5D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4829175"/>
            <a:ext cx="10477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36831-C9D4-46F8-9A82-14124A51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4514850"/>
            <a:ext cx="1543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3B022-3BE7-47EB-84B6-593AD1A6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4724400"/>
            <a:ext cx="1352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符合檢查重點</a:t>
            </a:r>
          </a:p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OOAD 設計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91B75A-6912-4EFE-BC0B-3280037B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期中檢查簡報初稿。正式繳交前請替換組員姓名與實際截圖。</a:t>
            </a:r>
          </a:p>
        </p:txBody>
      </p:sp>
    </p:spTree>
    <p:extLst>
      <p:ext uri="{BB962C8B-B14F-4D97-AF65-F5344CB8AC3E}">
        <p14:creationId xmlns:p14="http://schemas.microsoft.com/office/powerpoint/2010/main" val="1808881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BAE3DA-1708-464E-8FBD-82C5A57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13BEB-2318-4FED-A23A-50308794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E2FEE-D219-4E27-829E-61CF01E9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4F6B5-25FB-40FD-9AD5-A9CEAAB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35FCF-751D-420B-BD19-70ADE0BD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32747-7EC2-4638-84B2-59C2AB7F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進度總結與組員分工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36F26-9230-4F00-B7A3-784BD150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Checkpoint 要求說明近期完成內容，以及組員之間的工作分配。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A4AE1-9C51-4D7A-810E-9C796811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9070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35A28-854B-44D0-84E7-5D1FE0F0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907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7D541-C581-435C-962D-D6071E7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962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市場資料重建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F9398-723C-4B37-8333-AF444CCC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2479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重建 MySQL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匯入 FinLab 資料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恢復股票、價格、財報與股利資料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C59CF-3B6F-4D39-88D7-72C6D51F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79070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312B2-1016-4F8A-81B9-EA690335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17907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DD3F5-F01B-4419-AF83-64B0BD98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962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投資組合重構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21272-A6BF-4978-8FB4-D656BEBB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22479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Portfolio, Position,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TransactionValidator,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PortfolioPriceService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DE0B85-6041-41BF-A466-BF9D490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179070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150C3-1BFB-4DBF-A953-90DE4264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17907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026161-782F-4202-8661-0DC921BA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1962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警示領域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6BBC18-1551-47D1-9764-F8FED833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22479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AlertRule hierarchy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AlertEvaluator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NotificationService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Alerts 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9D606-BA75-4EF5-A047-05EF9587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1790700"/>
            <a:ext cx="21145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53171-0210-4D69-896F-CE82214D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179070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3A033D-6CF0-4041-88C7-1D1233B9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962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回測領域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ED8C3-3626-4E02-9A48-AFF04CF3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247900"/>
            <a:ext cx="1733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MovingAverageCrossStrategy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BacktestEngine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PerformanceReport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Backtests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81A53-A2EF-4917-911F-98B7B9A0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790700"/>
            <a:ext cx="1981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13AF6-404E-46C3-9C2E-D72BCA9F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790700"/>
            <a:ext cx="1981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5E9B1-D0C7-4DB9-BA5F-0C9965EE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19621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本機整合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20872-A4F7-4FE2-8354-4AA17388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2247900"/>
            <a:ext cx="1600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Next.js + Prisma + MySQL 已通過 build</a:t>
            </a:r>
          </a:p>
          <a:p xmlns:a="http://schemas.openxmlformats.org/drawingml/2006/main">
            <a:pPr algn="l">
              <a:defRPr sz="1125" b="0">
                <a:solidFill>
                  <a:srgbClr val="172026"/>
                </a:solidFill>
              </a:defRPr>
            </a:pPr>
            <a:r>
              <a:rPr sz="1125" b="0">
                <a:solidFill>
                  <a:srgbClr val="172026"/>
                </a:solidFill>
              </a:rPr>
              <a:t>Dashboard / Alerts / Backtests 已串接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58D69C-3EB4-4D8F-9F7F-58536C6B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42900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9EB1E-E46A-4559-95B2-BF4334BB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4290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DF4F8-1E7C-4B88-B321-5F60065B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600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組員 A - 請替換姓名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465311-340D-443D-8836-B6D50DCD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9433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建議負責內容：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資料庫重建與 Prisma schema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股票與市場資料 API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FinLab 匯入與資料維護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A17813-D2D5-4BD1-9DB8-DE12BB8D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342900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AF4B45-8D93-45CF-8669-D8EBA387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34290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E5218B-34BA-4B8C-84C1-E3C2B475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600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組員 B - 請替換姓名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FDDA6E-9740-46FB-84FB-532B9F5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9433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建議負責內容：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投資組合 domain 重構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交易與投資組合 UI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活動圖與資料儲存頁面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CC10F2-B198-4FD2-88CA-0E0BC7B0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429000"/>
            <a:ext cx="3429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4CDE77-F909-4786-8A9B-91D1B829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4290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BBE5AB-F4FC-4713-A4A4-508AAC41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36004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組員 C - 請替換姓名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2B96FE-5913-40FF-898E-B4E97267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94335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建議負責內容：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警示與通知模組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策略與回測模組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使用案例圖、類別圖與設計模式頁面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F4F2C1-0F3B-4262-B4C7-49ADB28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正式繳交前請將組員 A/B/C 替換為實際姓名與最終分工。</a:t>
            </a:r>
          </a:p>
        </p:txBody>
      </p:sp>
    </p:spTree>
    <p:extLst>
      <p:ext uri="{BB962C8B-B14F-4D97-AF65-F5344CB8AC3E}">
        <p14:creationId xmlns:p14="http://schemas.microsoft.com/office/powerpoint/2010/main" val="562253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E26583-BDC5-468F-8A27-650D7F1F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8BA31-4184-4E92-AE79-E089A66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140ED-AA96-40FE-A9C4-FD138923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30A3B-DA04-4F85-8FF1-B8B35686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9AA4C-A4EE-44EA-A1FC-B40770ED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BB825-1751-458E-B3C6-82C2A713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使用案例圖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21FF3-BA52-4CB0-8E28-047899A2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本頁以圖形表示 actor、系統邊界與主要 use cases。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3D5CA-61D6-465A-8140-3E8E994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1676400"/>
            <a:ext cx="74295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13335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A0069-5913-4C3F-940E-DB66A344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17716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6B52"/>
                </a:solidFill>
              </a:defRPr>
            </a:pPr>
            <a:r>
              <a:rPr sz="1200" b="1">
                <a:solidFill>
                  <a:srgbClr val="0E6B52"/>
                </a:solidFill>
              </a:rPr>
              <a:t>System：股市投資組合、警示與策略回測平台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EFC20-5D58-474D-8D3F-513552EC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2D383-D12B-4E4B-AC82-1939309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4384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80B14-CAEE-4A6E-9B03-E298BF6B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26289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9D950-50C4-447D-9A12-586A7610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990600" y="2933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DE377-E2C8-4860-8BCD-D5BCBF6A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71550" y="2933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8539A-79D9-495E-B513-990F8C66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3257550"/>
            <a:ext cx="1485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5E9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CA6EE-987E-4129-B524-2345C3B5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33528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投資者 / 使用者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7C9E1-14E6-47F8-8BAD-BE9D7EDA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343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48541-EE0F-4C8D-B863-C85471DA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468630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49EBF-EAF8-4A1B-90A7-8E1547E8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8768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6C85F-21DE-4241-9F75-494B359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990600" y="51816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801D1-996F-4F44-A6DA-D2E098C5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971550" y="51816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601DA-73EA-4AD3-A9AA-9BE88635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505450"/>
            <a:ext cx="1485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D6A0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FF6B4-AB24-4091-9733-768B5B03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56007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管理者 / 資料維護者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924C1-EC89-4B06-A768-B50FCE0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322D30-2CA1-4095-81A9-38666CD4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3486150"/>
            <a:ext cx="1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6FED1-E49E-4A02-A1F3-B05CBBA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0850" y="36766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00668D-0DD6-4CBB-88BC-5A8A6E82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10706100" y="39814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99A40D-93D4-41C2-9392-A510BABF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10687050" y="39814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8BCF3A-F77C-46E7-86C6-ABF7C451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4305300"/>
            <a:ext cx="1485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57B6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8192CE-2B7D-4A6D-9B18-462189E4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44005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FinLab 資料來源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045B9C-40F8-4608-9794-12DD13B3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2343150"/>
            <a:ext cx="20002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DABD8D-D561-4E74-BEA5-530E8C4C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2476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查詢股票資訊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FD8BA5-341F-4875-B0AF-71B9E2FB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343150"/>
            <a:ext cx="1733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D87A65-744E-4D73-A80B-8AB0569C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247650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管理自選股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50C153-1AD3-4A52-8B5E-FC1AAA41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343150"/>
            <a:ext cx="16764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A3A33-AE8A-4B82-B3C5-3F015D99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247650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管理投資組合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AB2BFC-A1DD-4271-8511-FC126639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3352800"/>
            <a:ext cx="18097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790262-0E38-4377-8AFC-92AF1F40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486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建立警示規則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29FE3A-C225-4509-90DC-066BBA02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3352800"/>
            <a:ext cx="16764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238328-E3D1-417A-AFCF-A9018AFB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4861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接收通知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FC0501-0508-4522-92CF-C9336021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3352800"/>
            <a:ext cx="16764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FD2775-6D0A-4B48-9887-0CDAB8C8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4861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執行策略回測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6DCD51-EB04-4668-A738-72776D37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381500"/>
            <a:ext cx="19621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F76D63-AA2C-4CBD-B7F3-31CA4CA5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514850"/>
            <a:ext cx="177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查看回測結果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B6AB73-0613-49C7-B410-147582B4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4381500"/>
            <a:ext cx="198120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A617F2-316E-4ACB-87EA-FB50CD37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5148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更新市場資料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69A8E0-8703-4C49-95A0-1207583D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571750"/>
            <a:ext cx="876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ED980E-CF55-435E-B343-AFF5ACB6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2743200"/>
            <a:ext cx="876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EFECC9-DF2D-47FB-9B08-4985D64E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3733800"/>
            <a:ext cx="1219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BD6A21-0559-49E1-834B-1B7D7B3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7850" y="4819650"/>
            <a:ext cx="1219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63B3FE-17F6-498E-A68F-C6B7F911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3050" y="4552950"/>
            <a:ext cx="876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89B353-8ABD-446B-8DCA-E5F7FBC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3550" y="3543300"/>
            <a:ext cx="876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BC749D-5BAB-40A0-8191-21C67FB2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000750"/>
            <a:ext cx="609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使用者可查詢股票、管理投資組合、建立警示規則，並執行與查看策略回測。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77B692-A3A6-4693-9F28-F866352F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4650" y="6000750"/>
            <a:ext cx="485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管理者與 FinLab 資料來源負責市場資料更新。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5EABDC-BEEC-4C14-9034-3AC10B3F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期中檢查簡報初稿。正式繳交前請替換組員姓名與實際截圖。</a:t>
            </a:r>
          </a:p>
        </p:txBody>
      </p:sp>
    </p:spTree>
    <p:extLst>
      <p:ext uri="{BB962C8B-B14F-4D97-AF65-F5344CB8AC3E}">
        <p14:creationId xmlns:p14="http://schemas.microsoft.com/office/powerpoint/2010/main" val="19488085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40663-47ED-493C-B792-32FD6C35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9AA6A-1A0F-4862-9969-0B1E6E8E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C1A66-A3ED-4BDF-880F-B7E69723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4E347-E698-4818-AF6B-C5D273A1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727FF-6CB2-4908-A658-53612D35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2D01-0611-4986-90DE-0F0347C8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最複雜使用案例的活動圖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05F5E-F840-45BE-B866-41CA68CE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選定使用案例：執行策略回測。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2BFD8-D562-4F00-8CD6-92DA62DC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1676400"/>
            <a:ext cx="14287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5073F-8517-4A4D-8E90-B1584E80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1150" y="1771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開始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F9D0B-DA44-4E76-ACB8-7E465543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22098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4CC45-C048-4981-9946-AEBBEE0B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2860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輸入股票、區間、</a:t>
            </a:r>
          </a:p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均線參數與初始資金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E812B-D954-4E84-8A77-C59C13C6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4290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4E192-6C2E-4B0B-AF52-3596E538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5052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載入歷史</a:t>
            </a:r>
          </a:p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股價資料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29C55-3A6A-4DCF-B06A-C40B3C93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6863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253D7-F17C-4B59-A800-9B2ADC53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7625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建立策略物件</a:t>
            </a:r>
          </a:p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並計算指標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04318-933D-4A37-A6BF-8992D230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531495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A2BDD-9992-4F70-B7F2-08594060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53911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產生訊號</a:t>
            </a:r>
          </a:p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並模擬交易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80EA41-F457-4B9D-BDEE-B648EECB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5943600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2015DA-0130-42FF-A0CB-A1FBF7A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601980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計算績效</a:t>
            </a:r>
          </a:p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並顯示結果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ADBBD-B92B-499F-B618-410A8DB6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211455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459A7-0CFC-464F-932F-3A018934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2838450"/>
            <a:ext cx="1200150" cy="419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6C5A7-18FB-4C91-ABEC-E29C3D58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905125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參數</a:t>
            </a:r>
          </a:p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有效？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07EB8-91BD-4AFA-8178-4969DD7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327660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F9336-5AAF-4378-B164-EB89B66A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390525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3CA1B-A274-440C-938F-61A7223B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4057650"/>
            <a:ext cx="1200150" cy="419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B91B20-47DB-4C94-B2B6-5F726F85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12432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歷史資料</a:t>
            </a:r>
          </a:p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足夠？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4006DA-64E4-4E58-A7A7-0D858076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453390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0F7B3-DBBB-418F-AB6C-13431EDB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516255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ABB9C5-910C-4E3E-B7B1-351FA8BE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579120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1CB801-B0E6-4A7A-9B82-36D453C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5500" y="6400800"/>
            <a:ext cx="4000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CED528-2790-4B07-BF9D-AF44E11F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6534150"/>
            <a:ext cx="1390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364081-12D9-414F-982A-3781C60A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6581775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結束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CCF605-4C88-41B7-89CB-18B2D403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724150"/>
            <a:ext cx="2590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DD4F40-27B6-4E63-BBF1-C5789738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724150"/>
            <a:ext cx="2590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218AA2-A5E2-40A2-984A-F5C904D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89560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否定分支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B9984A-8635-4EBA-A589-892A680C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257550"/>
            <a:ext cx="2209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顯示驗證錯誤，停止本次回測。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2215CE-B016-4835-AE26-98BBF1B2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048000"/>
            <a:ext cx="1047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AD29D4-D1A3-40BF-9FDC-65729B53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943350"/>
            <a:ext cx="27813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F04A70-6F0B-4F26-B6A3-3953303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943350"/>
            <a:ext cx="2781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D95E53-A211-43D2-A3F9-1179EE5B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411480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否定分支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EF0038-8107-4AD8-9E8D-E64D4AFF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4850" y="4476750"/>
            <a:ext cx="2400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顯示資料不足訊息，使用者調整參數。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1B8502-1775-41DF-B2BD-3B60290F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350" y="4267200"/>
            <a:ext cx="1047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A033BC-EE88-4C1A-BD91-F89D0C91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30480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B66"/>
                </a:solidFill>
              </a:defRPr>
            </a:pPr>
            <a:r>
              <a:rPr sz="900" b="0">
                <a:solidFill>
                  <a:srgbClr val="4F5B66"/>
                </a:solidFill>
              </a:rPr>
              <a:t>是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D6E070-2F90-4AA0-9BE8-5EC3A03A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30861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B66"/>
                </a:solidFill>
              </a:defRPr>
            </a:pPr>
            <a:r>
              <a:rPr sz="900" b="0">
                <a:solidFill>
                  <a:srgbClr val="4F5B66"/>
                </a:solidFill>
              </a:rPr>
              <a:t>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12DDEE-76A2-4186-A5D8-BE32219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0350" y="42672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B66"/>
                </a:solidFill>
              </a:defRPr>
            </a:pPr>
            <a:r>
              <a:rPr sz="900" b="0">
                <a:solidFill>
                  <a:srgbClr val="4F5B66"/>
                </a:solidFill>
              </a:rPr>
              <a:t>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82DFB4-3289-4B75-A408-858D73AD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2862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B66"/>
                </a:solidFill>
              </a:defRPr>
            </a:pPr>
            <a:r>
              <a:rPr sz="900" b="0">
                <a:solidFill>
                  <a:srgbClr val="4F5B66"/>
                </a:solidFill>
              </a:rPr>
              <a:t>否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737933-3488-4CEB-A1AA-BAA7BCCA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期中檢查簡報初稿。正式繳交前請替換組員姓名與實際截圖。</a:t>
            </a:r>
          </a:p>
        </p:txBody>
      </p:sp>
    </p:spTree>
    <p:extLst>
      <p:ext uri="{BB962C8B-B14F-4D97-AF65-F5344CB8AC3E}">
        <p14:creationId xmlns:p14="http://schemas.microsoft.com/office/powerpoint/2010/main" val="167563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8A352-16E4-44F1-B84E-49A9121F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8BE23-6138-4D76-B8E5-0B22CEA0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458E6-A837-4D81-B819-9301E17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4ADBA-00FE-471B-91E5-FA0DC581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FC45C-5635-43C3-BF17-8958D356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2EA92-3931-4B5B-A00B-46820F3F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系統架構圖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D8093-FE7F-43D9-ABD9-261DADDF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本頁說明主要元件、框架選擇，以及請求與回應的結構。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40439-8832-4F1F-A95D-B557A645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41935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39C34-2F6C-41FD-8C7A-3B1C2C84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289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瀏覽器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06F64-87C2-4AF1-B3F0-A908A118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2419350"/>
            <a:ext cx="1866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DC196-24FA-4CDE-8619-EC84052A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2628900"/>
            <a:ext cx="1638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Next.js</a:t>
            </a:r>
          </a:p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App Router 介面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42983-517E-4B53-8513-723908A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2419350"/>
            <a:ext cx="1828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FD9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8E5F5-B07C-43A7-BB48-1265CCC5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628900"/>
            <a:ext cx="1600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Next.js</a:t>
            </a:r>
          </a:p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API Routes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BD10A-4D2E-4A52-A261-76E9CE30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2190750"/>
            <a:ext cx="19431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BE5D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D70EF-356A-4500-9FD8-1F42BF70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77200" y="24003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領域層</a:t>
            </a:r>
          </a:p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Portfolio / Alerts /</a:t>
            </a:r>
          </a:p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Backtests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F73DC-943F-4E50-91B5-B6FE7A75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2419350"/>
            <a:ext cx="114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AB125-6880-427D-B562-D48E04A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262890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Prisma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6E736-7FF3-49B4-B9C9-4F07FDFD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771900"/>
            <a:ext cx="114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B4EA2-0796-4EAA-AD1E-A940841A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1300" y="3981450"/>
            <a:ext cx="914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MySQL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DA45A-9B9F-4617-80EE-32012DCB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27241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B4762-C4F9-4AD1-89E9-72E0A6A3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7241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5C306-F917-40CE-B626-8B4F9B9F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2724150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2F392-0AE2-4D82-967F-41EE15D3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7241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2F3B4-EBE0-4A66-A035-C87865C7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744200" y="335280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94BFB-9E79-4F2C-BE4C-55EB2840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421005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BBB50-5E77-4A24-9AAB-9B2E130B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4210050"/>
            <a:ext cx="2724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CD8EF-7A01-4101-84E0-37A0AFEE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438150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使用者認證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2D15E1-BC23-43CE-A781-1FE8990A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474345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NextAuth 負責登入與 session，並保護 dashboard 頁面與 API。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739345-BEE7-4A0F-B625-9F373679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4629150"/>
            <a:ext cx="762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1D072F-3CA0-47C2-9DD0-986DB15D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421005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E4AB90-A519-43D6-A16C-461C24C5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4210050"/>
            <a:ext cx="2724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5D10E9-E66D-4150-B675-987BBEDC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4381500"/>
            <a:ext cx="234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外部資料匯入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7F9B4-8691-4F93-AFE3-B6631A1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4743450"/>
            <a:ext cx="2343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FinLab 匯入腳本重建市場資料，並寫入 MySQL。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14C602-AA73-4A69-9216-88B9430E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629150"/>
            <a:ext cx="1143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0DB701-7A61-4CB1-85A4-0246DA24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82930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F5B66"/>
                </a:solidFill>
              </a:defRPr>
            </a:pPr>
            <a:r>
              <a:rPr sz="1050" b="0">
                <a:solidFill>
                  <a:srgbClr val="4F5B66"/>
                </a:solidFill>
              </a:rPr>
              <a:t>請求路徑：瀏覽器 -&gt; UI -&gt; API -&gt; Domain -&gt; Prisma -&gt; MySQL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B4E333-BBE4-4AFE-B4BE-B553EADB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0579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F5B66"/>
                </a:solidFill>
              </a:defRPr>
            </a:pPr>
            <a:r>
              <a:rPr sz="1050" b="0">
                <a:solidFill>
                  <a:srgbClr val="4F5B66"/>
                </a:solidFill>
              </a:rPr>
              <a:t>使用框架：Next.js、Prisma、MySQL、NextAuth、FinLab 匯入腳本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BE46B4-8292-4649-A68D-4F91ABAC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期中檢查簡報初稿。正式繳交前請替換組員姓名與實際截圖。</a:t>
            </a:r>
          </a:p>
        </p:txBody>
      </p:sp>
    </p:spTree>
    <p:extLst>
      <p:ext uri="{BB962C8B-B14F-4D97-AF65-F5344CB8AC3E}">
        <p14:creationId xmlns:p14="http://schemas.microsoft.com/office/powerpoint/2010/main" val="1877528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CFCB9D-5FB9-45C6-8621-00DBE762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05DF0-EA28-4952-BD40-3F8141FC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9BD9B-D8ED-4A23-A6B4-3330E7B7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227A7-C940-475E-BE04-EAEEC553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2085A-FCF6-4170-9660-F87CCE60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F1851-9E5E-4FFB-8F9C-0534EF69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資料儲存設計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83E6C-1F21-4885-B2C8-8648A9F7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說明資料存在哪裡，以及執行時由哪些類別與服務存取。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C5AE3-6C05-4091-8E99-0A27ADFE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5143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C6D8D-3B3D-4527-A8B0-82A3E015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CDC1E-5B07-470C-B8E9-78D5B1E5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0383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市場資料（MySQL）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D8A39-5E6B-42FC-A301-367BF1D7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362200"/>
            <a:ext cx="4686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核心資料表：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stocks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historicalprices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financialreports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dividends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執行期存取類別：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Stock APIs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AlertMarketDataService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BacktestMarketDataService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PortfolioPriceService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15BA8-94F0-4A07-9B66-66D306CB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1866900"/>
            <a:ext cx="5143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7A7BC-DAC5-406B-8E8B-F47CF34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186690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B5CCD-BE9B-466A-965B-0D82AF3F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20383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使用者與投資組合資料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46C6E-B712-46F3-AD70-953B0694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2362200"/>
            <a:ext cx="4686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核心資料表：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users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watchlistitems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portfolios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transactions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執行期存取類別：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Portfolio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Position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PortfolioTransaction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TransactionValidator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1AC0D-54D9-419B-8C5E-3ECD9B1B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210050"/>
            <a:ext cx="5143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425A2-10F4-44C3-A044-0C1995A4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2100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C796F6-3CD0-496F-BB4A-2E8EA29D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3815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規則與通知資料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3AB33-4F64-4E44-A697-41EA0298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705350"/>
            <a:ext cx="4686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核心資料表：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alertrules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notifications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執行期存取類別：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AlertRule hierarchy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AlertEvaluator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NotificationService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F41B8-30D8-41D9-A4E9-94745166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10050"/>
            <a:ext cx="51435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C5564-0E5A-42ED-8DCF-4761FCA1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100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083A9-C8F1-475C-A17B-3B48EEAA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438150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策略與回測資料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40B04-20A4-4886-981A-0DC72B38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4705350"/>
            <a:ext cx="4686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核心資料表：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backtestruns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backtesttrades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執行期存取類別：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MovingAverageCrossStrategy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BacktestEngine</a:t>
            </a:r>
          </a:p>
          <a:p xmlns:a="http://schemas.openxmlformats.org/drawingml/2006/main">
            <a:pPr algn="l">
              <a:defRPr sz="1200" b="0">
                <a:solidFill>
                  <a:srgbClr val="172026"/>
                </a:solidFill>
              </a:defRPr>
            </a:pPr>
            <a:r>
              <a:rPr sz="1200" b="0">
                <a:solidFill>
                  <a:srgbClr val="172026"/>
                </a:solidFill>
              </a:rPr>
              <a:t>- PerformanceReport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CAC10F-84BD-45F8-B885-7609C93F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期中檢查範圍的資料皆存於 MySQL，並透過 Prisma 與 domain services 存取。</a:t>
            </a:r>
          </a:p>
        </p:txBody>
      </p:sp>
    </p:spTree>
    <p:extLst>
      <p:ext uri="{BB962C8B-B14F-4D97-AF65-F5344CB8AC3E}">
        <p14:creationId xmlns:p14="http://schemas.microsoft.com/office/powerpoint/2010/main" val="17284456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D1E806-BF37-45F1-9E7D-76BA11F4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D4622-99DC-403F-A9A3-899A3478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B8419-47A4-4DFC-BBAF-CD70C9F8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A188B-F0C2-4146-A3DA-E05086F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B8FA1-43BD-4251-BDDE-AB3C0117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E5E85-4437-4966-B7F9-64E72740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使用者介面 Mockups / Prototype Screens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7CF30-FCD6-45BD-9B5E-C51F3CF3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以原型畫面說明導覽方式與資料呈現。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8F2CA-4B5D-4608-9314-A452090A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2495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432F8-746D-4D13-B12D-E561D3DE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8097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2FA29-2841-437B-83C7-57C8A450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18669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儀表板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3B600-09CB-48BD-A3AF-575605DD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247900"/>
            <a:ext cx="2152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23641-8DF3-4821-9C78-E1AE0E3A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9337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B68CD-020C-4DB6-974F-2928BE1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3848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CB2D6-E7E1-41C8-9D17-AA6C1C35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038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ADC22-7050-4105-A87F-F6D23AC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229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3DFCE-3E24-45B3-A819-5FEB3F3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419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093B3-AA8C-48B3-8FE5-7900E17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3812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810F-FCC6-4BCC-B52A-06840D4F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1809750"/>
            <a:ext cx="2495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55FD6-9E05-40B8-8220-A16B3BFF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18097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F8B013-2FC1-4E94-A314-E09965D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18669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個股詳情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95CD22-7D0E-4B88-9FC2-4780C6CB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2247900"/>
            <a:ext cx="2152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FC66B6-24C3-40B9-8949-C15E5903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300" y="29337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0FB22-43EC-4B69-BAE8-329762B2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3848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52A8A-1746-4FF5-B831-683AB321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038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C954D-0AE0-4045-9EC2-93AB26ED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229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69C5B-63B1-45FC-81A9-038195FB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419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5F0A90-48E5-46F1-B8BF-C6BD8241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4610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1CCF54-B412-43B6-B1F2-48710530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3812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8282FD-793B-4378-9E36-BEF2398B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1809750"/>
            <a:ext cx="2495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653523-9A95-4CF1-BD44-0574FD28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18097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3C74AB-B49A-451F-90E1-764C0C5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18669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警示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C6BB53-16E3-4C33-9810-256C8A8E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247900"/>
            <a:ext cx="2152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2427F6-AB77-453A-9997-5D945479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9337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FAE24D-7562-4B90-A855-1F36427F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3848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4E6B8-DA6C-46B4-B9D4-C8031421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038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F555EF-6A17-4769-9FE2-55CADF37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229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F4378E-E7C0-4310-90DB-DBF538A0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419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B07B89-A882-49BF-8B20-72634263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3812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8C4C64-6086-4F04-B2D1-0650B944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1809750"/>
            <a:ext cx="2495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3168CC-0D2D-4921-8BAD-76F9B7B1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850" y="1809750"/>
            <a:ext cx="2495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42E4DA-3FD0-4D03-B29C-8C3F98A6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9200" y="18669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回測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D5AB91-2AD8-4B0A-9BB3-B360FEDC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247900"/>
            <a:ext cx="2152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375399-2183-405E-99B9-EDDBCE99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2933700"/>
            <a:ext cx="2152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0C5E3E-66CD-4374-80EE-C16D6FDA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3848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DBDC5F-03B9-4FCF-81C5-B3AE2A59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4038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A93747-433D-4592-9078-5113B78D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4229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D383C8-C028-46DF-BDA8-71C67341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4419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3EEDAC-0979-49E4-9D41-F285C8A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3812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3313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D5A2B7-CECD-43A0-8FC5-635A1EF1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324350"/>
            <a:ext cx="30861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55825C-25D7-44BF-822D-43EE342A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32435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ED2C75-C586-4D7C-A4FE-2F288436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495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導覽邏輯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224F6F-4A59-4ED2-851D-76BD9F09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48577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側邊欄提供 dashboard、stocks、watchlist、portfolios、alerts、backtests 等路由。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12582A-86E4-4502-A38E-B5373FC9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324350"/>
            <a:ext cx="30861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4F0789-93DF-4503-93C3-EE097C17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2950" y="432435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DD63A3-B092-4902-93AD-AB8F2EA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4495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資料呈現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852830-46B7-4690-9A4A-FE7899F1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48577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價格、財報、警示規則、equity curve 與交易紀錄以卡片、圖表與表格呈現。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8E0548-3DA7-4BF4-A104-9404B9BB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324350"/>
            <a:ext cx="30861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B47C5F-986B-44D4-9DEB-6170DB04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32435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03CB0-7A36-429F-B906-CCF73701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44958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主要使用路徑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4339E0-8C0C-4F20-9DA9-CD8D90E1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5800" y="48577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B66"/>
                </a:solidFill>
              </a:defRPr>
            </a:pPr>
            <a:r>
              <a:rPr sz="1125" b="0">
                <a:solidFill>
                  <a:srgbClr val="4F5B66"/>
                </a:solidFill>
              </a:rPr>
              <a:t>使用者可從個股詳情頁直接建立警示，或執行策略回測。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EB5CA4-7E6C-469B-962C-EFE4ADB0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若時間允許，正式繳交前可替換為 localhost 實際截圖。</a:t>
            </a:r>
          </a:p>
        </p:txBody>
      </p:sp>
    </p:spTree>
    <p:extLst>
      <p:ext uri="{BB962C8B-B14F-4D97-AF65-F5344CB8AC3E}">
        <p14:creationId xmlns:p14="http://schemas.microsoft.com/office/powerpoint/2010/main" val="535912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518E77-5CB5-4E63-BE05-3345222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DBA1D-BCC5-43AA-979B-5249C4A3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EEA56-0E2F-4056-959B-7DAAD696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FCEF6-B01C-4F8B-89C8-64509194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DE3CA-9202-4B20-A6E5-DFB7C6AE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8A750-C5F4-455C-8713-AA917468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類別圖 A - 投資組合領域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A95F5-B3DF-4AE8-BAE7-717A4A8D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本圖說明投資組合計算如何從 route handler 移入 domain objects。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528F8-CB2A-4945-B3F6-FA3E0BD7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943100"/>
            <a:ext cx="203835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00FBE-5514-4499-AF40-D7992045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9431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40FA0-4210-4B80-A839-B0F6FB28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0955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User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29FA1-53E9-4C56-A567-C74BE5E4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4384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074EF-4E52-48C4-B9C1-B1E88405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55270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userId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username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email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F3A7A-930C-43BE-8129-86E33A42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25755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7D6E3-0659-4916-AAA4-45FE5933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371850"/>
            <a:ext cx="1695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createPortfolio()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viewSummary()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FE68B-AE75-4D8A-B2B8-CC618F57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1657350"/>
            <a:ext cx="2247900" cy="2381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2D5F4-EE13-4C87-91BD-8D32635E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16573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0FADD-0382-4AF2-8599-F46ECD7B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18097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Portfolio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91438-43B9-4936-9182-A15312A7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2152650"/>
            <a:ext cx="201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E6421-02BC-4D20-B076-2E3A339E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22669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portfolioId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name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transactions[]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positions[]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DB0F5-FBAE-46EF-B841-8A933D5E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3143250"/>
            <a:ext cx="201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9B3F8-D65C-4ABE-B13A-AE20FB3D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32575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buildPositions()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createSnapshot()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getSummary()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1F6C7-C886-49C8-90F6-D9542D7A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657350"/>
            <a:ext cx="2247900" cy="23812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7B45F-C9AD-4020-AD18-181D8CB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16573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113BC-8716-476D-9DB4-95BF9FE1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8097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Position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A968A0-F0D3-4967-9D6C-512FBFDE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152650"/>
            <a:ext cx="201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365767-F0CD-4EAB-A00E-BC27EF78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22669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stockId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quantity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averageCost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realizedPnl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A73F38-9362-46CB-9367-12DB981E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3143250"/>
            <a:ext cx="2019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DA53E2-56AC-49A4-82DD-4AE49102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325755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getMarketValue()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getUnrealizedPnl()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10B9F3-C1A2-4C12-A177-D74B4DC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1657350"/>
            <a:ext cx="2667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1CA929-585E-43AF-89E6-5709384C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1657350"/>
            <a:ext cx="2667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DB99C9-3870-4A0F-946C-F01101C9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18097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PortfolioTransaction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A5A7EB-CE6E-4A9C-9E0E-ECF1BD17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2152650"/>
            <a:ext cx="243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924AB-B6E2-4654-8025-822D2F94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2266950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transactionId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type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quantity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pricePerShare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commission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DFD4DE-D14D-486D-9233-A30F99D4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1100" y="3314700"/>
            <a:ext cx="2438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702E1B-AE1E-4DBF-8927-843B3B81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3429000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getGrossAmount()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getNetAmount()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E522F5-DD4B-48FD-BBA4-7447B9DB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438650"/>
            <a:ext cx="23622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C0042-D016-4417-A590-1162F083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438650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53BD2A-66FA-46B4-8CCF-6529040A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5910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TransactionValidator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70EEC5-736C-4B18-A124-99649285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4933950"/>
            <a:ext cx="2133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F60127-BDB4-47E3-A8C0-10D593A0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04825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normalizeInput()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validateSell()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8E81BE-09CD-476D-9928-E5DF0FDC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5657850"/>
            <a:ext cx="2133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983C64-F7A8-4B24-9E79-2B8CDDE5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7721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canSell()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validateRequiredFields()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9BE666-35A6-49A3-AE12-4472C36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4438650"/>
            <a:ext cx="23622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D7030A-C28F-44E0-96C9-DC29BB35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4438650"/>
            <a:ext cx="2362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43DDBD-05A4-4DAC-AAB9-E6314686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459105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PortfolioPriceService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FB0689-E05F-4BED-8E2B-B782A468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4933950"/>
            <a:ext cx="2133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5CE085-76BF-46BD-9AA4-39DF6F25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04825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getLatestPrices()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72B190-ECFE-420B-AA31-E88CB70F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5657850"/>
            <a:ext cx="2133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5DD798-F336-4A18-A649-917209EC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6600" y="57721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mapPricesToPositions()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82BAB6-E478-4FA6-A8AB-AB6D2222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1300" y="245745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A7612A-BECB-4C83-8DF3-D50EF07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22860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擁有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950BFB-F692-46C9-A26D-0F298F04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2457450"/>
            <a:ext cx="342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E2C5E1-4ED6-4207-B5C5-33198765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300" y="228600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建立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01EB89-04C9-48CC-9D35-B47C0FB6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2457450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A78B7C-8576-4CAF-9277-924F850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22860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使用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429942-4D7C-4A85-9085-76D2E8E7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8250" y="41529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E2CCD4-68A7-45EA-9143-6228C8D9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677150" y="41529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946F63-8C80-4F2D-9974-89D86BE0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61722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F5B66"/>
                </a:solidFill>
              </a:defRPr>
            </a:pPr>
            <a:r>
              <a:rPr sz="1050" b="0">
                <a:solidFill>
                  <a:srgbClr val="4F5B66"/>
                </a:solidFill>
              </a:rPr>
              <a:t>Portfolio 會聚合交易、建立持股部位，並產生摘要快照。</a:t>
            </a:r>
          </a:p>
          <a:p xmlns:a="http://schemas.openxmlformats.org/drawingml/2006/main">
            <a:pPr algn="l">
              <a:defRPr sz="1050" b="0">
                <a:solidFill>
                  <a:srgbClr val="4F5B66"/>
                </a:solidFill>
              </a:defRPr>
            </a:pPr>
            <a:r>
              <a:rPr sz="1050" b="0">
                <a:solidFill>
                  <a:srgbClr val="4F5B66"/>
                </a:solidFill>
              </a:rPr>
              <a:t>重構後 route handler 變薄，物件責任也更清楚。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3CFD49-47B8-42A5-BC7E-CBE46C15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期中檢查簡報初稿。正式繳交前請替換組員姓名與實際截圖。</a:t>
            </a:r>
          </a:p>
        </p:txBody>
      </p:sp>
    </p:spTree>
    <p:extLst>
      <p:ext uri="{BB962C8B-B14F-4D97-AF65-F5344CB8AC3E}">
        <p14:creationId xmlns:p14="http://schemas.microsoft.com/office/powerpoint/2010/main" val="16747331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FA7B43-8A27-4ED5-B6E1-D924756C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8ED18-73B9-49E6-8799-82A272D8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7164F-EB60-452B-BF36-11120B82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C5D64-175A-4BF5-A93E-FA14F1F0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032B5-0B94-4AF2-970E-9F149BB1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ADD1F-F503-4BB6-9F87-9C739D2D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類別圖 B - 警示與回測領域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F09FB-0E65-44EF-8613-A8CAEC85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這兩個新增領域是本專題超越 CRUD 的主要證據。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66E12-0D06-46DC-9BFE-7336218C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733550"/>
            <a:ext cx="2076450" cy="209550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C01F3-F4E1-4A95-B2CF-C0AE310D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733550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14893-EFE5-4A0A-932F-40A5077F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18859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AlertRule &lt;&lt;abstract&gt;&gt;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8EC00-FC69-4CC1-8CF8-A29699AB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28850"/>
            <a:ext cx="1847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75F65D-E8F3-4E08-95DF-D0569B16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3431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stockId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thresholdValue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isActive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5DE83-49CB-476D-AB75-FDA62D11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048000"/>
            <a:ext cx="1847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1E10B-AD07-4790-9625-D1B14EEC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3162300"/>
            <a:ext cx="1733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isTriggered(snapshot)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getConditionLabel()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buildNotification()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81376-7E93-4E0D-A140-EBDD9CB7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7335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827B0-6080-4166-95B2-5E007235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733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043DA-E5B0-411C-8A06-2ED17460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18859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PriceAbove / Below</a:t>
            </a:r>
          </a:p>
          <a:p xmlns:a="http://schemas.openxmlformats.org/drawingml/2006/main">
            <a:pPr algn="l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PercentChangeUp / Down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E6927-ADA5-4A05-951D-6FD8DE04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36220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5A4B5-990D-4E20-8542-4E5384E4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24765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concrete rule fields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762E4-465A-48E5-ABCE-98008C72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308610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2C948-0D38-401F-8B3E-DF40F690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3200400"/>
            <a:ext cx="1752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override isTriggered()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7F591-0A93-4E36-A67E-281CCA31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17335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116DE-5EFB-4C54-8F74-6C880A05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1733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7298AE-D190-4253-AC7E-B56C76C7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18859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AlertEvaluator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4DE12-9A90-49E3-B925-73DA344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22885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7FB5BF-6BDB-4239-869E-E83DC17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23431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evaluate(rules, snapshots)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704220-5DB5-4DBD-8AE3-AC91AF4C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800" y="295275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A986E-7F2D-41A3-A785-B2C39039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5950" y="306705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skip duplicate trigger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generate notifications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A75812-3171-46C7-9EF5-1A462588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17335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9CB52E-BEA6-4FFD-84BC-2FBA2152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1733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0B42F0-5CEC-4220-8493-58F38921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18859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NotificationService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CA6C98-9D2E-4E93-BAFD-F24F4F86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22885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3EC6BA-B25E-4E0D-85C5-23B93089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23431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persistTriggeredAlerts()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C7DE75-1E06-4C53-BE1C-970B7EEF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2952750"/>
            <a:ext cx="1866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A9EE0E-C4F0-4E3B-B952-EF6D8A2E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306705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update lastTriggeredDate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6F1C7B-6DA9-477D-A10A-E6EBE0F5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733550"/>
            <a:ext cx="1524000" cy="2095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65B52D-EBF3-4BD3-8C81-42FCAD68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17335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70B473-BC8A-414D-A13F-901D9AB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1885950"/>
            <a:ext cx="1181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Market</a:t>
            </a:r>
          </a:p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Snapshot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48CD0A-AD37-44EB-899C-928507EF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2362200"/>
            <a:ext cx="1295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4A5424-7593-458E-A5DB-D4196D5A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247650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currentPrice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previousClose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E9D3EA-C299-4282-89F8-892A110E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3086100"/>
            <a:ext cx="1295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2A44B6-0B55-44EB-BEE7-7D8CAA1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7950" y="3200400"/>
            <a:ext cx="1181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getPercentChange()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CBAA19-032E-4E0E-9389-84909EB2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4324350"/>
            <a:ext cx="24574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AA3154-528D-484D-AFBA-A319BCF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4324350"/>
            <a:ext cx="2457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CC9AEC-7B3B-4052-95C9-E43C6024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44767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MovingAverageCross</a:t>
            </a:r>
          </a:p>
          <a:p xmlns:a="http://schemas.openxmlformats.org/drawingml/2006/main">
            <a:pPr algn="l">
              <a:defRPr sz="1050" b="1">
                <a:solidFill>
                  <a:srgbClr val="172026"/>
                </a:solidFill>
              </a:defRPr>
            </a:pPr>
            <a:r>
              <a:rPr sz="1050" b="1">
                <a:solidFill>
                  <a:srgbClr val="172026"/>
                </a:solidFill>
              </a:rPr>
              <a:t>Strategy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BC5FB1-31A5-491A-B3E5-09F4A7BB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953000"/>
            <a:ext cx="2228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E7C3DB-39FE-46E0-948E-03475D79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5067300"/>
            <a:ext cx="2114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shortWindow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longWindow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D3C7AF-956E-4525-A078-FD857B11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5676900"/>
            <a:ext cx="2228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2D4B4F-5F9D-49E4-9F74-B5741B39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579120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generateSignals(priceSeries)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1D5018-AAD6-4D88-9A68-F73AB742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4324350"/>
            <a:ext cx="21717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B7C142-151F-4663-8E79-47A3F789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432435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492AEE-B5E5-4548-BEEC-DE3F26B0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4767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BacktestEngine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708B70-7C5F-497F-9D76-1C724BBC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48196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D289B2-C0AD-42A5-A412-8E3F322E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4933950"/>
            <a:ext cx="1828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run(strategy, priceSeries,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  initialCapital)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699798-B15A-46F3-85CE-F9E15B8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5543550"/>
            <a:ext cx="1943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832F87-8914-4F09-8A41-3244BBD7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565785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simulate trades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build equity curve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0FF38C-6221-476A-8F72-4374C2F0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4324350"/>
            <a:ext cx="198120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255C37-DA45-4BD7-8637-14F4AFB3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4324350"/>
            <a:ext cx="1981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4ABE87-69F8-47CD-87D8-9CBC5FB5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4767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BacktestTrade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DC1D47-3954-48E2-8C1E-244D9D93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819650"/>
            <a:ext cx="1752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7D089A-F0C0-49EF-9209-1BBEBB6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933950"/>
            <a:ext cx="1638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tradeType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tradeDate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price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quantity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A1CCD1-3372-483E-8F40-26F2E75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5810250"/>
            <a:ext cx="1752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7672CA-6765-4858-A2F5-3CCDAD2B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592455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toPersistence()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B1A1E2-5F5E-4A62-B3F8-71C73F13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4324350"/>
            <a:ext cx="2038350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21BB82-ADD4-4975-9A84-102268DF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43243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4D22F5-D183-46AF-B235-1679E6FF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4767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PerformanceReport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AD2490-6154-49E2-88E7-3B1CB5DC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481965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817EFF9-85D5-487A-AF9F-E125985C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4933950"/>
            <a:ext cx="1695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totalReturnPercent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maxDrawdownPercent</a:t>
            </a:r>
          </a:p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winRatePercent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3FA807B-70C3-46DA-849B-30A2E090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5638800"/>
            <a:ext cx="180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D63DF5-E790-4763-8986-BE3A52BA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3600" y="57531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B66"/>
                </a:solidFill>
              </a:defRPr>
            </a:pPr>
            <a:r>
              <a:rPr sz="975" b="0">
                <a:solidFill>
                  <a:srgbClr val="4F5B66"/>
                </a:solidFill>
              </a:rPr>
              <a:t>+ fromBacktest()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B6A3E4-BAFB-4009-9F6A-400271D8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6098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C6ABE0-3A9C-45F9-8EA2-245D018F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438400"/>
            <a:ext cx="514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繼承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B4A284-ECDF-43DA-A71E-B57BC773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2550" y="26098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23DE01-2D1A-487A-895A-1C831DBA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67300" y="24384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使用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3F049F-5BD2-40F1-B52F-66A73DDE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260985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B1384C5-D65D-4336-A33A-E7B7ED68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850" y="24384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使用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EA54AA8-E1E3-4DBF-AB32-4EB882B3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39300" y="2609850"/>
            <a:ext cx="304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CA0F65-2913-4013-B1A4-AFCB624A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4050" y="2438400"/>
            <a:ext cx="495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讀取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792C5D7-6BD1-4E66-858B-A70648D3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550" y="52006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4528BE5-AB46-4CCD-AD41-0AD42FC8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50292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執行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1351F1-953D-4365-8CA5-00E6A708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200650"/>
            <a:ext cx="3810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B223CE1-FF62-4F68-A358-77556DB2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50292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建立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E0BCDFA-ED4F-4424-9913-8288DBBA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52006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86FC4B8-6AB3-4CFE-A621-FC469831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50292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5B66"/>
                </a:solidFill>
              </a:defRPr>
            </a:pPr>
            <a:r>
              <a:rPr sz="825" b="0">
                <a:solidFill>
                  <a:srgbClr val="4F5B66"/>
                </a:solidFill>
              </a:rPr>
              <a:t>產生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7A08497-A9DE-441D-B185-EAB71E45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本頁是主要 OOAD 證據：抽象規則、具體策略、回測引擎與報告物件。</a:t>
            </a:r>
          </a:p>
        </p:txBody>
      </p:sp>
    </p:spTree>
    <p:extLst>
      <p:ext uri="{BB962C8B-B14F-4D97-AF65-F5344CB8AC3E}">
        <p14:creationId xmlns:p14="http://schemas.microsoft.com/office/powerpoint/2010/main" val="938385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DCE7C6-BDFC-401D-8C69-7F2684F0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D402D-73F1-4701-AAE2-3956784A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7A3E5-F95F-4CE4-B701-16DE2467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81785-91A3-466A-8A6E-3E527B43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E4D9E-1DDD-49A4-9C18-CCCF0335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9C81B-F9A2-461B-9655-C528ECA3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設計模式 1 - Strategy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207A3-FF38-40F2-8332-582F269B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說明設計意圖、實際使用位置，以及對原型的影響。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A9226-17EC-4B1A-BA23-A7492A50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3086100" cy="38290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E38A1-F9DA-4659-9A88-446101FD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3086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FEEB7-ECBE-4841-BE9A-8BA28174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03835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設計意圖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4162E8-A4BE-4B7F-A298-56BACC3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400300"/>
            <a:ext cx="25908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把可替換的演算法封裝在共同介面後面，讓主要執行流程不依賴特定實作。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因此系統可以切換行為，而不必修改 controller 或 service 的主流程。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FE21D-BF3A-40FC-A5C8-2CD4E2F2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866900"/>
            <a:ext cx="3162300" cy="382905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E3DC2-0469-4509-B0D2-10C0F83A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3900" y="1866900"/>
            <a:ext cx="3162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3D9FA-73BC-4676-AEEE-458F060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20383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使用位置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DFBD5-D022-4A23-A8FE-22124CE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400300"/>
            <a:ext cx="2667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1. 警示規則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AlertRule -&gt; PriceAboveAlertRule / PriceBelowAlertRule / PercentChange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2. 回測策略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MovingAverageCrossStrategy 由 BacktestEngine 執行，未來可擴充 RSI 或突破策略。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5226A-BDDB-40D3-B50A-CF4E6D5F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866900"/>
            <a:ext cx="3048000" cy="38290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8D945-F283-48F3-8693-013F52D3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4400" y="18669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967B8-2823-46F0-8725-CE1C303A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2038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對專題的效果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1072A-4740-4188-84B1-B7D2FC88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400300"/>
            <a:ext cx="2552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1. 減少大型 if-else 判斷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2. 提升擴充性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3. 讓物件設計更明確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4. 評估器與引擎可保持穩定，只替換演算法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BEE57-BC3B-4961-B430-4B5F2E6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483870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FD9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56954-7259-4195-9D2A-7A9D0609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495300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6"/>
                </a:solidFill>
              </a:defRPr>
            </a:pPr>
            <a:r>
              <a:rPr sz="1200" b="1">
                <a:solidFill>
                  <a:srgbClr val="172026"/>
                </a:solidFill>
              </a:rPr>
              <a:t>AlertRule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575B8-90F8-446F-B21B-25EACF1A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972050"/>
            <a:ext cx="5524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42D66-FE59-498C-93A1-05CC612C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46863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5F2C9-39B0-429B-8ADA-BB83A02F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47720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PriceAbove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E2FAF6-A4C0-4A4B-8557-83EFEAFA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51054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1C1F3-1097-4103-8145-79E11018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3200" y="51911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PercentChange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ED5EF5-45A9-4E84-8ACE-913EACDF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期中檢查簡報初稿。正式繳交前請替換組員姓名與實際截圖。</a:t>
            </a:r>
          </a:p>
        </p:txBody>
      </p:sp>
    </p:spTree>
    <p:extLst>
      <p:ext uri="{BB962C8B-B14F-4D97-AF65-F5344CB8AC3E}">
        <p14:creationId xmlns:p14="http://schemas.microsoft.com/office/powerpoint/2010/main" val="12802243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DDEF1-D64A-46BA-BDF8-EEAB425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C874E-ACA1-44B1-90CD-EC84A859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55819-9864-478D-89F1-BB444860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CE342-91AE-4269-94CB-4AAF16B8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B1423-B92F-428D-90E5-3A9C7437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0E31E-1B39-4BD6-BE92-F38EC546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設計模式 2 - Factory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35360-90EC-4BED-8E9E-18EF240B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設計模式必須對專題有實際作用，而不是只在理論上提到。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EC412-CD4B-430E-9667-923F1C7E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3143250" cy="37909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E39A8-5235-4740-BF0B-32AE3AB8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B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91C80-A717-4257-84F2-9D5D3AB7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0383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設計意圖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1BD6B-53DB-4C0F-B32F-55A2A470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400300"/>
            <a:ext cx="26479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集中物件建立邏輯，讓上層不直接依賴具體類別。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API layer 不應該自己判斷要建立哪一種具體警示規則物件。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12809-8C8E-4A20-B867-9F4540F9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1866900"/>
            <a:ext cx="3295650" cy="37909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3EFAD-CF50-41B4-9620-55BD5A63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186690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54AE0-5562-4BB3-929E-AC3E230F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20383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使用位置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39BD8-C132-4CFF-8961-DBB86F77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400300"/>
            <a:ext cx="2800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Function: createAlertRule(...)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Input: 資料庫中的 alert rule record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Output: 具體 AlertRule 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在評估前，先把儲存設定轉成可執行的 domain object。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71F83-91A5-4E9E-9246-4A14D758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1866900"/>
            <a:ext cx="3009900" cy="37909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07451-22C8-43F4-9995-5FFC5DB2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186690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2EBE1-B23C-4FD4-AFAD-3E4D6179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20383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對專題的效果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AB9F0-4F9C-4FB3-AC6D-C70D0B3D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2400300"/>
            <a:ext cx="25146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1. API code 保持簡潔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2. 物件建立邏輯可重用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3. 更容易新增規則類型</a:t>
            </a:r>
          </a:p>
          <a:p xmlns:a="http://schemas.openxmlformats.org/drawingml/2006/main">
            <a:pPr algn="l">
              <a:defRPr sz="1275" b="0">
                <a:solidFill>
                  <a:srgbClr val="172026"/>
                </a:solidFill>
              </a:defRPr>
            </a:pPr>
            <a:r>
              <a:rPr sz="1275" b="0">
                <a:solidFill>
                  <a:srgbClr val="172026"/>
                </a:solidFill>
              </a:rPr>
              <a:t>4. 未來可擴充為 StrategyFactory，支援多種回測策略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26A50-F52F-4638-A9DA-3FDD514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61010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E5DF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1A18C-6209-4F82-9728-435A8F90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7244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DB 規則紀錄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75535-31B5-4F85-A30B-19E2A950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4752975"/>
            <a:ext cx="704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77593-A4C3-487A-BA08-AA6BF7B3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514850"/>
            <a:ext cx="148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FF5EC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DAACE-DCD1-458D-AFC9-A2EBC837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46672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6"/>
                </a:solidFill>
              </a:defRPr>
            </a:pPr>
            <a:r>
              <a:rPr sz="1125" b="1">
                <a:solidFill>
                  <a:srgbClr val="172026"/>
                </a:solidFill>
              </a:rPr>
              <a:t>createAlertRule(...)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7FC372-54AC-4A9D-87D9-96389D80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752975"/>
            <a:ext cx="704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2026"/>
          </a:solidFill>
          <a:ln xmlns:a="http://schemas.openxmlformats.org/drawingml/2006/main" w="0">
            <a:solidFill>
              <a:srgbClr val="1720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57C71-E696-44EF-9FD5-8FADF6A4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400550"/>
            <a:ext cx="1733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FD9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5AAF5E-F37B-47D4-84DC-41D93F4A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49580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PriceAboveAlertRule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0441AF-DCBC-4C17-AA70-9EC699CA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876800"/>
            <a:ext cx="17335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EEFF"/>
          </a:solidFill>
          <a:ln xmlns:a="http://schemas.openxmlformats.org/drawingml/2006/main" w="10478">
            <a:solidFill>
              <a:srgbClr val="2331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E0361-E30E-4DAF-B8BC-66D6A816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972050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26"/>
                </a:solidFill>
              </a:defRPr>
            </a:pPr>
            <a:r>
              <a:rPr sz="975" b="1">
                <a:solidFill>
                  <a:srgbClr val="172026"/>
                </a:solidFill>
              </a:rPr>
              <a:t>PercentChangeUpAlertRule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DB97B-014C-4811-ADEF-5CA61814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期中檢查簡報初稿。正式繳交前請替換組員姓名與實際截圖。</a:t>
            </a:r>
          </a:p>
        </p:txBody>
      </p:sp>
    </p:spTree>
    <p:extLst>
      <p:ext uri="{BB962C8B-B14F-4D97-AF65-F5344CB8AC3E}">
        <p14:creationId xmlns:p14="http://schemas.microsoft.com/office/powerpoint/2010/main" val="994606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77C5C0-9535-4BCA-B590-CBF06895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-857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823DE-7340-4B25-A0BC-BCCE0246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857250" y="5334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9244E-A65F-4739-93E0-BAE53F17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667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6B52"/>
                </a:solidFill>
              </a:defRPr>
            </a:pPr>
            <a:r>
              <a:rPr sz="825" b="1">
                <a:solidFill>
                  <a:srgbClr val="0E6B52"/>
                </a:solidFill>
              </a:rPr>
              <a:t>CSC0005 專題期中檢查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C6AD9-2D6D-4A87-9278-E5CAD10C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3300" y="2476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E6B52"/>
                </a:solidFill>
              </a:defRPr>
            </a:pPr>
            <a:r>
              <a:rPr sz="900" b="1">
                <a:solidFill>
                  <a:srgbClr val="0E6B52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80513-437A-4F1B-8CFB-35339AE1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0E7C2-13DD-416F-AF16-CFD5743B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81050"/>
            <a:ext cx="885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6"/>
                </a:solidFill>
              </a:defRPr>
            </a:pPr>
            <a:r>
              <a:rPr sz="2400" b="1">
                <a:solidFill>
                  <a:srgbClr val="172026"/>
                </a:solidFill>
              </a:rPr>
              <a:t>結論與下一步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F1D7F-4E07-4C8B-A2AB-F76E5D2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12573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F5B66"/>
                </a:solidFill>
              </a:defRPr>
            </a:pPr>
            <a:r>
              <a:rPr sz="1200" b="0">
                <a:solidFill>
                  <a:srgbClr val="4F5B66"/>
                </a:solidFill>
              </a:rPr>
              <a:t>用已完成修正與後續方向收束本次期中檢查。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E261-4574-4936-8D2C-463E83F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962150"/>
            <a:ext cx="3429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35E69-5292-4C44-B40F-E0C13095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962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5EAE5-AD0B-4783-9FE1-EDD7F317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133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期中檢查結論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421502-1C16-4B48-876A-58A65EDC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514600"/>
            <a:ext cx="29337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本專題已從資料查詢網站，提升為規則與策略驅動的投資分析平台。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目前能展示物件責任、領域建模、可繪製圖表的架構，以及設計模式的實際效果。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74498-5EA0-47F9-B60B-063EC998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962150"/>
            <a:ext cx="3429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E5993-554B-4BEF-88AD-6EA467B7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1962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9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427CC-E678-4175-8F73-0010F889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133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已完成內容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A130E-4A3B-462C-891E-35FAFE22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514600"/>
            <a:ext cx="29337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MySQL 已重建並整合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Portfolio Domain 已重構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已新增警示與通知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已新增移動平均回測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Dashboard 導覽已更新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2DA73-E602-460E-B0C6-AE9A3796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1962150"/>
            <a:ext cx="3429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57CEF-AC73-41D5-94CC-CA84D75A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19621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0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4DFFD-7A04-45C8-A009-BFDC81A1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21336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</a:defRPr>
            </a:pPr>
            <a:r>
              <a:rPr sz="1350" b="1">
                <a:solidFill>
                  <a:srgbClr val="172026"/>
                </a:solidFill>
              </a:rPr>
              <a:t>下一步開發方向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0D5489-FA6F-40C2-B82D-A1A8C61A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050" y="2514600"/>
            <a:ext cx="29337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新增 RSI 等更多策略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加入排程式警示評估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比較多組回測參數</a:t>
            </a:r>
          </a:p>
          <a:p xmlns:a="http://schemas.openxmlformats.org/drawingml/2006/main">
            <a:pPr algn="l">
              <a:defRPr sz="1350" b="0">
                <a:solidFill>
                  <a:srgbClr val="172026"/>
                </a:solidFill>
              </a:defRPr>
            </a:pPr>
            <a:r>
              <a:rPr sz="1350" b="0">
                <a:solidFill>
                  <a:srgbClr val="172026"/>
                </a:solidFill>
              </a:rPr>
              <a:t>- 替換正式截圖與組員姓名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A7DD8-7459-4C74-BA2A-9BCEBB89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105400"/>
            <a:ext cx="90868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331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16D03-31A0-4298-95E1-7CFCEF1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391150"/>
            <a:ext cx="847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26"/>
                </a:solidFill>
              </a:defRPr>
            </a:pPr>
            <a:r>
              <a:rPr sz="1800" b="1">
                <a:solidFill>
                  <a:srgbClr val="172026"/>
                </a:solidFill>
              </a:rPr>
              <a:t>本次報告重點：</a:t>
            </a:r>
          </a:p>
          <a:p xmlns:a="http://schemas.openxmlformats.org/drawingml/2006/main">
            <a:pPr algn="ctr">
              <a:defRPr sz="1800" b="1">
                <a:solidFill>
                  <a:srgbClr val="172026"/>
                </a:solidFill>
              </a:defRPr>
            </a:pPr>
            <a:r>
              <a:rPr sz="1800" b="1">
                <a:solidFill>
                  <a:srgbClr val="172026"/>
                </a:solidFill>
              </a:rPr>
              <a:t>我們不只展示系統能做什麼，也展示物件導向分析與設計如何組織整個系統。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E08C0-758C-45E9-AC8A-C3769AD7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534150"/>
            <a:ext cx="971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F5B66"/>
                </a:solidFill>
              </a:defRPr>
            </a:pPr>
            <a:r>
              <a:rPr sz="750" b="0">
                <a:solidFill>
                  <a:srgbClr val="4F5B66"/>
                </a:solidFill>
              </a:rPr>
              <a:t>本版之後建議替換組員姓名，並從實際可運行原型匯出正式截圖。</a:t>
            </a:r>
          </a:p>
        </p:txBody>
      </p:sp>
    </p:spTree>
    <p:extLst>
      <p:ext uri="{BB962C8B-B14F-4D97-AF65-F5344CB8AC3E}">
        <p14:creationId xmlns:p14="http://schemas.microsoft.com/office/powerpoint/2010/main" val="1217931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2026-04-27T06:57:09.6540000Z</dcterms:created>
  <dcterms:modified xsi:type="dcterms:W3CDTF">2026-04-27T06:57:09.6540000Z</dcterms:modified>
</coreProperties>
</file>