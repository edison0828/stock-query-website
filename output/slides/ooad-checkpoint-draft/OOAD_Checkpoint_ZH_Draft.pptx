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e93a7781264357" /><Relationship Type="http://schemas.openxmlformats.org/officeDocument/2006/relationships/extended-properties" Target="/docProps/app.xml" Id="R3e737b9a520941af" /><Relationship Type="http://schemas.openxmlformats.org/officeDocument/2006/relationships/officeDocument" Target="/ppt/presentation.xml" Id="R5dcc53de376740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a9ced2a195467b"/>
  </p:sldMasterIdLst>
  <p:notesMasterIdLst>
    <p:notesMasterId xmlns:r="http://schemas.openxmlformats.org/officeDocument/2006/relationships" r:id="R41ee0fa6dc554d15"/>
  </p:notesMasterIdLst>
  <p:sldIdLst>
    <p:sldId xmlns:r="http://schemas.openxmlformats.org/officeDocument/2006/relationships" id="256" r:id="Rc294694d86c0476b"/>
    <p:sldId xmlns:r="http://schemas.openxmlformats.org/officeDocument/2006/relationships" id="257" r:id="R1b1f57c704ee455a"/>
    <p:sldId xmlns:r="http://schemas.openxmlformats.org/officeDocument/2006/relationships" id="258" r:id="Ra351f8b671fe4c42"/>
    <p:sldId xmlns:r="http://schemas.openxmlformats.org/officeDocument/2006/relationships" id="259" r:id="R2273ddfc044d4bae"/>
    <p:sldId xmlns:r="http://schemas.openxmlformats.org/officeDocument/2006/relationships" id="260" r:id="R7bec64d972bb4734"/>
    <p:sldId xmlns:r="http://schemas.openxmlformats.org/officeDocument/2006/relationships" id="261" r:id="Rcbdd32e8d6694ef8"/>
    <p:sldId xmlns:r="http://schemas.openxmlformats.org/officeDocument/2006/relationships" id="262" r:id="R2c8cdc48a2e94b26"/>
    <p:sldId xmlns:r="http://schemas.openxmlformats.org/officeDocument/2006/relationships" id="263" r:id="R1ef7b1b4fff041af"/>
    <p:sldId xmlns:r="http://schemas.openxmlformats.org/officeDocument/2006/relationships" id="264" r:id="R14d3220ad0784259"/>
    <p:sldId xmlns:r="http://schemas.openxmlformats.org/officeDocument/2006/relationships" id="265" r:id="R25d298d583fb4856"/>
    <p:sldId xmlns:r="http://schemas.openxmlformats.org/officeDocument/2006/relationships" id="266" r:id="R264cd04743d241ed"/>
    <p:sldId xmlns:r="http://schemas.openxmlformats.org/officeDocument/2006/relationships" id="267" r:id="R958882dcfa4a46c2"/>
    <p:sldId xmlns:r="http://schemas.openxmlformats.org/officeDocument/2006/relationships" id="268" r:id="Reed62b5135cd4cdf"/>
    <p:sldId xmlns:r="http://schemas.openxmlformats.org/officeDocument/2006/relationships" id="269" r:id="Ra5fc941eecc94b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a9ced2a195467b" /><Relationship Type="http://schemas.openxmlformats.org/officeDocument/2006/relationships/theme" Target="/ppt/theme/theme1.xml" Id="R03574a39449c40e6" /><Relationship Type="http://schemas.openxmlformats.org/officeDocument/2006/relationships/notesMaster" Target="/ppt/notesMasters/notesMaster1.xml" Id="R41ee0fa6dc554d15" /><Relationship Type="http://schemas.openxmlformats.org/officeDocument/2006/relationships/presProps" Target="/ppt/presProps.xml" Id="R9e75e349225942f8" /><Relationship Type="http://schemas.openxmlformats.org/officeDocument/2006/relationships/viewProps" Target="/ppt/viewProps.xml" Id="R6ea4b7a5c7384ae0" /><Relationship Type="http://schemas.openxmlformats.org/officeDocument/2006/relationships/tableStyles" Target="/ppt/tableStyles.xml" Id="R4f9e438337ae42a9" /><Relationship Type="http://schemas.openxmlformats.org/officeDocument/2006/relationships/slide" Target="/ppt/slides/slide1.xml" Id="Rc294694d86c0476b" /><Relationship Type="http://schemas.openxmlformats.org/officeDocument/2006/relationships/slide" Target="/ppt/slides/slide2.xml" Id="R1b1f57c704ee455a" /><Relationship Type="http://schemas.openxmlformats.org/officeDocument/2006/relationships/slide" Target="/ppt/slides/slide3.xml" Id="Ra351f8b671fe4c42" /><Relationship Type="http://schemas.openxmlformats.org/officeDocument/2006/relationships/slide" Target="/ppt/slides/slide4.xml" Id="R2273ddfc044d4bae" /><Relationship Type="http://schemas.openxmlformats.org/officeDocument/2006/relationships/slide" Target="/ppt/slides/slide5.xml" Id="R7bec64d972bb4734" /><Relationship Type="http://schemas.openxmlformats.org/officeDocument/2006/relationships/slide" Target="/ppt/slides/slide6.xml" Id="Rcbdd32e8d6694ef8" /><Relationship Type="http://schemas.openxmlformats.org/officeDocument/2006/relationships/slide" Target="/ppt/slides/slide7.xml" Id="R2c8cdc48a2e94b26" /><Relationship Type="http://schemas.openxmlformats.org/officeDocument/2006/relationships/slide" Target="/ppt/slides/slide8.xml" Id="R1ef7b1b4fff041af" /><Relationship Type="http://schemas.openxmlformats.org/officeDocument/2006/relationships/slide" Target="/ppt/slides/slide9.xml" Id="R14d3220ad0784259" /><Relationship Type="http://schemas.openxmlformats.org/officeDocument/2006/relationships/slide" Target="/ppt/slides/slide10.xml" Id="R25d298d583fb4856" /><Relationship Type="http://schemas.openxmlformats.org/officeDocument/2006/relationships/slide" Target="/ppt/slides/slide11.xml" Id="R264cd04743d241ed" /><Relationship Type="http://schemas.openxmlformats.org/officeDocument/2006/relationships/slide" Target="/ppt/slides/slide12.xml" Id="R958882dcfa4a46c2" /><Relationship Type="http://schemas.openxmlformats.org/officeDocument/2006/relationships/slide" Target="/ppt/slides/slide13.xml" Id="Reed62b5135cd4cdf" /><Relationship Type="http://schemas.openxmlformats.org/officeDocument/2006/relationships/slide" Target="/ppt/slides/slide14.xml" Id="Ra5fc941eecc94b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c11866d25bd41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b9efd067964522" /><Relationship Type="http://schemas.openxmlformats.org/officeDocument/2006/relationships/notesMaster" Target="/ppt/notesMasters/notesMaster1.xml" Id="R78941f87a1a944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8575f003c84c52" /><Relationship Type="http://schemas.openxmlformats.org/officeDocument/2006/relationships/notesMaster" Target="/ppt/notesMasters/notesMaster1.xml" Id="R7c9cde4562274d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5ebb83b8cc4e2d" /><Relationship Type="http://schemas.openxmlformats.org/officeDocument/2006/relationships/notesMaster" Target="/ppt/notesMasters/notesMaster1.xml" Id="Ra63143787c644c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eb0f2608bd49bf" /><Relationship Type="http://schemas.openxmlformats.org/officeDocument/2006/relationships/notesMaster" Target="/ppt/notesMasters/notesMaster1.xml" Id="Rd3621577f58649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07d62fe5c34ec8" /><Relationship Type="http://schemas.openxmlformats.org/officeDocument/2006/relationships/notesMaster" Target="/ppt/notesMasters/notesMaster1.xml" Id="Reccc13af80b94c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7eb3a6802e4730" /><Relationship Type="http://schemas.openxmlformats.org/officeDocument/2006/relationships/notesMaster" Target="/ppt/notesMasters/notesMaster1.xml" Id="Refe45a4794db4e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5dea0841ce4906" /><Relationship Type="http://schemas.openxmlformats.org/officeDocument/2006/relationships/notesMaster" Target="/ppt/notesMasters/notesMaster1.xml" Id="R4c58c0b097f843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8c352dc12649ab" /><Relationship Type="http://schemas.openxmlformats.org/officeDocument/2006/relationships/notesMaster" Target="/ppt/notesMasters/notesMaster1.xml" Id="R0cd5ae81b20441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4878323be943c6" /><Relationship Type="http://schemas.openxmlformats.org/officeDocument/2006/relationships/notesMaster" Target="/ppt/notesMasters/notesMaster1.xml" Id="R322ed96af2d74c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2d885d82984376" /><Relationship Type="http://schemas.openxmlformats.org/officeDocument/2006/relationships/notesMaster" Target="/ppt/notesMasters/notesMaster1.xml" Id="Rf70d991b46ae49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850cc5b4594619" /><Relationship Type="http://schemas.openxmlformats.org/officeDocument/2006/relationships/notesMaster" Target="/ppt/notesMasters/notesMaster1.xml" Id="Rfc9a0f28f81d48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57b315f1314de0" /><Relationship Type="http://schemas.openxmlformats.org/officeDocument/2006/relationships/notesMaster" Target="/ppt/notesMasters/notesMaster1.xml" Id="R342f265367604e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71a1bdbdea4275" /><Relationship Type="http://schemas.openxmlformats.org/officeDocument/2006/relationships/notesMaster" Target="/ppt/notesMasters/notesMaster1.xml" Id="Ra218091e9ce14d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ebe7e89eba447d9" /><Relationship Type="http://schemas.openxmlformats.org/officeDocument/2006/relationships/notesMaster" Target="/ppt/notesMasters/notesMaster1.xml" Id="R775e4387d65a47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開場說明專題名稱、修正方向，以及目前三個核心領域。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說明我們不是只增加頁面，而是透過規則、策略與 domain objects 提升 OOAD 複雜度。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說明近期完成內容，並提醒正式版需改成真實組員分工。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這次把使用案例圖從 8 個擴充為 11 個，將交易與警示生命週期拆成更具體的 user tasks，讓 use cases 更符合 OOAD 對功能獨立性的要求。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說明回測是目前最能展現系統複雜度的流程，因為它包含輸入驗證、資料檢查、策略物件、交易模擬與績效報告。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說明架構分層：前端只負責呈現與互動，API 呼叫 domain objects，資料透過 Prisma 存取 MySQL。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說明資料不是只有存在資料庫，而是由對應的領域物件與服務在執行時使用。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說明目前 UI 已可支援 dashboard、個股、警示與回測流程，正式版可以替換為實際系統截圖。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強調投資組合不只是資料表，而是由 Portfolio 聚合交易、Position、驗證與價格服務形成的物件模型。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說明警示用抽象 AlertRule 與多個具體規則，回測用 strategy 與 engine 分工，讓系統不是單純 CRUD。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Strategy Pattern 不只是理論，而是用在警示規則與回測策略，解決未來擴充不同規則與策略的問題。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Factory Pattern 負責把資料庫儲存的設定轉成正確的 AlertRule 物件，讓 API 不需要知道每個具體類別。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收尾時強調本次修正已回應老師對 CRUD 複雜度不足的提醒，後續會補更多策略、排程與正式畫面。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這一頁是備援 use cases。若老師現場質疑某一項不夠獨立，就從這頁挑一個已完成的候選項目立即替換。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c06b146626444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6f56f8c25d142c7" /><Relationship Type="http://schemas.openxmlformats.org/officeDocument/2006/relationships/slideLayout" Target="/ppt/slideLayouts/slideLayout2.xml" Id="R8f1c8151930542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1c8151930542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2056143f3345ba" /><Relationship Type="http://schemas.openxmlformats.org/officeDocument/2006/relationships/notesSlide" Target="/ppt/notesSlides/notesSlide1.xml" Id="R29b26df2a9dc48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2252bb0dd947b4" /><Relationship Type="http://schemas.openxmlformats.org/officeDocument/2006/relationships/notesSlide" Target="/ppt/notesSlides/notesSlide2.xml" Id="R0c82b6d0a15b49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9550cfa31c43a6" /><Relationship Type="http://schemas.openxmlformats.org/officeDocument/2006/relationships/notesSlide" Target="/ppt/notesSlides/notesSlide3.xml" Id="R2b8c9911c59848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2fcbbdbe784846" /><Relationship Type="http://schemas.openxmlformats.org/officeDocument/2006/relationships/notesSlide" Target="/ppt/notesSlides/notesSlide4.xml" Id="R3e3eec1a763644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b3e3609cd84b7c" /><Relationship Type="http://schemas.openxmlformats.org/officeDocument/2006/relationships/notesSlide" Target="/ppt/notesSlides/notesSlide5.xml" Id="Rf5b67905c75d41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0b1972755149d5" /><Relationship Type="http://schemas.openxmlformats.org/officeDocument/2006/relationships/notesSlide" Target="/ppt/notesSlides/notesSlide6.xml" Id="Rf9397b2fd3a94c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f7ad912cc46e1" /><Relationship Type="http://schemas.openxmlformats.org/officeDocument/2006/relationships/notesSlide" Target="/ppt/notesSlides/notesSlide7.xml" Id="R3e20caf6e13d4d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4b1b057bef43df" /><Relationship Type="http://schemas.openxmlformats.org/officeDocument/2006/relationships/notesSlide" Target="/ppt/notesSlides/notesSlide8.xml" Id="Radebc53fe2bb4b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97bf4aab534731" /><Relationship Type="http://schemas.openxmlformats.org/officeDocument/2006/relationships/notesSlide" Target="/ppt/notesSlides/notesSlide9.xml" Id="Rc6a95f5e7d8a4f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44e664625b4071" /><Relationship Type="http://schemas.openxmlformats.org/officeDocument/2006/relationships/notesSlide" Target="/ppt/notesSlides/notesSlide10.xml" Id="Rf90663864a614a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b170ae37444ed1" /><Relationship Type="http://schemas.openxmlformats.org/officeDocument/2006/relationships/notesSlide" Target="/ppt/notesSlides/notesSlide11.xml" Id="R4e9c66e5bddc48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97a4c5d7cd4180" /><Relationship Type="http://schemas.openxmlformats.org/officeDocument/2006/relationships/notesSlide" Target="/ppt/notesSlides/notesSlide12.xml" Id="R5cb02d0f9c0e45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5d02f48b7f4ff0" /><Relationship Type="http://schemas.openxmlformats.org/officeDocument/2006/relationships/notesSlide" Target="/ppt/notesSlides/notesSlide13.xml" Id="Rb3635e0d604e4f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ea195345b4745" /><Relationship Type="http://schemas.openxmlformats.org/officeDocument/2006/relationships/notesSlide" Target="/ppt/notesSlides/notesSlide14.xml" Id="Ra2644429de7841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6BAE62-ECE4-4FE3-96BF-4FE25BA9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86750" y="-952500"/>
            <a:ext cx="4286250" cy="428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AD942-1EAB-4CBD-96CD-1C1FDD4A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29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E4037-9021-4836-9F6E-D96C270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4762500"/>
            <a:ext cx="30480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E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BAC8-3CDA-4C92-81DB-A0A3F821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819150"/>
            <a:ext cx="95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FDC07-C916-4DB2-AC69-83331956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8382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6B52"/>
                </a:solidFill>
              </a:defRPr>
            </a:pPr>
            <a:r>
              <a:rPr sz="1050" b="1">
                <a:solidFill>
                  <a:srgbClr val="0E6B52"/>
                </a:solidFill>
              </a:rPr>
              <a:t>CSC0005 物件導向分析與設計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5D182-6FCE-42E7-946E-0C9C5B88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1257300"/>
            <a:ext cx="723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</a:defRPr>
            </a:pPr>
            <a:r>
              <a:rPr sz="2850" b="1">
                <a:solidFill>
                  <a:srgbClr val="172026"/>
                </a:solidFill>
              </a:rPr>
              <a:t>股市投資組合、警示與策略回測分析平台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4B390-A6E4-4A3C-9A0A-83EF93AF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514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期中檢查簡報初稿</a:t>
            </a:r>
          </a:p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從資料管理型網站提升為規則與策略驅動平台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7B389-6AE6-4CCC-B6B0-83AB84A4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8F9D56-404D-4D86-8AAA-9C9EDD5D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8A06F-F7BA-4C8F-A1B1-51B71223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目前範圍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C6DDA-380C-41A1-8F1A-588DCBDE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投資組合領域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警示與通知領域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策略回測領域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AA93FE-2DD8-4E4A-A801-EC8DED1A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9B048-80C0-4944-ADB6-ABBC8455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2220A-75D6-47E0-B7F0-85C1622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檢查重點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0C080-6336-4F9B-8032-85719B94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使用案例圖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活動圖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架構與資料儲存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B77C1C-8399-48DA-9FA5-F5808F96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3D43C-2F66-4956-B3EA-9CD2C2F1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144CB-4DDF-4001-8E6C-04808377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報告資訊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86998-BF59-4813-AB59-38DD6795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組員：請替換實際姓名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日期：2026/05/08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版本：初稿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8973D4-CE05-43BF-BAB4-01777985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5E5039-C8DA-4E90-88B0-5BCFB94C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BAE97C-4BD1-42E6-94C9-337B34FD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29540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專題定位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C2CF6F-DDC8-4655-A059-330F971D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657350"/>
            <a:ext cx="27622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本系統整合股市資料、投資組合、警示規則與策略回測，目標是建立一個符合 OOAD 精神的投資分析平台。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D2045-9B93-4F36-9645-F34AB6BE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可編輯 PowerPoint 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5008171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457EDD-0E97-435D-A620-0DB20DD6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A9D1B-2A4E-4209-9FF9-03C2769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627FA-76F2-41C7-884F-06646C27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73B35-A132-4CD3-9885-C5F900A1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BA2DA-264D-4ED8-95CC-3A5C36DB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26BEA-3CF7-4B19-85FB-6ACBBC73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依老師回饋修正專題方向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569E1-9646-4487-B6C4-906FEEAC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本頁說明我們如何回應第一次提案後的意見。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F0BBE-4C85-4729-BDC5-629C9E10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AFF1C-C856-47E9-88D7-D9A0DE9D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CE36C-517C-4923-B5A8-6E98CFEF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老師回饋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8E44B-F9BF-45AC-BC37-CAA9F363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2400300"/>
            <a:ext cx="3009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主題生活化，容易理解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架構大致符合課程條件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部分功能相似，容易被視為 CRUD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後續需強化物件設計與課程連結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91181-E356-4FF4-833C-EFAAB23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E0CFE-FAC0-45BD-8D4D-AF196465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F07DF4-07CD-40B8-98E6-05C78E51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原始風險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7A434-6D04-4FC3-8A53-5FD166C3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400300"/>
            <a:ext cx="3009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原本功能多集中在股票查詢、自選股、投資組合新增刪除，以及基本摘要計算。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雖然功能可用，但物件互動、規則判斷與演算法複雜度不夠明顯。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6D13F-3707-4492-9E7C-9C562515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8A65C-7AEF-4F31-9A7A-1C0E7A50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86CC7-9F24-4B9D-A3F4-D7B0B912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20574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本次修正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EF71A-CED7-40D6-A55E-41246400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240030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重構投資組合領域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新增警示與通知領域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新增策略回測領域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將邏輯從 API route 移入 domain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A5BB1-B453-41CE-8FCF-72147ECD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5148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37A0CB-5ED8-490A-850A-9058CB9C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7434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修正前</a:t>
            </a:r>
          </a:p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資料查詢 + CRUD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3F3036-8A1B-49CE-A5C1-B2DADA8F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100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F7E2F5-2DB4-4A65-AE04-84763C8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4514850"/>
            <a:ext cx="3048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365F61-45E8-4E1C-A5DD-D8C7AB71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472440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修正後</a:t>
            </a:r>
          </a:p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規則與策略驅動的分析平台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7AEEE2-C4E4-44DC-935A-1EA723E4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986B08-ED06-4963-9042-5403E769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4514850"/>
            <a:ext cx="15430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38AEC1-108F-4EAA-A912-8A36E736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4724400"/>
            <a:ext cx="135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符合檢查重點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OOAD 設計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E05B27-E176-435B-B717-F49C91AB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309403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C9DF52-20A8-4C14-BD84-F4E6A71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A605B-9FC5-43E2-B459-8887F3EC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9E2D2B-75FB-40BE-A6FF-FA955513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779B4-EF98-49DF-BAD1-7DEE511F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366BB-CD1B-4C0A-A3DE-B2A0FCD5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7A8D3-365D-4099-95E9-FAB5124F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進度總結與組員分工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9E7FD-4BC4-4E18-94A6-1DC6CC44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Checkpoint 要求說明近期完成內容，以及組員之間的工作分配。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4FAA0-7D93-4F1A-B71E-FAE7DCBF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3B7081-C060-48E7-ABA6-AE82CAD4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85DD5-0D13-4760-8F85-1FF13569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市場資料重建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7FB737-F765-4E6C-BEEE-2728F31F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重建 MySQL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匯入 FinLab 資料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恢復股票、價格、財報與股利資料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AB3D3-D951-4E35-863A-4E8D69C5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7810E-5FCA-490C-8296-1303CFDA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404C6-E509-405A-8F77-8FA61662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投資組合重構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F8C534-30C4-4831-AB97-0B905CB6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Portfolio, Position,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TransactionValidator,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B4DD56-DA16-4459-A407-728844F7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3F0918-BE30-4930-B77F-58AD7C91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C4E4F-DB98-4010-9C8D-59D24CD6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警示領域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6DCDD-AB39-45A7-8BB3-7D8FD70A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AlertRule hierarchy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AlertEvaluator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NotificationService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Alerts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DFDF7-86A6-4BD3-83D5-047CECEA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3506B-4AB4-40FA-B712-8529B31D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49D57B-3474-4E4C-88C0-AF1AAD72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回測領域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0BBD60-4A6E-434E-B891-0F296F5D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MovingAverageCrossStrategy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BacktestEngine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PerformanceReport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Backtests UI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7B608-12AE-4225-9C55-D9F6A879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BA354F-EC2C-4C95-9DCE-65D3F414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DEFEC9-B346-4BE5-836B-088ED1D0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9621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本機整合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BB8F8E-410D-4633-A4CA-57FE5B30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247900"/>
            <a:ext cx="1600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Next.js + Prisma + MySQL 已通過 build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Dashboard / Alerts / Backtests 已串接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4E9C4F-2E31-484A-A3F3-1F9F4E6D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3429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D1AF06-1149-4153-BB26-95B346A8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F22DE0-680F-4B21-A948-E4B23869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36004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A - 請替換姓名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0A0B88-7977-4E53-A2A3-0C3B70EC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43350"/>
            <a:ext cx="2952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資料庫重建與 Prisma schema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股票與市場資料 API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FinLab 匯入與資料維護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2086DF-9557-48CA-A00C-BAE9090B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429000"/>
            <a:ext cx="3429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42BE84-AE93-42F5-82DA-BD17AE1E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4290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D885D5-F036-414C-B773-65A7F340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36004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B - 請替換姓名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62549D-F081-4974-BAA1-64F03612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3943350"/>
            <a:ext cx="2952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投資組合 domain 重構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交易與投資組合 UI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活動圖與資料儲存頁面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AE96C6-C7AE-4910-9BE2-6D01B663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3429000"/>
            <a:ext cx="3429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C910DD-FAE5-46F4-8A0C-EEF18545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34290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712934-6A31-4AAD-B728-0524316D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36004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C - 請替換姓名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602D8F-9E52-4B9D-8A7F-0009BFA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3943350"/>
            <a:ext cx="2952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警示與通知模組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策略與回測模組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使用案例圖、類別圖與設計模式頁面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747821-EF23-4564-AA31-F5FE6204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正式繳交前請將組員 A/B/C 替換為實際姓名與最終分工。</a:t>
            </a:r>
          </a:p>
        </p:txBody>
      </p:sp>
    </p:spTree>
    <p:extLst>
      <p:ext uri="{BB962C8B-B14F-4D97-AF65-F5344CB8AC3E}">
        <p14:creationId xmlns:p14="http://schemas.microsoft.com/office/powerpoint/2010/main" val="14376553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C79458-3D15-44E0-9C2F-7A54E93A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55BF8-4520-4033-9688-F2F5BBEA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D1220-039A-44F7-8D54-283B3E8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D0DB7-F0C2-418D-9E52-1E9044B2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29EF3-57A0-4AF0-80CB-60706CAF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7FE8C-1A70-40C5-8E2F-F9CD58DB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使用案例圖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5B5DC-534A-4795-88FF-6245C08B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本頁以圖形表示 actor、系統邊界與主要 use cases。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34D04-1912-4C1A-967C-E71DCB57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1676400"/>
            <a:ext cx="742950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21F2C-1E3A-485B-9972-089E3500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17716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E6B52"/>
                </a:solidFill>
              </a:defRPr>
            </a:pPr>
            <a:r>
              <a:rPr sz="1200" b="1">
                <a:solidFill>
                  <a:srgbClr val="0E6B52"/>
                </a:solidFill>
              </a:rPr>
              <a:t>System：股市投資組合、警示與策略回測平台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40B8A-F577-40BB-9F4D-E85571D2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0955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9F805-1BBF-4ADE-8884-47D55A01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24384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85C4D-95AE-446F-9C95-DCC251D1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2628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DB20C-296E-49BA-83BC-BBFD2CA8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7EEAB-4FF1-4CD6-B8BB-C0BEF0A6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6E252-08B1-477D-B148-4E44FF46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32575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5E9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BAC25-19BB-4493-AEB4-E78498F9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3528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投資者 / 使用者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BCE482-4366-4A3A-A151-C65D5EF8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3434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E6145-0FC8-4B39-A79A-7B750F6C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46863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9EB30-C130-4386-9E42-588437EA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48768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3CE99-C3AA-46FC-8946-57FAFA57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D9A49A-B10E-4C4F-BCED-769A3E75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5EF50-66C6-45AC-8F14-E586D279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5054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D6A0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77411-3CFB-4E6D-BA70-131B160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管理者 / 資料維護者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F0DC77-8690-4F11-814B-010E41D4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0" y="3143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72D32B-6B92-4A9E-87B8-2660E5DA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25175" y="348615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62BBF-BD65-457E-9A97-5228C943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0850" y="36766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B6F031-51D8-4105-BFEA-44A9E49B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1070610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B74F51-70DD-44B0-9996-C885F3A0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1068705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E42E8D-FC16-4170-B8AD-8832962F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430530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E57B6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5D05BF-F527-42CA-9FF6-761C78C1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44005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FinLab 資料來源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919426-1488-4120-8B1C-818124A4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03508D-2065-4784-9C35-F82B585C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查詢股票資訊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4E734-E3FA-44B4-A852-C7C2421B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2A599D-A167-47C6-B4D1-A4A3486F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管理自選股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049A26-F6CD-4CBD-8770-E4E8FD1D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2C6D69-CC9B-4BEB-8763-A328CA15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管理投資組合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B1DC9D-4388-4674-B10E-8525B4C6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912689-8F1F-4102-BB02-A7905811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記錄買進交易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7E422C-32AC-42F3-A1BA-C60CE5D7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5B2C9D-4A3E-4042-B8C3-F7731F7F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記錄賣出交易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00F7D5-3062-4C43-BDE0-70FAB2F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FEAFF1-3869-4165-BF0B-744DF4F5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建立警示規則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6AE70D-B363-4B09-9B53-D80A3F43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739AEF2-65D2-429F-B503-78407400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啟用 / 停用警示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3EF994-CAA5-4321-84CC-E6CCC5C5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2D4448-B370-4321-BC6B-5A5D297C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查看通知與已讀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1BCA49-8C7B-4946-B3F4-16D84D65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F886F-6755-400D-84D8-40C0F32B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執行策略回測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1C5C18C-8BAE-4C58-B048-E11216D3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4572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A0903E-3363-46E2-A579-9D4888D7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2400" y="4705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查看回測結果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C111CB8-2BE3-4A87-ABB6-8C36E81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4572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D015E-E3BC-4D2D-AC03-1B544DBD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9850" y="4705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更新市場資料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183048-FCE2-4B7F-9ECE-2CC1E44A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40030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B0256A-C1A0-466B-B950-8AAB889B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18135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A8D28A-88E9-42CE-ACEA-E93434E5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96240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813404-7459-4432-8797-7CCC78D7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762500"/>
            <a:ext cx="1066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A10040-7632-4F5D-9140-841D9264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63050" y="4762500"/>
            <a:ext cx="8763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8A4CEF-3133-4B77-944C-ADFF4945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53550" y="4762500"/>
            <a:ext cx="685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DDBF21-0BCB-4E96-BD87-53D4D551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主清單共 11 個 use cases，已涵蓋查詢、交易、警示、通知、回測與資料維護。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7CE5A1-09E1-49E4-B33D-23DCEF0C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60007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其中交易驗證與警示啟停能更明確展示 OOAD 的流程與物件責任。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40F155-4EC3-479C-A9BB-ACFE6363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7482349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5163F7-1911-4B87-953F-04856856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03F60-E5F0-4DA2-ADD8-2439F2B5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F22FC-427C-49F6-90D1-BBBC43D3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2927D-DAE9-4B60-87FE-92C31334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76F25-958A-4EEE-841A-F30E39FD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343D9-11CC-41C5-900B-9E21693B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最複雜使用案例的活動圖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3F395-394D-45B2-8E77-97888228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選定使用案例：執行策略回測。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7071F-AF06-4CAC-A0EA-7D0D9966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676400"/>
            <a:ext cx="14287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5A51B-B489-4E6B-BAD8-C406026A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771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開始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AAAF9-28E4-4B1E-8BDF-1FF802EF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2098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58B9B-8574-4729-87E2-E118995A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2860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輸入股票、區間、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均線參數與初始資金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73469-2B5E-4FDB-8A5F-7269EBAC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4290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82D43-BC42-47A8-AB3C-FEC62ACC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35052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載入歷史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股價資料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BEA0A-F8AD-44D9-8BEB-CCE81415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6863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61133-C758-4B74-8F09-AEE19A41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47625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建立策略物件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並計算指標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E82FE3-E76E-4822-8F71-DAB6108E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31495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A3C13C-4E4D-42FC-A604-D85DDCB3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539115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產生訊號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並模擬交易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CE637-42C7-4F70-854A-88149401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9436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E134D0-9AA8-4866-A7C6-A7B800D8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60198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計算績效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並顯示結果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BECD6-8DBA-404F-8399-3CEBD1EF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2114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2B308-6DDE-4EB5-81A1-5BE2FC93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28384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DAE9AD-A3EB-498F-B200-048EDC91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90512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參數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有效？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54539E-837F-4EF4-8B59-C03CE701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2766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D39A10-2BF7-4485-96F5-C9F5AD5A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9052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9BF6E2-5CB6-49EA-8C32-78108764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40576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A38D0B-4B88-4665-8BFF-04AD50AF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412432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歷史資料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足夠？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1E9D9A-E3EA-46B4-8834-85763F5B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45339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9DD886-0C87-4B69-BF4E-82BCF961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162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4FE282-BBD7-4678-80B0-90991D21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7912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473C82-458D-4CE9-968D-00AD4533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64008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F87153-7450-40BB-86A8-9F77BC45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34150"/>
            <a:ext cx="1390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12CB8-6659-4EB5-99A9-1DCE8E3B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8177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結束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ED5CB9-501E-4A78-A6C4-CA43A086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5E1FB2-FBB5-4CF5-8173-6DF912FD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D96D75-A23C-4283-927D-EC1E5956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289560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ECD605-5BF8-4CE7-A40E-EA8A3374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3257550"/>
            <a:ext cx="2209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顯示驗證錯誤，停止本次回測。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24A3ED-4073-4A24-8D12-78292E3C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30480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1DA14D-BA94-43AD-8010-D573BC40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F8BD11-900D-4280-9616-DC671230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7E3CD8-AC68-4E8C-921B-99D4FB25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114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06842F-8D82-4A37-BCC1-64D17A12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476750"/>
            <a:ext cx="2400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顯示資料不足訊息，使用者調整參數。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707238-EFAB-48E4-8FE2-801CEEB4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2672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869384-B5EF-4AC3-A6E6-A6B0E602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30480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AFFB63-4DCC-47EA-A5F3-7BEC99E1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30861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A33F90-B1BE-469B-AEE3-2D67F90D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2672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3F55FC-3CC7-4E24-9675-AD2B934D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2862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5F9369-834C-4D38-BBC1-33A88694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849482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010628-A8BC-4C78-B688-7C4CB2D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C0F31-A860-4D9E-ABFB-D359AB27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C4B6A-BE71-41E5-9FEF-6BA90193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7F697-30DC-4CCE-A003-067C4C64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04C6B-68A1-45C0-A49A-1AB27CFA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96FAF-6FB7-430A-B296-72977AE5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系統架構圖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20298-5C77-49CD-AC04-30FEB332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本頁說明主要元件、框架選擇，以及請求與回應的結構。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C2588-0295-46AA-B83F-C930B3B1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419350"/>
            <a:ext cx="1714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44990-89CD-47A1-A36E-31783085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628900"/>
            <a:ext cx="1485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27F0D-84A0-4CA4-99DB-A2C3CEFE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419350"/>
            <a:ext cx="1866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1A882-DE4A-48D0-94A1-8122E93F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2628900"/>
            <a:ext cx="1638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App Router 介面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6252F-E1AE-45D7-958D-2BF8F967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2419350"/>
            <a:ext cx="18288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4C233-DBD4-4CDF-A815-DA6A1E20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628900"/>
            <a:ext cx="1600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API Routes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61095-80FC-4271-B051-1BE81F21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2190750"/>
            <a:ext cx="19431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36512-A274-4C25-94D3-C27EBA9B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24003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領域層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 / Alerts /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1905C2-2BEA-4CC2-A603-9E79036A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241935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AA475-B019-4FF5-8292-C01675E1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262890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Prisma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FCCB29-0703-4DC8-9978-70C17C8A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377190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0BBAA4-4B4D-4451-BA15-817E5839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398145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MySQL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BF3D52-A5EE-4D19-B79B-F7F7BA7E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03CD10-FA87-417B-8357-23FA8307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D192C6-BFBD-4CF5-9A29-51B9F3C4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85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A7732-B518-4C29-9031-A17415FD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2724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49BDF4-CDD2-4BAD-9CDA-887133E1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744200" y="3352800"/>
            <a:ext cx="228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1A105-4F7E-48AE-ACA9-622B810B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11EFB7-AFAB-44A6-8DC7-05A84C5A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12A12D-1F07-4AC5-B92F-1CCBAC15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使用者認證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B22053-5112-4489-A554-0D8867AF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NextAuth 負責登入與 session，並保護 dashboard 頁面與 API。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CE9E63-ED3B-4D58-A5DB-12F47620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4629150"/>
            <a:ext cx="762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484640-EDC1-46CC-A9BF-0FCAB85E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2E8A06-B8E9-4A92-9686-05737C83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2B60AF-0751-4A98-A184-81D314E6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外部資料匯入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FE1F5C-9003-435E-B1B6-FC3BB9B0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FinLab 匯入腳本重建市場資料，並寫入 MySQL。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8B001B-5554-4F27-8366-88813FC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4629150"/>
            <a:ext cx="1143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3D19A0-86EB-4705-A5B1-DA6AD639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829300"/>
            <a:ext cx="571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請求路徑：瀏覽器 -&gt; UI -&gt; API -&gt; Domain -&gt; Prisma -&gt; MySQL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92C098-22DD-4ADE-988F-D781C37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57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使用框架：Next.js、Prisma、MySQL、NextAuth、FinLab 匯入腳本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22A04D-6354-4C87-B6E3-DA06E5C5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292693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4F160D-0038-472C-8577-E7842578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5B4B04-4942-4BF5-9952-27130C3D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8D97B-AF2C-4504-BF06-BE5C439D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4FEC3-C46E-4A00-BA11-06636CE3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B822A-7789-42F2-B6A4-DFA7F9EE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8D890-2151-43C6-974B-CF37DF7E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資料儲存設計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1324F-1B58-4F85-82B5-15216DFD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說明資料存在哪裡，以及執行時由哪些類別與服務存取。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3EAE8D-FA7A-44D3-8AC2-4168BFD3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9E373-EE24-4881-ADBF-0E5E4A9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2E1CB-90F2-4D18-B55B-0C4A1E9F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市場資料（MySQL）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3BE1C-1F6B-4952-A70F-78B86FAD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historicalprices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financialreports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dividends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 APIs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PortfolioPriceService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104B0-70AB-45E0-AC8E-B1CCD246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C2D9D-99FB-4640-B156-3062F424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D1C76-B4C8-4DDE-8A50-CFC46DA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使用者與投資組合資料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9958D-4A81-434B-AB60-7CC5A788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users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watchlistitems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Position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PortfolioTransaction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TransactionValidator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13F1E4-66A3-4948-ABAD-78327BAC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527127-42E8-4129-87F4-150A6BC6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ECEC64-03D4-48DD-90DB-969FACE9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規則與通知資料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2E71A-C858-456A-B0B7-37FA47D5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 hierarchy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AlertEvaluator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NotificationService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34F2B0-9505-4965-9B5E-D7E73356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F517CA-2A06-4CF4-AE24-DC07A8A3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06309-8463-46A8-942E-8D7F3BEA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策略與回測資料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F53B07-05DE-4122-956D-F345FBE8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backtestruns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backtesttrades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MovingAverageCrossStrategy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BacktestEngine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PerformanceReport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FFD32B-CB43-4E6E-891E-43A20076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期中檢查範圍的資料皆存於 MySQL，並透過 Prisma 與 domain services 存取。</a:t>
            </a:r>
          </a:p>
        </p:txBody>
      </p:sp>
    </p:spTree>
    <p:extLst>
      <p:ext uri="{BB962C8B-B14F-4D97-AF65-F5344CB8AC3E}">
        <p14:creationId xmlns:p14="http://schemas.microsoft.com/office/powerpoint/2010/main" val="12237625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D5CE11-2319-4155-B04A-4DB9A671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96983-BC0A-41E0-B044-34B3E9D5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3187A-A7A0-486F-9D63-5258C7AF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669CF-D542-42CE-A9A6-FD4ECCD0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9392ED-3962-4096-9481-C753B2EF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2CFE7-D1A9-4315-8464-B63489C8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使用者介面 Mockups / Prototype Screens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455FF-002F-4200-98B2-A442451D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以原型畫面說明導覽方式與資料呈現。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E43E9-8586-420E-A797-014BAAFD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3FE9F0-B9A1-45C6-A8A8-1045D81F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D8F0C-5820-4663-A227-37969F7E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儀表板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DB088-7EAE-4FCF-84AC-72434C72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5F14A-709E-457A-96C1-F1E2A812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E9628-44B1-4971-BDD3-29DF55CA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9DDD9-F65E-4D10-876A-FDF261E9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61C5C8-4BBC-4801-9B48-F683E76B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8D21C-8F72-4943-8CC7-647550F9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67C01-B058-40CA-BAC1-701A33B7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041DB3-31EE-4BE2-916B-F2637181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FEA00-B439-40AC-94B6-EF6BE1FB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17B50-C11E-43BB-820A-A6B20DDE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個股詳情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33F706-DEFE-4008-BD2B-738F9CA5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1E6CD0-9316-4234-B98D-1D07F1BE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689E1-CBFC-4676-9180-8B569FEE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E93ECE-95D7-4428-8837-FDA8432B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E42FDB-71DB-429B-9CB0-BF743A59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F51125-C80E-4B95-89BD-E937177E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4F8798-5529-43DE-8996-E1E8CF4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610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F33466-6DA7-4E51-837A-AA2903CD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E967A8-207A-4190-A3C3-8B242721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E593E2-7343-45EE-882A-34D56EF0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492711-A022-4486-AE56-C877D290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警示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8EFEF7-42F7-42E0-A0ED-2307E3A9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C20F1E-FC7D-4918-BB26-6D9CDA47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D7A033-5D11-44AB-95B0-209E5414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5B3B55-C771-4C75-9202-F1490491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A8F96C-BFA8-430E-A6F1-937D92B1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F54831-5E1D-41F5-B16D-445FEB44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7A604C-CAF0-4CC9-8680-7D2116C0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B6873F-9BD5-4A55-BEA0-5437CF8F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E38F16-47E9-454B-B6BA-4234F809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B97815-8420-4CA4-BA2F-79A0ACCE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回測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7C9E7A-EDF9-447E-A78F-081EAA0F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84B366-5901-4094-93F8-1F850004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BC96EE-D187-4110-86C9-224BC3B6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086841-94E1-4382-A41D-AEDF705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F1ECD4-3FDC-432E-B785-631A215F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68A284-1F11-450F-907F-702D416A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8C5F7C6-61A2-474C-8F5D-60DF1DCC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D87CCC2-0A90-435F-8FC3-B6D2013C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89C2C98-342A-4364-93F0-83B7EEA8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D1A15B-CDA2-46BD-898C-5FBFA153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導覽邏輯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F181DE-BD4A-49D5-BBD2-B5A10B51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側邊欄提供 dashboard、stocks、watchlist、portfolios、alerts、backtests 等路由。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6B62642-19EC-4CA2-8591-224F11B5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71DF9F-8921-40F8-A1D9-5347A7B9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B238B8A-9F9A-4D13-AD2B-9E377E5C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資料呈現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3D8153-F0F2-4146-A1C0-EB5E8E94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價格、財報、警示規則、equity curve 與交易紀錄以卡片、圖表與表格呈現。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0D071F-3DC1-40C0-B1E5-AE7F13A1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97BA319-3C01-43E1-8601-A2A54421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995C020-A96B-46D6-A8CF-5BE0F47C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主要使用路徑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ABCD3C-5B63-4680-ABB7-C4C1231E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使用者可從個股詳情頁直接建立警示，或執行策略回測。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5389998-86F1-477D-BF80-EF089BDE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若時間允許，正式繳交前可替換為 localhost 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0452499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44A04C-3CC3-456A-BBEF-314B3768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811C4-3224-4CE1-8E39-ACE73A7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C115F-6E60-45DA-9946-B79CF81E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323C5-4213-48F1-9EFB-B682613D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13D89-28E7-474F-A1F1-19A7733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99F53-0754-46D6-A493-313990EC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A - 投資組合領域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FF10F-F042-447A-80B6-B2D2734C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本圖說明投資組合計算如何從 route handler 移入 domain objects。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27CA4-2FE2-40A2-8805-432E7A04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EBF0E-A89E-49F3-9D98-44F1B4E6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78186-B4EB-4CB9-B7AB-BC28D291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095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4ACD7E-2FBA-43CA-97F1-94DDC126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5DF1B3-0B19-4510-AA86-A5851FFE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55270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email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0DC8F-07C0-46D9-83EF-6B7992C0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2575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3FD15-0370-468A-B7A3-B82E7042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337185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createPortfolio()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viewSummary()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B8DF7-8D69-47DC-B0E9-5C1DF7C3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7D7315-1D6D-4AD9-A5AB-EC7A17D5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98C9C-3E3E-44EC-97D7-29718BA3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4ED42-C77A-45B6-82FE-53828C8D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271ED6-9952-4FC2-BC4F-294D4870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portfolioId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transactions[]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positions[]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488183-27CE-4C3C-828A-968327F5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9A7251-EB95-4A8F-91D5-45DC12E4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buildPositions()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createSnapshot()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getSummary()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4E783E-C90E-4DA5-8E97-A4DB72DC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1D3B71-18D5-4D84-8E9E-C3E91DB5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2F96C2-75A0-43F7-969C-F20CBF13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74819A-B695-4B66-BEB1-4EB75FBB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418BEC-284E-4F8A-A8CC-BB3ED54F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averageCost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realizedPnl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CD32F4-63D1-46FB-8750-E351E1A6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0E4594-6874-4058-9930-60BA7CC7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getMarketValue()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getUnrealizedPnl()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0D0446-30FF-4906-BCF2-153B250F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03449A-E456-487B-B939-E146DC0F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5E43EB-47EA-4B0D-BD7C-AFF4EA7B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8097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BC6E57-7254-4A2E-B405-EE6DBA26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215265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6BDBFE-090F-4B7E-B1EE-D2E1354A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266950"/>
            <a:ext cx="2324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pricePerShare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commission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20FD3B-9C3B-4C12-8895-1D9873ED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31470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C64FAE-0628-421F-884C-9A2F9BC7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4290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getGrossAmount()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getNetAmount()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994CFA-754C-435A-A24E-29A705B3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B0CA05-0B97-49D8-BB0E-4B53D2C2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300904-8AB4-42E6-A2E5-484A7CBA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TransactionValidator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4E64BA-ECE5-4B1D-BA43-658BB536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992956-5A5C-476F-BE8A-C107D89E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normalizeInput()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validateSell()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C07033-C681-4E09-A197-E5C0A689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71551E-F8F2-427E-A346-926BAA9D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canSell()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validateRequiredFields()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E73B6C-FD94-4752-98E4-7FCB2BCE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2F4A59-1024-4A57-8C49-B0E91E32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488068-91F7-4F23-9C45-0D6ABA07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D6CA6C-BEE8-4018-A48C-C87A8222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105E1E-DC77-4C18-9257-9E6CC10A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getLatestPrices()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4BC3857-4F5B-4822-B498-7430B3F8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911CDF-9828-4A29-BB13-51B8EB9B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mapPricesToPositions()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78933B6-2AE4-4EF3-894B-E0879660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4574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4545FC-F230-4ECB-9711-3D9B36D6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2860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擁有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645366-32CF-4124-B83A-7D61D0B8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457450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8CC627-A09C-4AA0-9E1A-BA87D222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286000"/>
            <a:ext cx="533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07C648-CAA4-4349-8CA9-B84A8858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8650" y="2457450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608952-0B4D-45AB-A954-D08525D7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22860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A5BE44-A609-4333-957B-E77B17E9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482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2FA95D4-61BD-4538-BA6E-297F5D5B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771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A43B22-C906-455F-A92E-67DC512B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61722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Portfolio 會聚合交易、建立持股部位，並產生摘要快照。</a:t>
            </a:r>
          </a:p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重構後 route handler 變薄，物件責任也更清楚。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E83704-E207-4F93-BB76-2A723509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3711684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CAE54F-21FB-47B3-A9D4-90BBF4D8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EFC4C-38D5-471E-B339-79C3F348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CD511-2F0D-4101-B5CB-7AEBA0B8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27AF2-E854-476A-BA3E-42E76AF1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665DD-B185-43E0-856C-C1F8D374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9E0A3-77CD-4A31-A979-D62A78B1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B - 警示與回測領域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698B26-1D08-494F-A4BF-6438AFE7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這兩個新增領域是本專題超越 CRUD 的主要證據。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03BF6-4D6E-4364-82A7-1A58C490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209550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FD9E4-B41F-4E03-BE2A-C18789BA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9741A-AD9E-4D84-AFE2-B67A2C9B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859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 &lt;&lt;abstract&gt;&gt;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41FA6-6736-4A07-B629-F1C593FF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22885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EBF4D-D357-41AC-BB19-877996AE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3431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thresholdValue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isActive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6B8E3-74DB-48E2-BCED-AADB2C1C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4800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1380E-9F8F-466D-A490-C90BBB8D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162300"/>
            <a:ext cx="1733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isTriggered(snapshot)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getConditionLabel()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buildNotification()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4D5B1-0F46-49C9-907C-53F035E1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01CBC-DD61-4ECC-9964-395BEE71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AF27F8-67C2-437A-80E2-B99B0976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188595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PriceAbove / Below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PercentChangeUp / Down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51F97C-792A-4E11-8A09-B51B618F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3622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116A0-3F5F-4B85-8FE3-1C2A1A0B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247650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concrete rule fields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5AF855-F535-4D2C-9E9F-95727FB0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0861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A69E49-1210-48BF-AFB7-1DE69087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32004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override isTriggered()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B85B9-B657-43D8-B8C5-31B8752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620B62-E73F-4A98-AA58-ABB3A748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B8C5AD-9178-4472-8604-30816BEE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AlertEvaluator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B45553-4E90-40DA-8DC6-B643C33B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07B00-F794-4FD3-9F4B-2ACA8D9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evaluate(rules, snapshots)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B75A10-613A-4E55-B225-A1B85394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85CCAF-6A47-4502-A8E2-E3AEB5C6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skip duplicate trigger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 notifications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4F081C-75FD-4C8D-9448-3ABD5E05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29A601-3BAC-434C-851D-88F8BC0D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E73C62-CCE1-4676-93C1-9FB6F8A8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NotificationService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D934D4-8A71-4DB5-B08E-5A1C679C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B26EF8-2268-4FB5-B995-F6AA869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persistTriggeredAlerts()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C7B441-8437-40E2-9725-77D04C22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D2FD2E-031D-4F1F-B138-3F676964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update lastTriggeredDate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030446-69B7-4972-81BA-5DC70C9E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20955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DCFEF8-141B-46D6-9219-60ECD787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1A7CC7-FD39-4F61-A00A-70035326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188595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Market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Snapshot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0AE6E7-B6EC-4CB9-9913-F21272D1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23622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AB5B21-9235-4FC4-8DAF-5912C1FF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2476500"/>
            <a:ext cx="118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currentPrice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previousClose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54ECE6-B775-4FC9-B913-FF8DA3D6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30861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C8A1B0-1070-45D0-B1F6-30E3A972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3200400"/>
            <a:ext cx="1181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getPercentChange()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E81C2E-3764-4A93-8AA4-B9024E48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047244-BA3F-4A42-8010-73ED89C7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0D236F-E277-4327-A7CE-5E0F2E77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476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MovingAverageCross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ED9530-86DC-4E86-B065-C8CB6C07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9530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0E8C77-B2EA-43AC-947A-9CE456AD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067300"/>
            <a:ext cx="2114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shortWindow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longWindow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B48FB0-8379-445C-900A-A7E919D8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56769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AA4B29-D726-41FF-BD62-7F8BCC91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79120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generateSignals(priceSeries)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4DF2AD-A286-4948-9628-001D7511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978539-878B-4EA2-A0FC-0C8BA41B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2ED659-34DC-4D9A-AA60-D523D59C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476750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68D184-61D1-411D-9E49-BE8244DF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48196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F10B694-37AD-46E5-888E-0C0743B7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933950"/>
            <a:ext cx="182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run(strategy, priceSeries,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  initialCapital)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9277AF-7C18-4235-9395-542F6780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5435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1566289-EA64-40D1-B6B1-B236EBCC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56578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simulate trades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 equity curve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876CE95-25FA-45D0-A98E-995616AD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82325D6-82ED-43AF-AA73-26DAA75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6550D4-F810-475F-A01F-BA8B7209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476750"/>
            <a:ext cx="1638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BacktestTrade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556DA46-314F-4768-8C8A-06F2BDF0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8196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14D06DF-255A-4903-BC08-01AA36BD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933950"/>
            <a:ext cx="1638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tradeDate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6585B0-EABF-4190-AC3B-C90B557C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58102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8F53B7-03EF-4BF7-941A-F7697FE9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5924550"/>
            <a:ext cx="1638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toPersistence()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A381E15-47DD-4C13-B957-4D7E2A87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DAA0B46-4D63-41A0-8506-5E22A62F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B1420D9-F107-4BEF-B255-70A6AEE8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4767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PerformanceReport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D2FF42-F334-456A-A73D-E50733F5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48196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E89CF3-1134-4314-A244-543991D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93395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totalReturnPercent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maxDrawdownPercent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winRatePercent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B9A85F-A7E3-4FDB-A64F-E3D5F0F9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56388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8F85D7-EB0D-4E49-9020-40807EA9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57531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fromBacktest()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19C693-D8D0-463B-925B-3E9EF1E7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6098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F5A6D93-570F-42B5-9066-FE62C1C7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4384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繼承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F7F7B40-0BDC-4B2A-871D-2D711505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0C63605-9DC1-4E3E-B96E-060D8F0E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B284F23-D7C2-476F-9F16-85202F55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0437FA0-6133-4F72-8F1F-7629A64D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8FA3EF6-AED2-4AA3-8DB9-F0D254A7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609850"/>
            <a:ext cx="304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A4F6D43-E95A-4941-8717-02D5EE50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44050" y="2438400"/>
            <a:ext cx="495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讀取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1870DD2-05DE-4AA8-BAB6-672697C2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520065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E6A9949-98A7-491D-B5CD-E95D0C2D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4300" y="502920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執行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A8BC8B3-4F19-469D-99F5-38A7248C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52006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831054A-C296-46AF-B175-6EFCEA15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50292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61712BF-92AD-4A02-A58F-73BAF1B6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52006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785B7EE-AC4F-4FD5-B9BE-E18D6C38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0" y="502920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產生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1007240-923E-42AE-8DEF-093680B9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本頁是主要 OOAD 證據：抽象規則、具體策略、回測引擎與報告物件。</a:t>
            </a:r>
          </a:p>
        </p:txBody>
      </p:sp>
    </p:spTree>
    <p:extLst>
      <p:ext uri="{BB962C8B-B14F-4D97-AF65-F5344CB8AC3E}">
        <p14:creationId xmlns:p14="http://schemas.microsoft.com/office/powerpoint/2010/main" val="12930421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C38E45-A063-45CF-A286-2F645AA4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ED923-F372-4CA7-B26C-40841869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ACBAB-65F1-4917-AFCF-480C74FE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D553E-A138-4BD6-B209-F4F7CD8B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C0302-0145-49B3-A1BC-6847F946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A1A96F-6371-4EBC-97AD-AE7170C4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1 - Strategy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682CD4-7941-4E3E-9ACA-F0C99EA8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說明設計意圖、實際使用位置，以及對原型的影響。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327ED-416F-4BB4-86E1-4BF01096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382905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ACA5C-BD2E-4FC4-B2AE-6AA8A967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E4028-3FE9-4609-B548-F4AA4584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070BD-DC08-4880-A47C-8CC5460E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5908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把可替換的演算法封裝在共同介面後面，讓主要執行流程不依賴特定實作。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因此系統可以切換行為，而不必修改 controller 或 service 的主流程。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956F4-6522-4F20-9245-5C8EDC1C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382905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8C614-F772-4EA8-A17B-1780BCFC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13751-EF8E-4EBA-80D5-F757CF6A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4400" y="20383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030FC8-4DA8-432B-8DA7-099F460D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400300"/>
            <a:ext cx="2667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警示規則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AlertRule -&gt; PriceAboveAlertRule / PriceBelowAlertRule / PercentChange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回測策略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MovingAverageCrossStrategy 由 BacktestEngine 執行，未來可擴充 RSI 或突破策略。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B6D11-C847-406A-859C-77C9B461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38290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85334-5184-467D-A330-0EE3E6D8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061F29-D187-48D0-AF66-FAB8B752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20383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CFD846-40DC-4481-8154-3E543117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400300"/>
            <a:ext cx="2552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減少大型 if-else 判斷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提升擴充性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讓物件設計更明確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評估器與引擎可保持穩定，只替換演算法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78A12C-E67A-45FF-AB41-836C4A9F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38700"/>
            <a:ext cx="108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B08118-DD57-4086-AB76-D53D50A9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953000"/>
            <a:ext cx="1085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3119D-F72A-48A0-872A-48A5AF16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4972050"/>
            <a:ext cx="5524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895AA7-4A63-4B9E-A8C4-1972627B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6863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879C00-1A70-4EE2-95D0-D3C80BAD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7720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D955C-783E-4DF6-B9F9-370CD07E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054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51525E-3F72-447A-90C1-2BD363AD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911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ECD1C5-2D93-4B41-8683-88665F76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5591357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3BEFF7-4FCF-48CF-B2D4-4E0E2062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6007C-4563-4B63-962B-EFEB7EC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F5A1E-7963-4F24-9643-620389E9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2E98A-F37A-40E3-97F2-28B98C9B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E27A3-3AF5-4E1F-97AB-8AA31A4F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B03FA-8318-449F-A6F4-A1836108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2 - Factory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E539BA-09F8-4ACA-BB63-56616AAB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設計模式必須對專題有實際作用，而不是只在理論上提到。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BE04A-B042-46F6-AEDF-8171F6D7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37909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9078B-2088-4B99-9195-76B2877A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03355-1F3C-43BA-B7D9-9EB7B1B7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B8658-8CFF-4E30-B3DD-2E436B8A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647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集中物件建立邏輯，讓上層不直接依賴具體類別。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API layer 不應該自己判斷要建立哪一種具體警示規則物件。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BB681-E874-44CC-9C9A-82FBF0C1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37909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D42B4-5D33-4E4A-AD6D-66D8531D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A31C3-D9C4-4AAF-9B33-A63EA7F6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20383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338E6-A3ED-4AB3-8B43-98945153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400300"/>
            <a:ext cx="28003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Function: createAlertRule(...)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Input: 資料庫中的 alert rule record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Output: 具體 AlertRule object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在評估前，先把儲存設定轉成可執行的 domain object。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5F979-D18B-47FA-881D-962BBAAC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3790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2622DC-05C5-4957-B470-133F0632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8597A3-5144-428B-BDDF-764121B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383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EF8774-F7A8-4348-878C-EE611144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0150" y="2400300"/>
            <a:ext cx="2514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API code 保持簡潔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物件建立邏輯可重用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更容易新增規則類型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未來可擴充為 StrategyFactory，支援多種回測策略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CCC53-A793-4F51-8E44-71F3D4D9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61010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DC822-9500-4F27-8016-EB3B8785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7244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DB 規則紀錄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288ECB-5BD3-4FB1-BD5C-4C072F2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555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B461E4-341A-472F-B21C-40263637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514850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275861-8014-40CB-8823-B3CC0F1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6672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createAlertRule(...)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1BD88F-58DE-4F00-8C5C-711A923A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876E5-DFD2-41D5-8249-E96DC417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0055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3A3F1-D903-41A9-BEDF-312E6124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9580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PriceAboveAlertRule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FDBA37-3E7D-4EE2-AF6E-BBFE2B57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87680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7A6408-43B3-433F-9596-53EBAA3F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97205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PercentChangeUpAlertRule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7FCA60-C356-44BD-A7B8-2671405B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2183150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F7909F-D40C-4708-AD54-0113BBBB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51A34-4042-4148-B655-F345A12D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8472C-E1A9-43FB-B856-F8041E23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63942-7C78-478B-80EA-C72FEAD0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3F58F-AA5A-46F4-B4A2-656932A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D6451-5422-4C42-8398-F7BD3555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結論與下一步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F5965-4FBE-43F3-9A21-FFB0B0A5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用已完成修正與後續方向收束本次期中檢查。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BBEBD-AAD9-4578-8A05-5C9D9F23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93F8B-0AF7-4E92-A2A8-649DE91E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EFFAF-6FF7-466E-9974-7DCD501F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期中檢查結論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320FA-5D59-4749-BDF5-F4CF7650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本專題已從資料查詢網站，提升為規則與策略驅動的投資分析平台。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目前能展示物件責任、領域建模、可繪製圖表的架構，以及設計模式的實際效果。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1F4A7-4290-4D31-9313-A598DDC9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AA9F7-CDCA-4CB1-8E87-706D008C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CEDB4-9D98-485A-869F-2A7D39C8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已完成內容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68C234-AAA7-4CE4-A5FA-2B171871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MySQL 已重建並整合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Portfolio Domain 已重構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已新增警示與通知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已新增移動平均回測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已整理為 11 個主要 use cases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164FCA-65F6-4CA0-95DA-5CB320C3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B68840-1185-432E-93F6-9DB7A498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D7527-0B2B-4666-A4E3-3147AD99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下一步開發方向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905ED-409E-4F1B-9864-B97FFAC3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新增 RSI 等更多策略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加入排程式警示評估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比較多組回測參數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替換正式截圖與組員姓名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C75B66-C7E0-45CD-9255-7E0391BD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5105400"/>
            <a:ext cx="90868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714F6-A483-4D0D-8B9F-E597C42C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5391150"/>
            <a:ext cx="847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本次報告重點：</a:t>
            </a:r>
          </a:p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我們不只展示系統能做什麼，也展示物件導向分析與設計如何組織整個系統。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241B23-29CF-4C41-BF5C-3580146E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本版之後建議替換組員姓名，並從實際可運行原型匯出正式截圖。</a:t>
            </a:r>
          </a:p>
        </p:txBody>
      </p:sp>
    </p:spTree>
    <p:extLst>
      <p:ext uri="{BB962C8B-B14F-4D97-AF65-F5344CB8AC3E}">
        <p14:creationId xmlns:p14="http://schemas.microsoft.com/office/powerpoint/2010/main" val="15944792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511747-9B20-4156-8D70-82BC561B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DB330-B012-457E-9EE0-64BA079B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29864-72B6-41F7-B7D2-752752C3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36858-1DF5-40F9-ACF0-68EA31EE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D7271-BEE6-4FD2-B5F6-2C466F19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6B994-6C2F-42E3-8F07-2CD3BA06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候選 Use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A8A70-EC23-457E-AC45-83DDC5EE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作為備援清單，避免現場若有 use case 被認定過大或過小時缺少替換項目。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11A9B-EEF7-48FD-B3CB-B733CCAE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91373D-06CA-47E8-8C68-C5F561F6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CF745-02A1-4A1F-9EB3-9C70A25E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ALT01 刪除警示規則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900D66-F70A-4D0D-A962-B8C64ACE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可替換 alert lifecycle 相關項目，獨立性高。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7778A-794A-457E-B7DA-5BE2CA6E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E5C31-E510-4DE6-80D4-6E724DCC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77888-F807-4020-B1D4-F4FBEF6E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ALT02 查看投資組合摘要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D5496-0540-418B-A9FF-3BE3AFAA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若老師認為「管理投資組合」太泛，可改用此任務。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5A6BE-74D4-4B6F-B9ED-65066C96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69F44-D1F3-4A1F-B48E-38BA673F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CFC86E-CFAF-4F74-9B7E-977C566F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ALT03 查看投資組合交易紀錄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7E9FD-5AE6-429B-8131-8E7CBBAE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可用來替換較偏管理者或系統型的 use case。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2B917-DF62-48AD-B8A9-52131E87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AB74B-5D4B-446D-92AD-C0FA5E6C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147C06-5777-42A6-95F6-F882E561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01955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ALT04 手動執行警示評估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EE9159-5F97-4EC3-BCA8-77FB278F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38150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直接對應 evaluate route，能展示規則批次評估流程。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21BDBE-C515-4229-80D2-54F55B83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77288A-4B69-4315-8B2D-70583421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C2F351-DDA6-4965-BCE8-0BD6DBF4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019550"/>
            <a:ext cx="426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ALT05 比較不同回測參數結果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26519-7599-4904-BB48-8F92D70F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381500"/>
            <a:ext cx="4267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尚未完成。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若後續補做成功，最適合提升策略與報告物件的複雜度。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121963-C85D-4482-A5F4-C363E99A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5810250"/>
            <a:ext cx="1076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替換建議：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1. 若「查看通知與標記已讀」太像結果頁，可改成「手動執行警示評估」。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2. 若「管理投資組合」太大，可拆成「查看投資組合摘要」。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3. 若「更新市場資料」太偏維護，可改成「查看投資組合交易紀錄」。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04C146-8ABF-4B6C-B93C-2A321CA9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此頁可放在最後作為口頭備援，不一定要逐項詳細講解。</a:t>
            </a:r>
          </a:p>
        </p:txBody>
      </p:sp>
    </p:spTree>
    <p:extLst>
      <p:ext uri="{BB962C8B-B14F-4D97-AF65-F5344CB8AC3E}">
        <p14:creationId xmlns:p14="http://schemas.microsoft.com/office/powerpoint/2010/main" val="19447848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2026-05-01T09:31:45.6000000Z</dcterms:created>
  <dcterms:modified xsi:type="dcterms:W3CDTF">2026-05-01T09:31:45.6000000Z</dcterms:modified>
</coreProperties>
</file>