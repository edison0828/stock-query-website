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ae66762df774d46" /><Relationship Type="http://schemas.openxmlformats.org/officeDocument/2006/relationships/extended-properties" Target="/docProps/app.xml" Id="R38c377ca15e14363" /><Relationship Type="http://schemas.openxmlformats.org/officeDocument/2006/relationships/officeDocument" Target="/ppt/presentation.xml" Id="R6e49b3431e634d7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9c1a3c29f7a4017"/>
  </p:sldMasterIdLst>
  <p:notesMasterIdLst>
    <p:notesMasterId xmlns:r="http://schemas.openxmlformats.org/officeDocument/2006/relationships" r:id="Rd90ae9d2bfbf4984"/>
  </p:notesMasterIdLst>
  <p:sldIdLst>
    <p:sldId xmlns:r="http://schemas.openxmlformats.org/officeDocument/2006/relationships" id="256" r:id="R4e2ab2a2be5d44ce"/>
    <p:sldId xmlns:r="http://schemas.openxmlformats.org/officeDocument/2006/relationships" id="257" r:id="Reff4039a21ef487b"/>
    <p:sldId xmlns:r="http://schemas.openxmlformats.org/officeDocument/2006/relationships" id="258" r:id="R1a5d71a24d85471a"/>
    <p:sldId xmlns:r="http://schemas.openxmlformats.org/officeDocument/2006/relationships" id="259" r:id="R5db51cc4f3f640ce"/>
    <p:sldId xmlns:r="http://schemas.openxmlformats.org/officeDocument/2006/relationships" id="260" r:id="R652d5727359c47c4"/>
    <p:sldId xmlns:r="http://schemas.openxmlformats.org/officeDocument/2006/relationships" id="261" r:id="R23ce6c02850244b8"/>
    <p:sldId xmlns:r="http://schemas.openxmlformats.org/officeDocument/2006/relationships" id="262" r:id="R81bf828922db4e43"/>
    <p:sldId xmlns:r="http://schemas.openxmlformats.org/officeDocument/2006/relationships" id="263" r:id="R2eb8291ebe6849a5"/>
    <p:sldId xmlns:r="http://schemas.openxmlformats.org/officeDocument/2006/relationships" id="264" r:id="Rc255826ed7234a8f"/>
    <p:sldId xmlns:r="http://schemas.openxmlformats.org/officeDocument/2006/relationships" id="265" r:id="R6b5671285cb54c05"/>
    <p:sldId xmlns:r="http://schemas.openxmlformats.org/officeDocument/2006/relationships" id="266" r:id="R2d499803f69243b0"/>
    <p:sldId xmlns:r="http://schemas.openxmlformats.org/officeDocument/2006/relationships" id="267" r:id="Rdf70c3db977f46d4"/>
    <p:sldId xmlns:r="http://schemas.openxmlformats.org/officeDocument/2006/relationships" id="268" r:id="R397a5874d1414079"/>
    <p:sldId xmlns:r="http://schemas.openxmlformats.org/officeDocument/2006/relationships" id="269" r:id="R833e663142884bd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c1a3c29f7a4017" /><Relationship Type="http://schemas.openxmlformats.org/officeDocument/2006/relationships/theme" Target="/ppt/theme/theme1.xml" Id="R526429eafab346b4" /><Relationship Type="http://schemas.openxmlformats.org/officeDocument/2006/relationships/notesMaster" Target="/ppt/notesMasters/notesMaster1.xml" Id="Rd90ae9d2bfbf4984" /><Relationship Type="http://schemas.openxmlformats.org/officeDocument/2006/relationships/presProps" Target="/ppt/presProps.xml" Id="Rbf64a336f2b8458c" /><Relationship Type="http://schemas.openxmlformats.org/officeDocument/2006/relationships/viewProps" Target="/ppt/viewProps.xml" Id="R7c4ced5fdeb9435a" /><Relationship Type="http://schemas.openxmlformats.org/officeDocument/2006/relationships/tableStyles" Target="/ppt/tableStyles.xml" Id="R47f851562c8d4192" /><Relationship Type="http://schemas.openxmlformats.org/officeDocument/2006/relationships/slide" Target="/ppt/slides/slide1.xml" Id="R4e2ab2a2be5d44ce" /><Relationship Type="http://schemas.openxmlformats.org/officeDocument/2006/relationships/slide" Target="/ppt/slides/slide2.xml" Id="Reff4039a21ef487b" /><Relationship Type="http://schemas.openxmlformats.org/officeDocument/2006/relationships/slide" Target="/ppt/slides/slide3.xml" Id="R1a5d71a24d85471a" /><Relationship Type="http://schemas.openxmlformats.org/officeDocument/2006/relationships/slide" Target="/ppt/slides/slide4.xml" Id="R5db51cc4f3f640ce" /><Relationship Type="http://schemas.openxmlformats.org/officeDocument/2006/relationships/slide" Target="/ppt/slides/slide5.xml" Id="R652d5727359c47c4" /><Relationship Type="http://schemas.openxmlformats.org/officeDocument/2006/relationships/slide" Target="/ppt/slides/slide6.xml" Id="R23ce6c02850244b8" /><Relationship Type="http://schemas.openxmlformats.org/officeDocument/2006/relationships/slide" Target="/ppt/slides/slide7.xml" Id="R81bf828922db4e43" /><Relationship Type="http://schemas.openxmlformats.org/officeDocument/2006/relationships/slide" Target="/ppt/slides/slide8.xml" Id="R2eb8291ebe6849a5" /><Relationship Type="http://schemas.openxmlformats.org/officeDocument/2006/relationships/slide" Target="/ppt/slides/slide9.xml" Id="Rc255826ed7234a8f" /><Relationship Type="http://schemas.openxmlformats.org/officeDocument/2006/relationships/slide" Target="/ppt/slides/slide10.xml" Id="R6b5671285cb54c05" /><Relationship Type="http://schemas.openxmlformats.org/officeDocument/2006/relationships/slide" Target="/ppt/slides/slide11.xml" Id="R2d499803f69243b0" /><Relationship Type="http://schemas.openxmlformats.org/officeDocument/2006/relationships/slide" Target="/ppt/slides/slide12.xml" Id="Rdf70c3db977f46d4" /><Relationship Type="http://schemas.openxmlformats.org/officeDocument/2006/relationships/slide" Target="/ppt/slides/slide13.xml" Id="R397a5874d1414079" /><Relationship Type="http://schemas.openxmlformats.org/officeDocument/2006/relationships/slide" Target="/ppt/slides/slide14.xml" Id="R833e663142884bd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7ad161d8fec2470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c74300762c140c1" /><Relationship Type="http://schemas.openxmlformats.org/officeDocument/2006/relationships/notesMaster" Target="/ppt/notesMasters/notesMaster1.xml" Id="R8972545fbae04fd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35ff31911ec4c78" /><Relationship Type="http://schemas.openxmlformats.org/officeDocument/2006/relationships/notesMaster" Target="/ppt/notesMasters/notesMaster1.xml" Id="R87c4c5d3c7e84e9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f63c6dbdf954189" /><Relationship Type="http://schemas.openxmlformats.org/officeDocument/2006/relationships/notesMaster" Target="/ppt/notesMasters/notesMaster1.xml" Id="Ra9cf417827b2493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548fb75ab154966" /><Relationship Type="http://schemas.openxmlformats.org/officeDocument/2006/relationships/notesMaster" Target="/ppt/notesMasters/notesMaster1.xml" Id="R0918aad5f2df41b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158c42146d241e7" /><Relationship Type="http://schemas.openxmlformats.org/officeDocument/2006/relationships/notesMaster" Target="/ppt/notesMasters/notesMaster1.xml" Id="Ree462a27ff8e44e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d4c20599d784e24" /><Relationship Type="http://schemas.openxmlformats.org/officeDocument/2006/relationships/notesMaster" Target="/ppt/notesMasters/notesMaster1.xml" Id="R880cffff72124ec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600229a36a244bd" /><Relationship Type="http://schemas.openxmlformats.org/officeDocument/2006/relationships/notesMaster" Target="/ppt/notesMasters/notesMaster1.xml" Id="Rb23b9716506c4b2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6f0f51733b74f94" /><Relationship Type="http://schemas.openxmlformats.org/officeDocument/2006/relationships/notesMaster" Target="/ppt/notesMasters/notesMaster1.xml" Id="R3ffbd0bbd66b458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33acf705a914298" /><Relationship Type="http://schemas.openxmlformats.org/officeDocument/2006/relationships/notesMaster" Target="/ppt/notesMasters/notesMaster1.xml" Id="R85fe6ff14af1434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1ed8153fb584495" /><Relationship Type="http://schemas.openxmlformats.org/officeDocument/2006/relationships/notesMaster" Target="/ppt/notesMasters/notesMaster1.xml" Id="Rdd9ec462093c4a7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3cdcd41d9dc4676" /><Relationship Type="http://schemas.openxmlformats.org/officeDocument/2006/relationships/notesMaster" Target="/ppt/notesMasters/notesMaster1.xml" Id="Rdf8f012a383b496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63b037a8068411f" /><Relationship Type="http://schemas.openxmlformats.org/officeDocument/2006/relationships/notesMaster" Target="/ppt/notesMasters/notesMaster1.xml" Id="R5a3a1e1f2b754c2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15fc7d8119d4ac2" /><Relationship Type="http://schemas.openxmlformats.org/officeDocument/2006/relationships/notesMaster" Target="/ppt/notesMasters/notesMaster1.xml" Id="Rb65afc3efa4f4ae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86dffc468814cd9" /><Relationship Type="http://schemas.openxmlformats.org/officeDocument/2006/relationships/notesMaster" Target="/ppt/notesMasters/notesMaster1.xml" Id="Rf1df7fc4ca5241b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開場說明專題名稱、修正方向，以及目前三個核心領域。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說明我們不是只增加頁面，而是透過規則、策略與 domain objects 提升 OOAD 複雜度。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說明近期完成內容，並提醒正式版需改成真實組員分工。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這次把使用案例圖從 8 個擴充為 11 個，將交易與警示生命週期拆成更具體的 user tasks，讓 use cases 更符合 OOAD 對功能獨立性的要求。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說明回測是目前最能展現系統複雜度的流程，因為它包含輸入驗證、資料檢查、策略物件、交易模擬與績效報告。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說明架構分層：前端只負責呈現與互動，API 呼叫 domain objects，資料透過 Prisma 存取 MySQL。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說明資料不是只有存在資料庫，而是由對應的領域物件與服務在執行時使用。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說明目前 UI 已可支援 dashboard、個股、警示與回測流程，正式版可以替換為實際系統截圖。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強調投資組合不只是資料表，而是由 Portfolio 聚合交易、Position、驗證與價格服務形成的物件模型。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說明警示用抽象 AlertRule 與多個具體規則，回測用 strategy 與 engine 分工，讓系統不是單純 CRUD。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 Strategy Pattern 不只是理論，而是用在警示規則與回測策略，解決未來擴充不同規則與策略的問題。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 Factory Pattern 負責把資料庫儲存的設定轉成正確的 AlertRule 物件，讓 API 不需要知道每個具體類別。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收尾時強調本次修正已回應老師對 CRUD 複雜度不足的提醒，後續會補更多策略、排程與正式畫面。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這一頁是備援 use cases。若老師現場質疑某一項不夠獨立，就從這頁挑一個已完成的候選項目立即替換。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9a18a5ff794a6c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70204b0db8394402" /><Relationship Type="http://schemas.openxmlformats.org/officeDocument/2006/relationships/slideLayout" Target="/ppt/slideLayouts/slideLayout2.xml" Id="R1f5249a46d394d0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f5249a46d394d0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3d0e142d7db402a" /><Relationship Type="http://schemas.openxmlformats.org/officeDocument/2006/relationships/notesSlide" Target="/ppt/notesSlides/notesSlide1.xml" Id="R125fd747dda745c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965c3f98c6c4cb9" /><Relationship Type="http://schemas.openxmlformats.org/officeDocument/2006/relationships/notesSlide" Target="/ppt/notesSlides/notesSlide2.xml" Id="Rd2578e55a95649d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ee8f57f008344d6" /><Relationship Type="http://schemas.openxmlformats.org/officeDocument/2006/relationships/notesSlide" Target="/ppt/notesSlides/notesSlide3.xml" Id="R1db5d24240ff418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21ed76135004cec" /><Relationship Type="http://schemas.openxmlformats.org/officeDocument/2006/relationships/notesSlide" Target="/ppt/notesSlides/notesSlide4.xml" Id="Rcc064f909466462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a85d30e83d54ea8" /><Relationship Type="http://schemas.openxmlformats.org/officeDocument/2006/relationships/notesSlide" Target="/ppt/notesSlides/notesSlide5.xml" Id="Rd9e432d065de441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53636d86294d1f" /><Relationship Type="http://schemas.openxmlformats.org/officeDocument/2006/relationships/notesSlide" Target="/ppt/notesSlides/notesSlide6.xml" Id="Rbe7afeee95cc4ca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d13230b7659480b" /><Relationship Type="http://schemas.openxmlformats.org/officeDocument/2006/relationships/notesSlide" Target="/ppt/notesSlides/notesSlide7.xml" Id="R0f10002b30b44b8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4f14425f004057" /><Relationship Type="http://schemas.openxmlformats.org/officeDocument/2006/relationships/notesSlide" Target="/ppt/notesSlides/notesSlide8.xml" Id="Rc93e8ee3b262453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86c0fd95e5b4045" /><Relationship Type="http://schemas.openxmlformats.org/officeDocument/2006/relationships/notesSlide" Target="/ppt/notesSlides/notesSlide9.xml" Id="Rea646bd7d926433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b03f5055c384773" /><Relationship Type="http://schemas.openxmlformats.org/officeDocument/2006/relationships/notesSlide" Target="/ppt/notesSlides/notesSlide10.xml" Id="Racf9bca8be7f4ef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52cac09096b4a47" /><Relationship Type="http://schemas.openxmlformats.org/officeDocument/2006/relationships/notesSlide" Target="/ppt/notesSlides/notesSlide11.xml" Id="Rdefe8d196ba04fc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6938042976d4080" /><Relationship Type="http://schemas.openxmlformats.org/officeDocument/2006/relationships/notesSlide" Target="/ppt/notesSlides/notesSlide12.xml" Id="Rd37f96ebe0434df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39b901d5214dcb" /><Relationship Type="http://schemas.openxmlformats.org/officeDocument/2006/relationships/notesSlide" Target="/ppt/notesSlides/notesSlide13.xml" Id="Re772ca89f5594da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8e2cfefd3c42bf" /><Relationship Type="http://schemas.openxmlformats.org/officeDocument/2006/relationships/notesSlide" Target="/ppt/notesSlides/notesSlide14.xml" Id="R7c2d9a3cfcec4b3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B13DD9F-7C2C-45F4-A455-1F7F449A6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86750" y="-952500"/>
            <a:ext cx="4286250" cy="428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DB41E8-99E5-4852-B2F1-83D46871F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34500" y="3429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DF1B09-D800-408D-A57F-9AC159B8E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05750" y="4762500"/>
            <a:ext cx="3048000" cy="3048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EE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F83B80-26A1-457A-9013-F00F745F4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819150"/>
            <a:ext cx="9525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5EC6D5-0499-45C0-8632-CC777FDB0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8200" y="838200"/>
            <a:ext cx="533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6B52"/>
                </a:solidFill>
              </a:defRPr>
            </a:pPr>
            <a:r>
              <a:rPr sz="1050" b="1">
                <a:solidFill>
                  <a:srgbClr val="0E6B52"/>
                </a:solidFill>
              </a:rPr>
              <a:t>CSC0005 物件導向分析與設計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A9062D-95D0-42D0-8FAF-6EA3238D0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9150" y="1257300"/>
            <a:ext cx="7239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6"/>
                </a:solidFill>
              </a:defRPr>
            </a:pPr>
            <a:r>
              <a:rPr sz="2850" b="1">
                <a:solidFill>
                  <a:srgbClr val="172026"/>
                </a:solidFill>
              </a:rPr>
              <a:t>股市投資組合、警示與策略回測分析平台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E32F96-191D-42F4-980F-CA011B2F8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2590800"/>
            <a:ext cx="5143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4F5B66"/>
                </a:solidFill>
              </a:defRPr>
            </a:pPr>
            <a:r>
              <a:rPr sz="1650" b="0">
                <a:solidFill>
                  <a:srgbClr val="4F5B66"/>
                </a:solidFill>
              </a:rPr>
              <a:t>期中檢查簡報初稿</a:t>
            </a:r>
          </a:p>
          <a:p xmlns:a="http://schemas.openxmlformats.org/drawingml/2006/main">
            <a:pPr algn="l">
              <a:defRPr sz="1650" b="0">
                <a:solidFill>
                  <a:srgbClr val="4F5B66"/>
                </a:solidFill>
              </a:defRPr>
            </a:pPr>
            <a:r>
              <a:rPr sz="1650" b="0">
                <a:solidFill>
                  <a:srgbClr val="4F5B66"/>
                </a:solidFill>
              </a:rPr>
              <a:t>從資料管理型網站提升為規則與策略驅動平台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81A940-134A-4083-BA8D-AC2FC5025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8200" y="3924300"/>
            <a:ext cx="2647950" cy="1085850"/>
          </a:xfrm>
          <a:prstGeom xmlns:a="http://schemas.openxmlformats.org/drawingml/2006/main" prst="roundRect">
            <a:avLst>
              <a:gd name="adj" fmla="val 701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7FF2F4-9D59-446B-832B-B3222EC97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8200" y="3924300"/>
            <a:ext cx="2647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D04838-3F34-4F6A-83E9-10890621B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8700" y="4095750"/>
            <a:ext cx="2266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目前範圍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345B4C-A1E6-47D2-AF60-488681912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8700" y="4457700"/>
            <a:ext cx="2266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投資組合領域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警示與通知領域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策略回測領域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C6E33C-208F-434C-A607-EEA3BBD9E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57600" y="3924300"/>
            <a:ext cx="2647950" cy="1085850"/>
          </a:xfrm>
          <a:prstGeom xmlns:a="http://schemas.openxmlformats.org/drawingml/2006/main" prst="roundRect">
            <a:avLst>
              <a:gd name="adj" fmla="val 701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DA5861-8A10-45B3-B646-2D28202B8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57600" y="3924300"/>
            <a:ext cx="2647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6D39F8-8E30-4A7B-A27C-7D7F0FB2D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48100" y="4095750"/>
            <a:ext cx="2266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檢查重點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D1ECA1-4A3B-4933-8E67-DEE2C89DF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48100" y="4457700"/>
            <a:ext cx="2266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使用案例圖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活動圖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架構與資料儲存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B60963-AF7E-4EFA-9E78-E4A760EBC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77000" y="3924300"/>
            <a:ext cx="2647950" cy="1085850"/>
          </a:xfrm>
          <a:prstGeom xmlns:a="http://schemas.openxmlformats.org/drawingml/2006/main" prst="roundRect">
            <a:avLst>
              <a:gd name="adj" fmla="val 701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49291F-F68A-406C-8892-3D403F1EC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77000" y="3924300"/>
            <a:ext cx="2647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9DB356-77C1-4836-8471-65D4C515C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0" y="4095750"/>
            <a:ext cx="2266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報告資訊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6881B4-EC02-4530-9564-87FC8436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0" y="4457700"/>
            <a:ext cx="2266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組員：請替換實際姓名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日期：2026/05/08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版本：初稿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B36C46-AC54-4F45-BD5B-D76F9069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72450" y="1123950"/>
            <a:ext cx="31432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263F5C-6592-4A0A-8B19-7FE510512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72450" y="1123950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065DCF-27CB-4838-9438-FFF71411A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62950" y="1295400"/>
            <a:ext cx="2762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專題定位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77652F-7255-4510-8C7F-9B6F25F62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62950" y="1657350"/>
            <a:ext cx="27622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本系統整合股市資料、投資組合、警示規則與策略回測，目標是建立一個符合 OOAD 精神的投資分析平台。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34D839-9FCF-4C90-92B9-942FB5532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可編輯 PowerPoint 初稿。正式繳交前請替換組員姓名與實際截圖。</a:t>
            </a:r>
          </a:p>
        </p:txBody>
      </p:sp>
    </p:spTree>
    <p:extLst>
      <p:ext uri="{BB962C8B-B14F-4D97-AF65-F5344CB8AC3E}">
        <p14:creationId xmlns:p14="http://schemas.microsoft.com/office/powerpoint/2010/main" val="126464552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A50FDED-23CF-4024-9280-E74D7C0A5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1987CA-3D2A-48A1-B653-45AB76FE2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4243D5-F24A-4A79-B963-2C8C91613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2E5F62-F1DD-46B4-A0C3-46948B54D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79A224-C5F3-46EA-89E1-470E94B20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2B1D2B-A876-4744-AC88-28B1E340A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依老師回饋修正專題方向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0A1C9C-68DB-4DC9-9989-D4F4CC585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本頁說明我們如何回應第一次提案後的意見。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3C3F17-F7AD-4E05-9160-0DD6CEF2C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85950"/>
            <a:ext cx="3429000" cy="203835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48792B-1FAE-44B0-8092-C733FF06E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859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A058EC-55E5-47AF-95F8-3D22B087B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20574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老師回饋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5BCC00-6401-4C23-81B6-15498A0F2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9150" y="2400300"/>
            <a:ext cx="30099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1. 主題生活化，容易理解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2. 架構大致符合課程條件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3. 部分功能相似，容易被視為 CRUD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4. 後續需強化物件設計與課程連結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34A75A-60FD-4476-8411-F6F7FAAD9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62450" y="1885950"/>
            <a:ext cx="3429000" cy="203835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099144-869E-49CB-AFEA-4A8990A37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62450" y="18859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11AA9C-91B8-4EF5-868E-457DC65D9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52950" y="20574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原始風險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D89DFC-90C8-4ACE-9216-532DAA909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0" y="2400300"/>
            <a:ext cx="30099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原本功能多集中在股票查詢、自選股、投資組合新增刪除，以及基本摘要計算。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雖然功能可用，但物件互動、規則判斷與演算法複雜度不夠明顯。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CA24AD-41B2-4A80-A00C-676D46BCC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15300" y="1885950"/>
            <a:ext cx="3467100" cy="203835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94A2D2-E56E-4069-A763-623857881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15300" y="1885950"/>
            <a:ext cx="3467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76BE81-02A3-4667-BCA6-7BC2D79C2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05800" y="2057400"/>
            <a:ext cx="3086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本次修正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3FEDFF-B126-40FE-9B79-C34171BA9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24850" y="2400300"/>
            <a:ext cx="3048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1. 重構投資組合領域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2. 新增警示與通知領域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3. 新增策略回測領域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4. 將邏輯從 API route 移入 domain objects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2F658B-32FA-48D5-B38B-9565BD1CB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66850" y="4514850"/>
            <a:ext cx="2381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BE5DF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F35432-3248-4BF7-99BC-DB958D825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66850" y="4743450"/>
            <a:ext cx="238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26"/>
                </a:solidFill>
              </a:defRPr>
            </a:pPr>
            <a:r>
              <a:rPr sz="1650" b="1">
                <a:solidFill>
                  <a:srgbClr val="172026"/>
                </a:solidFill>
              </a:rPr>
              <a:t>修正前</a:t>
            </a:r>
          </a:p>
          <a:p xmlns:a="http://schemas.openxmlformats.org/drawingml/2006/main">
            <a:pPr algn="ctr">
              <a:defRPr sz="1650" b="1">
                <a:solidFill>
                  <a:srgbClr val="172026"/>
                </a:solidFill>
              </a:defRPr>
            </a:pPr>
            <a:r>
              <a:rPr sz="1650" b="1">
                <a:solidFill>
                  <a:srgbClr val="172026"/>
                </a:solidFill>
              </a:rPr>
              <a:t>資料查詢 + CRUD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C8BB20-3A95-4C2A-BFA0-2C8A5FFEF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10050" y="4829175"/>
            <a:ext cx="10477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11B758-FBCE-4B37-A0FD-CC1045DC7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00700" y="4514850"/>
            <a:ext cx="30480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DFF5EC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0093AA-E8D9-4BBD-9E09-2AAE01822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95950" y="4724400"/>
            <a:ext cx="2857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72026"/>
                </a:solidFill>
              </a:defRPr>
            </a:pPr>
            <a:r>
              <a:rPr sz="1575" b="1">
                <a:solidFill>
                  <a:srgbClr val="172026"/>
                </a:solidFill>
              </a:rPr>
              <a:t>修正後</a:t>
            </a:r>
          </a:p>
          <a:p xmlns:a="http://schemas.openxmlformats.org/drawingml/2006/main">
            <a:pPr algn="ctr">
              <a:defRPr sz="1575" b="1">
                <a:solidFill>
                  <a:srgbClr val="172026"/>
                </a:solidFill>
              </a:defRPr>
            </a:pPr>
            <a:r>
              <a:rPr sz="1575" b="1">
                <a:solidFill>
                  <a:srgbClr val="172026"/>
                </a:solidFill>
              </a:rPr>
              <a:t>規則與策略驅動的分析平台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4981BB-AF53-47AA-9FCE-B53D1728B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58250" y="4829175"/>
            <a:ext cx="10477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492E27-FB88-49CC-A9F1-B3844BBBC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39350" y="4514850"/>
            <a:ext cx="15430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5EEFF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55101BF-9663-457B-ABE7-06379F969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34600" y="4724400"/>
            <a:ext cx="1352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符合檢查重點</a:t>
            </a:r>
          </a:p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OOAD 設計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214829-D94A-4E1C-B049-8657167D0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期中檢查簡報初稿。正式繳交前請替換組員姓名與實際截圖。</a:t>
            </a:r>
          </a:p>
        </p:txBody>
      </p:sp>
    </p:spTree>
    <p:extLst>
      <p:ext uri="{BB962C8B-B14F-4D97-AF65-F5344CB8AC3E}">
        <p14:creationId xmlns:p14="http://schemas.microsoft.com/office/powerpoint/2010/main" val="40657338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3AF299F-B2CF-43D0-BA31-D9B8F3EE8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6777D2-3B28-43D6-9707-79B82AE55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CD6317-57AE-4773-A18D-8A8B1448E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E5A36D-DF7B-43D7-B328-94EF6F787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AA6933-15C4-43FC-BE07-8F927E3DC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ED6D43-113B-45AB-8E4A-C54DC1EC5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進度總結與組員分工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E1C903-3FE1-490C-BACA-70B2ECAE9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Checkpoint 要求說明近期完成內容，以及組員之間的工作分配。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327F45-26A1-4807-8C29-DDE02FDBA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90700"/>
            <a:ext cx="21145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BFABA7-4399-4139-95DE-FC7BC86E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790700"/>
            <a:ext cx="21145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F21696-26E6-4F70-B062-F3D67A163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1962150"/>
            <a:ext cx="1733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市場資料重建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AC09A8-12E7-44CB-A6B2-4DE84637E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2247900"/>
            <a:ext cx="17335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重建 MySQL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匯入 FinLab 資料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恢復股票、價格、財報與股利資料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C0B046-ED8A-4731-B685-348768359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57500" y="1790700"/>
            <a:ext cx="21145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0DC1A8-2F14-4D9A-ADF0-14C28603E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57500" y="1790700"/>
            <a:ext cx="21145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5DEF3F-350F-4BF0-BD21-CF97D534C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48000" y="1962150"/>
            <a:ext cx="1733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投資組合重構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C0D9E6-5941-43FE-BBE7-2B8CE1D18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48000" y="2247900"/>
            <a:ext cx="17335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Portfolio, Position,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TransactionValidator,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PortfolioPriceService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01817F-728B-45E0-A614-7C6D92A6F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05400" y="1790700"/>
            <a:ext cx="21145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B96B8E-E43E-4DB8-9BF5-189C47A75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05400" y="1790700"/>
            <a:ext cx="21145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6EF932-6C19-4CB7-A15E-C54744293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5900" y="1962150"/>
            <a:ext cx="1733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警示領域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7A11A1-997D-4E33-BE4C-D9C5ECA0F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95900" y="2247900"/>
            <a:ext cx="17335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AlertRule hierarchy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AlertEvaluator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NotificationService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Alerts UI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A40C9C-A341-4024-9334-1BF66A2D1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53300" y="1790700"/>
            <a:ext cx="21145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C0FDCB-F3F6-4762-8431-227D14C4B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53300" y="1790700"/>
            <a:ext cx="21145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666F88-1B5C-4189-9E78-90C81D1AD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43800" y="1962150"/>
            <a:ext cx="1733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回測領域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E193D2-DA19-4225-8CC3-AAEA8479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43800" y="2247900"/>
            <a:ext cx="17335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MovingAverageCrossStrategy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BacktestEngine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PerformanceReport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Backtests UI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B26AA6-911B-45E2-BAC1-C19F21B19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01200" y="1790700"/>
            <a:ext cx="1981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D654E3-AA84-4E8C-ADC8-271176C83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01200" y="1790700"/>
            <a:ext cx="1981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6B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D420781-FB58-403F-97FC-95106F71C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1962150"/>
            <a:ext cx="160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本機整合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0E3CE43-6286-49AE-AB00-173D34215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91700" y="2247900"/>
            <a:ext cx="16002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Next.js + Prisma + MySQL 已通過 build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Dashboard / Alerts / Backtests 已串接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038857D-3BDE-4170-9AA5-1C6F5A50B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429000"/>
            <a:ext cx="2514600" cy="25717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CD23FF3-4612-40DD-B596-49B864278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3429000"/>
            <a:ext cx="25146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74F0524-850B-4CCF-BAE0-001B21CD9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3600450"/>
            <a:ext cx="2133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組員 A - 請替換姓名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94B4E75-6790-45C3-B10D-A29E6BCE1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9150" y="3943350"/>
            <a:ext cx="20955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建議負責內容：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- 資料庫重建與 Prisma schema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- 股票與市場資料 API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- FinLab 匯入與資料維護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6ED3FE1-A0D0-49E0-B99F-693D31BFF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29000" y="3429000"/>
            <a:ext cx="2514600" cy="25717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20575B7-FD2D-45A2-94FB-8985EFDC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29000" y="3429000"/>
            <a:ext cx="25146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0E66201-0D14-4344-881E-969D9F768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19500" y="3600450"/>
            <a:ext cx="2133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組員 B - 請替換姓名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51939B6-020C-4779-AEFF-33A74F32C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38550" y="3943350"/>
            <a:ext cx="20955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建議負責內容：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- 投資組合 domain 重構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- 交易與投資組合 UI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- 活動圖與資料儲存頁面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E9AFB7E-C64F-4F9D-8A2A-30D90DF35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48400" y="3429000"/>
            <a:ext cx="2514600" cy="25717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C32EB0B-E09F-43A1-9299-E155AD923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48400" y="3429000"/>
            <a:ext cx="25146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3BF0844-7162-43F1-ABE8-E6124E9AD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38900" y="3600450"/>
            <a:ext cx="2133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組員 C - 請替換姓名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37FC68A-B06A-4801-A048-5C1DD780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57950" y="3943350"/>
            <a:ext cx="20955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建議負責內容：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- 警示與通知模組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- 警示規則與通知流程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- use case 與類別圖頁面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3B26855-38E8-4D95-951A-8DF211E05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67800" y="3429000"/>
            <a:ext cx="2514600" cy="25717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584D660-F360-4CBF-B00E-EDBA5C155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67800" y="3429000"/>
            <a:ext cx="25146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525BE52-DFCA-40CB-9116-741330E83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58300" y="3600450"/>
            <a:ext cx="2133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組員 D - 請替換姓名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FB3AEDB-5441-4C97-AF33-EC049C6D4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77350" y="3943350"/>
            <a:ext cx="20955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建議負責內容：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- 策略與回測模組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- Backtests UI 與結果呈現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- 設計模式與簡報整合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D2170E1-21F8-4D5A-A004-95E42F85E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正式繳交前請將組員 A/B/C/D 替換為實際姓名與最終分工。</a:t>
            </a:r>
          </a:p>
        </p:txBody>
      </p:sp>
    </p:spTree>
    <p:extLst>
      <p:ext uri="{BB962C8B-B14F-4D97-AF65-F5344CB8AC3E}">
        <p14:creationId xmlns:p14="http://schemas.microsoft.com/office/powerpoint/2010/main" val="125302379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C61C1B-88BC-4A7A-974B-9519BC615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4A8485-F7CB-479B-90EA-DD0D51473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0B5C20-7512-48CC-905D-43C962A5B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245302-3487-405F-BFD6-BA0CF9F2C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F2766D-A13E-4B78-BD55-906D0DCB6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B40A8E-2A90-4C95-818E-D7FCAA4F4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使用案例圖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86B736-1401-41B4-8EE0-F1484CBAC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本頁以圖形表示 actor、系統邊界與主要 use cases。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1179E7-B895-44F1-A62D-F220B9D36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66950" y="1676400"/>
            <a:ext cx="7429500" cy="4114800"/>
          </a:xfrm>
          <a:prstGeom xmlns:a="http://schemas.openxmlformats.org/drawingml/2006/main" prst="roundRect">
            <a:avLst>
              <a:gd name="adj" fmla="val 1852"/>
            </a:avLst>
          </a:prstGeom>
          <a:solidFill xmlns:a="http://schemas.openxmlformats.org/drawingml/2006/main">
            <a:srgbClr val="FBF8F1"/>
          </a:solidFill>
          <a:ln xmlns:a="http://schemas.openxmlformats.org/drawingml/2006/main" w="13335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FE1006-2720-4E11-8C82-3CF25F509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76500" y="1771650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E6B52"/>
                </a:solidFill>
              </a:defRPr>
            </a:pPr>
            <a:r>
              <a:rPr sz="1200" b="1">
                <a:solidFill>
                  <a:srgbClr val="0E6B52"/>
                </a:solidFill>
              </a:rPr>
              <a:t>System：股市投資組合、警示與策略回測平台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2E4EF3-65FC-4CDC-8BF1-B346BA9C5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7750" y="20955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3AFFE5-7EA8-48F4-BD5E-7804B3ABA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09675" y="2438400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0532FF-9C2A-4E07-B98E-74457896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5350" y="262890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15A354-D8EA-45BF-A719-043FB808E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80000">
            <a:off x="990600" y="2933700"/>
            <a:ext cx="47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11CF35-1149-4874-BCA4-F49DC7372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680000">
            <a:off x="971550" y="2933700"/>
            <a:ext cx="47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22F0F6-3367-40FB-8EDA-30E34CE1C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" y="3257550"/>
            <a:ext cx="14859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9050">
            <a:solidFill>
              <a:srgbClr val="5E9B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347289-E0E6-4824-A96E-850330753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3352800"/>
            <a:ext cx="1333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投資者 / 使用者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0EEF23-D96E-4DB2-96A3-4EFB4C077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7750" y="43434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A33820-02DF-4DB7-88F3-4C65F009B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09675" y="4686300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F2B5D4-9396-42F2-8998-6CF9E5DD5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5350" y="487680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C137DB-01AF-49B0-8EBE-507089386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80000">
            <a:off x="990600" y="5181600"/>
            <a:ext cx="47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4C7480-6F80-4EE2-B75A-1608795B0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680000">
            <a:off x="971550" y="5181600"/>
            <a:ext cx="47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82121B-9D40-446E-A5C9-2A6BFE131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" y="5505450"/>
            <a:ext cx="14859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9050">
            <a:solidFill>
              <a:srgbClr val="D6A04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314D2B-D901-45C1-81C8-ADF0A2DC0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600700"/>
            <a:ext cx="1333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管理者 / 資料維護者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73B6C6F-29AC-4C77-A257-6285C53F3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763250" y="31432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FDD9C5C-5C3C-40B3-BC68-27E26DD3B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25175" y="3486150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804AD8-D9DA-4983-A87F-E6E7E76A7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610850" y="36766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AAFC2B-28ED-40EC-9160-51AEF3E0A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80000">
            <a:off x="10706100" y="3981450"/>
            <a:ext cx="47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78C1FF-8616-438D-A59A-C70F02666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680000">
            <a:off x="10687050" y="3981450"/>
            <a:ext cx="47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C161CD-4C8C-444D-A4A4-260985EF7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91750" y="4305300"/>
            <a:ext cx="14859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9050">
            <a:solidFill>
              <a:srgbClr val="E57B6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81361D-BC8F-417D-932C-2C2CD0B5C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67950" y="4400550"/>
            <a:ext cx="1333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FinLab 資料來源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7337D20-18FB-4597-9F39-6FA185136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2228850"/>
            <a:ext cx="17907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B60C081-A2CA-4920-BAFF-F4DEB14E0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19400" y="2362200"/>
            <a:ext cx="1600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查詢股票資訊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B5B50EB-2A3E-42F0-A3C0-25E9921F3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91100" y="2228850"/>
            <a:ext cx="17907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8694DF2-73BA-4410-BD92-3B00F6BC5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86350" y="2362200"/>
            <a:ext cx="1600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管理自選股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F561094-EA8D-4534-A881-17DAA2272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58050" y="2228850"/>
            <a:ext cx="17907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D5A41A-A4CE-46DB-AF5E-63D41B2DA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53300" y="2362200"/>
            <a:ext cx="1600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管理投資組合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CB0C0C5-40A7-403E-B3AA-CB702BB2C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3009900"/>
            <a:ext cx="17907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A7C8182-AE4E-4159-B935-2CB5FAEE9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19400" y="3143250"/>
            <a:ext cx="1600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記錄買進交易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BE5BAA6-69A7-4B0F-B21C-16444165A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91100" y="3009900"/>
            <a:ext cx="17907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27447C7-157C-4A68-A53B-D12999A59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86350" y="3143250"/>
            <a:ext cx="1600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記錄賣出交易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9D52B7E-D6B9-4C73-B5AD-9F6BE3A84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58050" y="3009900"/>
            <a:ext cx="17907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452BB9E-4E78-4FD3-BF6D-87C7E7C1D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53300" y="3143250"/>
            <a:ext cx="1600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建立警示規則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321BEF3-9BE8-4A28-9252-AB87D607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24150" y="3790950"/>
            <a:ext cx="17907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C211B6D-5A84-4C72-A0AC-71939CDB1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19400" y="3924300"/>
            <a:ext cx="1600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啟用 / 停用警示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93AEFC3-2523-4277-A81F-09E05530A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91100" y="3790950"/>
            <a:ext cx="17907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7F5D06A-DA82-4C3F-B554-F5E2587F5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86350" y="3924300"/>
            <a:ext cx="1600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查看通知與已讀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667AADC-CE5F-4E42-8983-BBEC39646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58050" y="3790950"/>
            <a:ext cx="17907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30AE6CC-7DEC-46B5-81CF-B6CE8A48D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53300" y="3924300"/>
            <a:ext cx="1600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執行策略回測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6E52A52-FEC4-4263-A83D-BD79FF0E3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67150" y="4572000"/>
            <a:ext cx="18669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CED8A82-EAAD-4A4F-BA84-DD598CF65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2400" y="4705350"/>
            <a:ext cx="1676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查看回測結果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4E1C01A-9236-4E8A-9825-3CC00AACA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24600" y="4572000"/>
            <a:ext cx="18669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F413C09-7505-4922-9EDA-EFC6E1DDE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9850" y="4705350"/>
            <a:ext cx="1676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更新市場資料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B28EDBF-654A-4E21-92CB-5FDEB1BBF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47850" y="2400300"/>
            <a:ext cx="8001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3815CF1-5852-4917-BB90-76561BBCD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47850" y="3181350"/>
            <a:ext cx="8001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0A2E91D-CE43-4342-81EE-296A93238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47850" y="3962400"/>
            <a:ext cx="8001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8FFE7B4-2723-4E49-8349-022A9B064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47850" y="4762500"/>
            <a:ext cx="10668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0577D70-E6BF-438C-8FC4-01F3EC2B9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63050" y="4762500"/>
            <a:ext cx="8763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A4E2953-8E6F-476A-950A-E1698171F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53550" y="4762500"/>
            <a:ext cx="6858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21C71DC-6A81-40BB-BE3C-3A4E9F1DB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000750"/>
            <a:ext cx="6667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主清單共 11 個 use cases，已涵蓋查詢、交易、警示、通知、回測與資料維護。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5B8FC9B-CC74-4C2C-9DD0-8E47F5C05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24650" y="6000750"/>
            <a:ext cx="4857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其中交易驗證與警示啟停能更明確展示 OOAD 的流程與物件責任。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804F08C-EB1C-4333-800A-AC87E5379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期中檢查簡報初稿。正式繳交前請替換組員姓名與實際截圖。</a:t>
            </a:r>
          </a:p>
        </p:txBody>
      </p:sp>
    </p:spTree>
    <p:extLst>
      <p:ext uri="{BB962C8B-B14F-4D97-AF65-F5344CB8AC3E}">
        <p14:creationId xmlns:p14="http://schemas.microsoft.com/office/powerpoint/2010/main" val="14571512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011C0B1-25D5-4528-AB09-6AFBF94AC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076106-144A-4286-B0BB-14E568BC1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963A0A-0A76-4795-8F79-17D4467BF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4F6DD1-C7B6-47D6-97FD-B36B3E2EB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CF2469-5160-4A76-8E73-9A388C22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A53CDC-0C1D-4407-882A-2D8D61B1B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最複雜使用案例的活動圖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F03DA3-C5E0-4178-B1E1-1AE9C07D7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選定使用案例：執行策略回測。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F19786-9130-4C22-A785-D455F995A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91150" y="1676400"/>
            <a:ext cx="14287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50B94E-EFE6-497B-B1AE-A4805304E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91150" y="177165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26"/>
                </a:solidFill>
              </a:defRPr>
            </a:pPr>
            <a:r>
              <a:rPr sz="1200" b="1">
                <a:solidFill>
                  <a:srgbClr val="172026"/>
                </a:solidFill>
              </a:rPr>
              <a:t>開始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FA7594-DFF6-47EB-8214-D9BF8A526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10150" y="2209800"/>
            <a:ext cx="21907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8BC0BA-894F-42E2-835C-28F7F515F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43500" y="2286000"/>
            <a:ext cx="1924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輸入股票、區間、</a:t>
            </a:r>
          </a:p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均線參數與初始資金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3EAA5D-37CF-4704-91F3-C58286F10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10150" y="3429000"/>
            <a:ext cx="21907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E9C79D-B0FE-40CE-897C-7155232C1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43500" y="3505200"/>
            <a:ext cx="1924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載入歷史</a:t>
            </a:r>
          </a:p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股價資料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5F6DE7-56A6-4EE2-8330-A9E11C7F5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10150" y="4686300"/>
            <a:ext cx="21907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1CD3F7-AC7D-4476-A615-8E61E6119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43500" y="4762500"/>
            <a:ext cx="1924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建立策略物件</a:t>
            </a:r>
          </a:p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並計算指標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FC736B-BADA-4195-B5A8-E471223C5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10150" y="5314950"/>
            <a:ext cx="21907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CF84F6-35CB-4681-ABB1-D0240E7D0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43500" y="5391150"/>
            <a:ext cx="1924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產生訊號</a:t>
            </a:r>
          </a:p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並模擬交易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8E0B10-D85F-44FC-8939-25D40FE84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10150" y="5943600"/>
            <a:ext cx="21907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55290F-20EC-4DD2-98C5-5A1C3863A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43500" y="6019800"/>
            <a:ext cx="1924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計算績效</a:t>
            </a:r>
          </a:p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並顯示結果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90E682-1695-47AE-913B-906EC75F6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05500" y="2114550"/>
            <a:ext cx="4000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05781A-8F30-4078-8B80-C09E50DC2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05450" y="2838450"/>
            <a:ext cx="1200150" cy="4191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38A121-E58E-4F75-AFAC-1F690AF2C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76900" y="2905125"/>
            <a:ext cx="857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參數</a:t>
            </a:r>
          </a:p>
          <a:p xmlns:a="http://schemas.openxmlformats.org/drawingml/2006/main"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有效？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A3AC0A-4719-4D58-A0B6-D6ACFB1F7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05500" y="3276600"/>
            <a:ext cx="4000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4AA71B-66E8-483B-A6AA-8D70BFD91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05500" y="3905250"/>
            <a:ext cx="4000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BF6CD5-D4D2-4D57-8C24-84BE9E3AD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05450" y="4057650"/>
            <a:ext cx="1200150" cy="4191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62A542-F371-4261-AE9E-5F99886A6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19750" y="4124325"/>
            <a:ext cx="971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歷史資料</a:t>
            </a:r>
          </a:p>
          <a:p xmlns:a="http://schemas.openxmlformats.org/drawingml/2006/main"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足夠？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657398-DC01-438D-92C2-2E84C1AA5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05500" y="4533900"/>
            <a:ext cx="4000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425CBD8-34A5-4913-ABB0-492EF54B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05500" y="5162550"/>
            <a:ext cx="4000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7B96E4-C51A-4C2C-B96D-29A5F989F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05500" y="5791200"/>
            <a:ext cx="4000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35307B-2607-403A-B5B4-F4B066417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05500" y="6400800"/>
            <a:ext cx="4000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08521E8-60E5-412D-89AB-9986A8DD6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0200" y="6534150"/>
            <a:ext cx="1390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74FF0E4-C0A8-4633-9327-CCBF00C0D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0200" y="6581775"/>
            <a:ext cx="1390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結束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EFF2710-8DEC-4265-A156-084ED3971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3950" y="2724150"/>
            <a:ext cx="25908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C3FB187-5F6E-4BB6-92F1-32454FF95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3950" y="2724150"/>
            <a:ext cx="2590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8D11BDD-4FAB-429C-B08B-C7A8E40A9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14450" y="2895600"/>
            <a:ext cx="2209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否定分支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B570279-100F-4D37-A1F9-02E70F1DC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14450" y="3257550"/>
            <a:ext cx="2209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顯示驗證錯誤，停止本次回測。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088F80B-6DB2-4E40-9BE1-DC26D1F3F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33800" y="3048000"/>
            <a:ext cx="10477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6FFAFF8-E007-4F63-AA3F-9424B2BE7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34350" y="3943350"/>
            <a:ext cx="278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3595A7D-5CEE-43D4-B884-D0F90D2C7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34350" y="3943350"/>
            <a:ext cx="2781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FC0789C-5365-47B1-8580-DC3A3D3F7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24850" y="4114800"/>
            <a:ext cx="2400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否定分支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B85A26D-85D7-443A-8EF8-D5D9E6EC4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24850" y="4476750"/>
            <a:ext cx="2400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顯示資料不足訊息，使用者調整參數。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E7C1E14-995A-42B3-A4A1-3F7A7ADC1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91350" y="4267200"/>
            <a:ext cx="10477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F9FFCC3-0621-45D0-9D71-2FBCDDFF7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10350" y="3048000"/>
            <a:ext cx="32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F5B66"/>
                </a:solidFill>
              </a:defRPr>
            </a:pPr>
            <a:r>
              <a:rPr sz="900" b="0">
                <a:solidFill>
                  <a:srgbClr val="4F5B66"/>
                </a:solidFill>
              </a:rPr>
              <a:t>是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0EC54CE-6615-4427-B7BA-9C9BCC33B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57700" y="3086100"/>
            <a:ext cx="32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F5B66"/>
                </a:solidFill>
              </a:defRPr>
            </a:pPr>
            <a:r>
              <a:rPr sz="900" b="0">
                <a:solidFill>
                  <a:srgbClr val="4F5B66"/>
                </a:solidFill>
              </a:rPr>
              <a:t>否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7A13272-7E2B-4DE8-B22C-4B1D85716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10350" y="4267200"/>
            <a:ext cx="32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F5B66"/>
                </a:solidFill>
              </a:defRPr>
            </a:pPr>
            <a:r>
              <a:rPr sz="900" b="0">
                <a:solidFill>
                  <a:srgbClr val="4F5B66"/>
                </a:solidFill>
              </a:rPr>
              <a:t>是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5705F20-8D0B-4FF0-A1A6-A5313C130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34300" y="4286250"/>
            <a:ext cx="323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F5B66"/>
                </a:solidFill>
              </a:defRPr>
            </a:pPr>
            <a:r>
              <a:rPr sz="900" b="0">
                <a:solidFill>
                  <a:srgbClr val="4F5B66"/>
                </a:solidFill>
              </a:rPr>
              <a:t>否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A70C09A-B502-42D5-A7C4-A60150121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期中檢查簡報初稿。正式繳交前請替換組員姓名與實際截圖。</a:t>
            </a:r>
          </a:p>
        </p:txBody>
      </p:sp>
    </p:spTree>
    <p:extLst>
      <p:ext uri="{BB962C8B-B14F-4D97-AF65-F5344CB8AC3E}">
        <p14:creationId xmlns:p14="http://schemas.microsoft.com/office/powerpoint/2010/main" val="6850377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45E15DC-0CB7-4001-A54A-0DA2EA6A9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332337-692B-446D-864A-D48D8B779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C27ECC-A339-468F-AD3C-14E93D80B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427D9B-41EE-41F1-A3A8-AE0CFB1DB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9E293D-C6AC-4FBE-AC0E-BDA7A51B0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13601C-B7A9-42A2-A057-D9E12A5EA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系統架構圖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104FC3-78B7-48E4-82F7-D29A30FED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本頁說明主要元件、框架選擇，以及請求與回應的結構。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083BD0-92E7-4B16-8F09-6ABFB6BFE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2419350"/>
            <a:ext cx="1714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5EEFF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EB6991-15FC-4052-8ABD-F7E157FB9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2628900"/>
            <a:ext cx="14859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瀏覽器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2AC705-1FF4-4728-8030-BBC7FC015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67050" y="2419350"/>
            <a:ext cx="18669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FF5EC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113313-6DE4-41E0-ADFC-8F7705993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81350" y="2628900"/>
            <a:ext cx="1638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Next.js</a:t>
            </a:r>
          </a:p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App Router 介面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967FFB-BE48-4E73-B00B-E686A427E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0" y="2419350"/>
            <a:ext cx="18288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AEFD9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0FBFE1-BC8C-414D-978C-626A94DC9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38800" y="2628900"/>
            <a:ext cx="1600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Next.js</a:t>
            </a:r>
          </a:p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API Routes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DFD602-1192-44B5-9D04-C04BC3F1B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62900" y="2190750"/>
            <a:ext cx="1943100" cy="12954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BE5DF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38CEC4-3DCA-40C7-A92C-8C2B3BCA7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77200" y="2400300"/>
            <a:ext cx="171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領域層</a:t>
            </a:r>
          </a:p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Portfolio / Alerts /</a:t>
            </a:r>
          </a:p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Backtests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EB50F5-6E71-4185-A099-F5C9575F0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87000" y="2419350"/>
            <a:ext cx="11430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5EEFF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699A5A-17DA-445A-8516-3762F9C1E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01300" y="2628900"/>
            <a:ext cx="914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Prisma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F7C28C-9116-44C8-8238-ADB07AF56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87000" y="3771900"/>
            <a:ext cx="11430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FF5EC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366414-1FDF-4686-88C3-3AA878FAF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01300" y="3981450"/>
            <a:ext cx="914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MySQL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C457B9-C91C-493B-AA4C-07C5EF50C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33650" y="2724150"/>
            <a:ext cx="4000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086B12-ECD0-4DB9-B26D-28E62934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29200" y="2724150"/>
            <a:ext cx="4000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0D897A-EEF3-4866-9B58-BF2FB8B4F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48550" y="2724150"/>
            <a:ext cx="4000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1FB06A-8F05-4D39-873B-47BDF9977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82200" y="2724150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73D871-9279-46E4-91BE-0644B8E65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0744200" y="3352800"/>
            <a:ext cx="2286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00A4795-3585-4E48-93AE-06406598F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38350" y="4210050"/>
            <a:ext cx="27241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1E711C-7A41-467B-9B85-63F9F289F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38350" y="4210050"/>
            <a:ext cx="27241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7B25E3-12F2-41DF-AAAE-4838C0574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28850" y="4381500"/>
            <a:ext cx="2343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使用者認證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C57C0C3-6686-44BA-9E4F-559180147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28850" y="4743450"/>
            <a:ext cx="2343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NextAuth 負責登入與 session，並保護 dashboard 頁面與 API。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3F3350-3128-4840-842C-4E29E782D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0" y="4629150"/>
            <a:ext cx="7620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9F6DD15-75B3-4FEB-89D2-E9B5AB46C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10250" y="4210050"/>
            <a:ext cx="27241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F05109-5C3E-4E7A-9A3B-47FAF3D40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10250" y="4210050"/>
            <a:ext cx="27241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0096F74-0A85-420D-B5B9-9D9ADA114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0" y="4381500"/>
            <a:ext cx="2343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外部資料匯入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AB5FD47-45FF-4A1A-8723-9A8FE4D37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0" y="4743450"/>
            <a:ext cx="2343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FinLab 匯入腳本重建市場資料，並寫入 MySQL。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9387B73-7AA6-47A9-9230-8A1F6E1F6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0" y="4629150"/>
            <a:ext cx="11430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9D8C9BC-3173-4621-9879-183E0F475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829300"/>
            <a:ext cx="571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F5B66"/>
                </a:solidFill>
              </a:defRPr>
            </a:pPr>
            <a:r>
              <a:rPr sz="1050" b="0">
                <a:solidFill>
                  <a:srgbClr val="4F5B66"/>
                </a:solidFill>
              </a:rPr>
              <a:t>請求路徑：瀏覽器 -&gt; UI -&gt; API -&gt; Domain -&gt; Prisma -&gt; MySQL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0DB29F4-8F16-4ACC-BCFD-FA50FD2FA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0579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F5B66"/>
                </a:solidFill>
              </a:defRPr>
            </a:pPr>
            <a:r>
              <a:rPr sz="1050" b="0">
                <a:solidFill>
                  <a:srgbClr val="4F5B66"/>
                </a:solidFill>
              </a:rPr>
              <a:t>使用框架：Next.js、Prisma、MySQL、NextAuth、FinLab 匯入腳本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8A3A801-3BA1-4FC9-8A58-99B77D1A7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期中檢查簡報初稿。正式繳交前請替換組員姓名與實際截圖。</a:t>
            </a:r>
          </a:p>
        </p:txBody>
      </p:sp>
    </p:spTree>
    <p:extLst>
      <p:ext uri="{BB962C8B-B14F-4D97-AF65-F5344CB8AC3E}">
        <p14:creationId xmlns:p14="http://schemas.microsoft.com/office/powerpoint/2010/main" val="61679412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6A43C98-DA15-40F2-9B0C-5EE9093AB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CF8DBF-C2B0-41B0-920F-6455E7D5A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290DA8-A51D-48D6-BB6B-F4EA174CB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63C5CC-6B2D-4898-8910-3D608E1E8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A1829B-87B8-4ECF-B12D-3A6504C4A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06C0EA-0DB0-4473-9197-21CF25E5F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資料儲存設計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3E7ACE-6E80-4943-94B6-28777081F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說明資料存在哪裡，以及執行時由哪些類別與服務存取。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829EFA-E4B1-4738-B078-0CC1DA1AF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66900"/>
            <a:ext cx="51435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285EF0-1867-4CE2-93CE-332D5625A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66900"/>
            <a:ext cx="5143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7B463A-796F-466B-A479-AB3114E31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203835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市場資料（MySQL）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F12CBB-AE5E-47A0-824F-A8D9DFEC2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8200" y="2362200"/>
            <a:ext cx="46863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核心資料表：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stocks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historicalprices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financialreports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dividends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執行期存取類別：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Stock APIs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AlertMarketDataService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BacktestMarketDataService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PortfolioPriceService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946E97-F95B-4812-808F-F83C16F0F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38900" y="1866900"/>
            <a:ext cx="51435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5EBDB0-9E1C-48FB-90E8-845636241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38900" y="1866900"/>
            <a:ext cx="5143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74BBA9-AA40-45BE-A551-2B59EBFA2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29400" y="203835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使用者與投資組合資料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75B1DA-11F8-430B-A5CF-834077189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0" y="2362200"/>
            <a:ext cx="46863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核心資料表：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users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watchlistitems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portfolios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transactions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執行期存取類別：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Portfolio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Position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PortfolioTransaction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TransactionValidator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A16FC7-45DD-4780-92D2-993705FE7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210050"/>
            <a:ext cx="51435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E45036-EEB0-46DE-AFDC-0CC7AB5BF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4210050"/>
            <a:ext cx="5143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F95626-2BFD-4F12-9148-65446E40B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438150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規則與通知資料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0CA42A-0B10-41B7-9179-7BCE384AC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8200" y="4705350"/>
            <a:ext cx="46863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核心資料表：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alertrules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notifications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執行期存取類別：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AlertRule hierarchy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AlertEvaluator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NotificationService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1DB50F-18BC-4CC6-BF9C-A39A1FA71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38900" y="4210050"/>
            <a:ext cx="51435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0A7672-9BB1-444D-AFE0-FD00605D8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38900" y="4210050"/>
            <a:ext cx="5143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446035-9C07-47F9-9EE5-DC2DC337E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29400" y="4381500"/>
            <a:ext cx="476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策略與回測資料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81E2A8-C798-48D9-AD87-13F4FB170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0" y="4705350"/>
            <a:ext cx="46863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核心資料表：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backtestruns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backtesttrades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執行期存取類別：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MovingAverageCrossStrategy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BacktestEngine</a:t>
            </a:r>
          </a:p>
          <a:p xmlns:a="http://schemas.openxmlformats.org/drawingml/2006/main">
            <a:pPr algn="l">
              <a:defRPr sz="1200" b="0">
                <a:solidFill>
                  <a:srgbClr val="172026"/>
                </a:solidFill>
              </a:defRPr>
            </a:pPr>
            <a:r>
              <a:rPr sz="1200" b="0">
                <a:solidFill>
                  <a:srgbClr val="172026"/>
                </a:solidFill>
              </a:rPr>
              <a:t>- PerformanceReport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B9D314-0D2D-4A72-B8BE-E71C0A269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期中檢查範圍的資料皆存於 MySQL，並透過 Prisma 與 domain services 存取。</a:t>
            </a:r>
          </a:p>
        </p:txBody>
      </p:sp>
    </p:spTree>
    <p:extLst>
      <p:ext uri="{BB962C8B-B14F-4D97-AF65-F5344CB8AC3E}">
        <p14:creationId xmlns:p14="http://schemas.microsoft.com/office/powerpoint/2010/main" val="74291027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C811446-25B7-4787-B512-8C6116382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19FB27-9B97-4084-9091-B7703EDB4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1446A2-C894-4742-A4F9-344722249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21EF17-BFC9-4F52-AA4F-4CEA11ED4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AD87BC-581F-4E29-B379-B2B1B808B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27C21E-ED38-48D4-B13D-57FDA39F4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使用者介面 Mockups / Prototype Screens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6C7EA7-3DA4-4AD0-AE60-455132D92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以原型畫面說明導覽方式與資料呈現。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FC0FCB-A9AA-4C1E-8CA5-E55629684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1809750"/>
            <a:ext cx="2495550" cy="21717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F2EAC2-DCCD-4A46-92C3-12FEA9B0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1809750"/>
            <a:ext cx="2495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C36960-F293-446E-A512-50FF5C552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8200" y="1866900"/>
            <a:ext cx="2228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儀表板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918791-3169-4F3C-8587-1A2C88340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6300" y="2247900"/>
            <a:ext cx="21526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CEEA1E-A9F4-4D49-BDA6-6D38E5BFC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6300" y="2933700"/>
            <a:ext cx="21526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8FBFD"/>
          </a:solidFill>
          <a:ln xmlns:a="http://schemas.openxmlformats.org/drawingml/2006/main" w="9525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78C42D-DBA6-4EC6-B6A8-2538C38B8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3450" y="38481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D170DC-ACEE-4995-9458-D8545B773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3450" y="40386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A88678-2021-406F-A6A9-457302625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3450" y="42291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B1588E-81BA-4387-93D3-17036AB7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3450" y="44196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B72200-2B64-4D41-BB12-2573823A1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95500" y="2381250"/>
            <a:ext cx="8001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23313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979E3D-1C54-4056-BD71-607E0EAFB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71850" y="1809750"/>
            <a:ext cx="2495550" cy="21717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8FECD1-F07C-40BE-A834-7882D7324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71850" y="1809750"/>
            <a:ext cx="2495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2A9D68-02CB-4D4F-9EA2-CE3AFD72C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05200" y="1866900"/>
            <a:ext cx="2228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個股詳情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2A63C7-6BBB-41A8-B111-261AC8294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43300" y="2247900"/>
            <a:ext cx="21526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B1A4DF-5293-4E21-B5CE-64499316B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43300" y="2933700"/>
            <a:ext cx="21526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8FBFD"/>
          </a:solidFill>
          <a:ln xmlns:a="http://schemas.openxmlformats.org/drawingml/2006/main" w="9525">
            <a:solidFill>
              <a:srgbClr val="23313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780F80-F120-485C-B4A5-93561FE77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0450" y="38481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B7E890-519B-4A34-BA9C-99BEF937A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0450" y="40386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770583-577E-4A13-952E-23753D8E4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0450" y="42291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8459232-744F-4C19-B252-A07DB84D0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0450" y="44196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1BBB13D-0B27-47AE-BA39-03334FD73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0450" y="46101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83334A-01F2-4AB2-AF7C-512F25B10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0" y="2381250"/>
            <a:ext cx="8001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23313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5BF74A-F7CC-491F-8807-3E4D771C2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38850" y="1809750"/>
            <a:ext cx="2495550" cy="21717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6117C0-8A4E-4BB9-AC8C-C1F4F7F72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38850" y="1809750"/>
            <a:ext cx="2495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557A06-244B-46BF-946C-81951AE59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72200" y="1866900"/>
            <a:ext cx="2228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警示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E369FF5-5332-4250-A25C-00E2DBA3E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10300" y="2247900"/>
            <a:ext cx="21526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9AA7C04-906E-4548-BBA6-9FB34E4E8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10300" y="2933700"/>
            <a:ext cx="21526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8FBFD"/>
          </a:solidFill>
          <a:ln xmlns:a="http://schemas.openxmlformats.org/drawingml/2006/main" w="9525">
            <a:solidFill>
              <a:srgbClr val="23313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4F286B0-D8C5-467D-B794-B7A19613A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38481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8C2138A-6C3E-43E5-83B1-61B9FABF0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40386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862D49C-A031-4A67-AAB4-3B7BC194F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42291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95A64F5-2BC0-4C6A-B2CB-00FC90D7F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44196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643E42C-E9CD-428B-B847-BF9035414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0" y="2381250"/>
            <a:ext cx="8001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23313B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0261506-7192-40A8-8D99-937CF465F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05850" y="1809750"/>
            <a:ext cx="2495550" cy="21717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683058A-8278-4251-A06B-BA1CE33B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05850" y="1809750"/>
            <a:ext cx="2495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ED71157-32C9-4D1F-A02E-59CE15C25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39200" y="1866900"/>
            <a:ext cx="2228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回測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C2B44FA-5757-484A-B458-2FE7CB7C0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77300" y="2247900"/>
            <a:ext cx="21526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B5E8E49-2772-47F9-AEC2-DF421808F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77300" y="2933700"/>
            <a:ext cx="21526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8FBFD"/>
          </a:solidFill>
          <a:ln xmlns:a="http://schemas.openxmlformats.org/drawingml/2006/main" w="9525">
            <a:solidFill>
              <a:srgbClr val="23313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0F15E1B-6D27-4DE1-B710-B206CCFB3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38481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B073F9A-AC01-427A-A8F3-3C21F35AA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40386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A6FDB4E-A80F-40A0-8067-DBE2E7D59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42291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2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F08D246-DC8C-4F04-B09E-749DF49FE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44196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F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9FCA1E4-87E7-4B5E-AEDC-A47606730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96500" y="2381250"/>
            <a:ext cx="8001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23313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1D3DD9E-F445-46BB-A09C-6EC5A114C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0600" y="4324350"/>
            <a:ext cx="30861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5A7767B-B505-4AC6-8634-718943145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0600" y="4324350"/>
            <a:ext cx="3086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B431D67-2763-4D53-A1B3-C3E41FE7D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81100" y="4495800"/>
            <a:ext cx="2705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導覽邏輯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F444D8C-1F3A-429C-ADCB-9C0A9360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81100" y="4857750"/>
            <a:ext cx="2705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側邊欄提供 dashboard、stocks、watchlist、portfolios、alerts、backtests 等路由。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B80B9E8-D2D5-47BC-8663-AD80741F6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52950" y="4324350"/>
            <a:ext cx="30861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507E0A1-C8F4-4C9A-AAE1-D03B0FD72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52950" y="4324350"/>
            <a:ext cx="3086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5F5C05A-EBAB-4A2D-B3CA-1733FCF09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43450" y="4495800"/>
            <a:ext cx="2705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資料呈現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DB5FA23-DFF4-42AA-962C-70ECD7067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43450" y="4857750"/>
            <a:ext cx="2705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價格、財報、警示規則、equity curve 與交易紀錄以卡片、圖表與表格呈現。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BFFE4A3-3F96-48DF-B477-604B467A5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15300" y="4324350"/>
            <a:ext cx="30861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5034719-9B6C-4DA6-992B-8E0868A38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15300" y="4324350"/>
            <a:ext cx="3086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8C5667C-0E27-465F-AB76-35383000F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05800" y="4495800"/>
            <a:ext cx="2705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主要使用路徑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333AC3B-1F65-4198-A056-D630CE41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05800" y="4857750"/>
            <a:ext cx="2705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使用者可從個股詳情頁直接建立警示，或執行策略回測。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7297DFF-03E1-467C-84AC-B3E61CB0C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若時間允許，正式繳交前可替換為 localhost 實際截圖。</a:t>
            </a:r>
          </a:p>
        </p:txBody>
      </p:sp>
    </p:spTree>
    <p:extLst>
      <p:ext uri="{BB962C8B-B14F-4D97-AF65-F5344CB8AC3E}">
        <p14:creationId xmlns:p14="http://schemas.microsoft.com/office/powerpoint/2010/main" val="165105890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2561C3C-9BFD-4146-81EB-F84ECFE2F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EF7522-B16D-473A-B051-97320EAAB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EC5F0B-B758-4B9C-89DC-1785B5B78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A192A2-3FE2-4C02-8644-997F9FAD4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F259C2-38A5-4580-B7CC-DB658DB3E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35C296-D510-47CD-8472-4F5D9B19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類別圖 A - 投資組合領域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35A973-F5DB-4C59-82EA-9AA7F5C17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本圖說明投資組合計算如何從 route handler 移入 domain objects。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C0DA16-FF80-4D8F-9EE4-8556960F7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943100"/>
            <a:ext cx="2038350" cy="1943100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D723CB-8F02-41BA-9F75-730419BB5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94310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8A88E5-2A86-492A-920D-0728BF4E9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4400" y="2095500"/>
            <a:ext cx="1695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User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CAC0D8-D47F-45DB-8395-8EA0F2DF0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2438400"/>
            <a:ext cx="1809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86641C-C4A5-4BAC-9D5A-00F060BE0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4400" y="2552700"/>
            <a:ext cx="1695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userId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username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email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6A1E3E-E010-4B3B-A04B-1B48D9500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3257550"/>
            <a:ext cx="1809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BCB35D-E97D-42F9-AE0D-9B9719915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4400" y="3371850"/>
            <a:ext cx="1695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createPortfolio()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viewSummary()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E78B58-BE2D-4AB2-93C1-44D897073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8500" y="1657350"/>
            <a:ext cx="2247900" cy="23812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7F51A6-3D51-4952-8A78-F270D4E11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8500" y="1657350"/>
            <a:ext cx="2247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72300F-E082-4CE4-AA4A-F93526D08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09950" y="1809750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Portfolio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B694A7-A48F-4042-83F1-B907F669C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2800" y="2152650"/>
            <a:ext cx="2019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073124-B3FD-4204-A95C-9EB031298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09950" y="2266950"/>
            <a:ext cx="1905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portfolioId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name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transactions[]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positions[]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4797D6-6202-410F-B182-B4ABCB3E7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2800" y="3143250"/>
            <a:ext cx="2019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4AA5CC-DC1F-4922-B0AD-DBCC572A1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09950" y="3257550"/>
            <a:ext cx="1905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buildPositions()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createSnapshot()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getSummary()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B80D11-E05D-4661-874D-6DA4AE6C4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62650" y="1657350"/>
            <a:ext cx="2247900" cy="23812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CEFAAA-1416-4478-B66F-397B063F7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62650" y="1657350"/>
            <a:ext cx="2247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519103-B3B2-467C-BCDF-1CE15C2B8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34100" y="1809750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Position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C4EDA1-9A97-4FF1-9B9F-7AB4BF67F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6950" y="2152650"/>
            <a:ext cx="2019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F28923-D444-4C24-8BB2-3F9D2ADCC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34100" y="2266950"/>
            <a:ext cx="1905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stockId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quantity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averageCost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realizedPnl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90EC6F2-8ACA-47DE-8494-32030A237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6950" y="3143250"/>
            <a:ext cx="2019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CA2BB61-A9D1-4CCF-A39C-AC8C8D46E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34100" y="3257550"/>
            <a:ext cx="1905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getMarketValue()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getUnrealizedPnl()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BA9E4A-9464-4918-8D1F-9FD4D613B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86800" y="1657350"/>
            <a:ext cx="26670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7D59E2-224C-4BD5-8141-B0835B98D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86800" y="1657350"/>
            <a:ext cx="2667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BC79949-7ABB-4319-AA71-E538437D1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58250" y="1809750"/>
            <a:ext cx="2324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</a:defRPr>
            </a:pPr>
            <a:r>
              <a:rPr sz="1200" b="1">
                <a:solidFill>
                  <a:srgbClr val="172026"/>
                </a:solidFill>
              </a:rPr>
              <a:t>PortfolioTransaction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CFE29E2-D0CC-42E4-9A4D-2038C2DC4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01100" y="2152650"/>
            <a:ext cx="2438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E6F0345-958E-4328-8D71-369592C58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58250" y="2266950"/>
            <a:ext cx="23241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transactionId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type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quantity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pricePerShare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commission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42B9AC9-7CDF-4F47-8F8D-A57093440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01100" y="3314700"/>
            <a:ext cx="2438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D75AE86-2CA3-4600-ADBF-5F258FD0A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58250" y="3429000"/>
            <a:ext cx="2324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getGrossAmount()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getNetAmount()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0024478-A71F-4672-B010-85CEC60D4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0" y="4438650"/>
            <a:ext cx="236220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3D55BBD-0B25-44C5-A2CE-8DF881261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0" y="4438650"/>
            <a:ext cx="2362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6B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633EF25-8476-493C-B503-8BEBCBD17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71950" y="4591050"/>
            <a:ext cx="2019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</a:defRPr>
            </a:pPr>
            <a:r>
              <a:rPr sz="1200" b="1">
                <a:solidFill>
                  <a:srgbClr val="172026"/>
                </a:solidFill>
              </a:rPr>
              <a:t>TransactionValidator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97C085C-14AF-4C94-A903-6801A148B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14800" y="4933950"/>
            <a:ext cx="21336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3894404-BE2A-4267-AC2C-D08183061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71950" y="5048250"/>
            <a:ext cx="2019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normalizeInput()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validateSell()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55A3143-A3D3-4A88-ABEF-C09ADE810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14800" y="5657850"/>
            <a:ext cx="21336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87A8A2E-EF53-45CD-A1F4-08EDD28EA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71950" y="5772150"/>
            <a:ext cx="2019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canSell()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validateRequiredFields()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A350A11-1ED7-42E5-93F8-AE21E0CD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15150" y="4438650"/>
            <a:ext cx="236220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3B7DE29-1E71-4B35-8307-70391ADFD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15150" y="4438650"/>
            <a:ext cx="2362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420DA8F-25C5-4B34-A9D7-8BC15B650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86600" y="4591050"/>
            <a:ext cx="2019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</a:defRPr>
            </a:pPr>
            <a:r>
              <a:rPr sz="1200" b="1">
                <a:solidFill>
                  <a:srgbClr val="172026"/>
                </a:solidFill>
              </a:rPr>
              <a:t>PortfolioPriceService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B8C13FE-F836-4E8E-8335-78FC7786B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29450" y="4933950"/>
            <a:ext cx="21336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5D01210-1DFB-4840-A0CB-C377FBF40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86600" y="5048250"/>
            <a:ext cx="2019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getLatestPrices()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42B4A0F-4B1D-4A5C-90F2-6826EC5D6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29450" y="5657850"/>
            <a:ext cx="21336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0E4A6B7-4738-484F-992F-08825F9F0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86600" y="5772150"/>
            <a:ext cx="2019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mapPricesToPositions()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6AB818B-E848-417D-8EE6-C66D3A3DA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81300" y="2457450"/>
            <a:ext cx="3810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22DD1E8-A79D-434E-974E-3B68D03E4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86050" y="2286000"/>
            <a:ext cx="571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5B66"/>
                </a:solidFill>
              </a:defRPr>
            </a:pPr>
            <a:r>
              <a:rPr sz="825" b="0">
                <a:solidFill>
                  <a:srgbClr val="4F5B66"/>
                </a:solidFill>
              </a:rPr>
              <a:t>擁有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B6A4165-A7EB-4BF3-807D-7A5D82C9A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43550" y="2457450"/>
            <a:ext cx="3429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D8E5CAA-165F-4B97-B652-D0EE34E0E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48300" y="2286000"/>
            <a:ext cx="533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5B66"/>
                </a:solidFill>
              </a:defRPr>
            </a:pPr>
            <a:r>
              <a:rPr sz="825" b="0">
                <a:solidFill>
                  <a:srgbClr val="4F5B66"/>
                </a:solidFill>
              </a:rPr>
              <a:t>建立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8999737-9F33-433F-934A-62F2E788B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48650" y="2457450"/>
            <a:ext cx="3619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A900B2F-316A-44CD-8A73-82D7D09BE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53400" y="2286000"/>
            <a:ext cx="552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5B66"/>
                </a:solidFill>
              </a:defRPr>
            </a:pPr>
            <a:r>
              <a:rPr sz="825" b="0">
                <a:solidFill>
                  <a:srgbClr val="4F5B66"/>
                </a:solidFill>
              </a:rPr>
              <a:t>使用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9D6AA0B-1A0B-47A6-8046-3BFA7F830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048250" y="4152900"/>
            <a:ext cx="2667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6B84DD5-5277-49AE-98D4-FE4BD5B15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677150" y="4152900"/>
            <a:ext cx="2667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E5C90BE-709C-47C3-8A73-7B775D418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6172200"/>
            <a:ext cx="723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F5B66"/>
                </a:solidFill>
              </a:defRPr>
            </a:pPr>
            <a:r>
              <a:rPr sz="1050" b="0">
                <a:solidFill>
                  <a:srgbClr val="4F5B66"/>
                </a:solidFill>
              </a:rPr>
              <a:t>Portfolio 會聚合交易、建立持股部位，並產生摘要快照。</a:t>
            </a:r>
          </a:p>
          <a:p xmlns:a="http://schemas.openxmlformats.org/drawingml/2006/main">
            <a:pPr algn="l">
              <a:defRPr sz="1050" b="0">
                <a:solidFill>
                  <a:srgbClr val="4F5B66"/>
                </a:solidFill>
              </a:defRPr>
            </a:pPr>
            <a:r>
              <a:rPr sz="1050" b="0">
                <a:solidFill>
                  <a:srgbClr val="4F5B66"/>
                </a:solidFill>
              </a:rPr>
              <a:t>重構後 route handler 變薄，物件責任也更清楚。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B13C597-5D3D-4CBF-B906-87FC1C93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期中檢查簡報初稿。正式繳交前請替換組員姓名與實際截圖。</a:t>
            </a:r>
          </a:p>
        </p:txBody>
      </p:sp>
    </p:spTree>
    <p:extLst>
      <p:ext uri="{BB962C8B-B14F-4D97-AF65-F5344CB8AC3E}">
        <p14:creationId xmlns:p14="http://schemas.microsoft.com/office/powerpoint/2010/main" val="203865073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8FD7074-305B-41DE-A3D6-982236663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E50E21-3FCF-472C-8BBF-4AD632085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50E64A-6E5E-405C-B26D-2C1D45936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CA4BAE-A5D0-43E3-8F99-9E4F9DC1D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760CC0-2E34-45A9-9B80-BC6E6B63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DFDBA3-0706-405D-958D-88812E086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類別圖 B - 警示與回測領域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32DBE2-679D-4806-BEA2-9AEC17C85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這兩個新增領域是本專題超越 CRUD 的主要證據。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9003B2-EB4E-4D34-8103-F72A872A2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1500" y="1733550"/>
            <a:ext cx="2076450" cy="209550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AABDCD-C35F-4AF9-BFDA-D25F553E5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1500" y="1733550"/>
            <a:ext cx="20764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B44C1F-0DD9-4FAE-8CDD-EACD70E3D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1885950"/>
            <a:ext cx="1733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</a:defRPr>
            </a:pPr>
            <a:r>
              <a:rPr sz="1200" b="1">
                <a:solidFill>
                  <a:srgbClr val="172026"/>
                </a:solidFill>
              </a:rPr>
              <a:t>AlertRule &lt;&lt;abstract&gt;&gt;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C62E5A-2E34-4FD0-81CC-7D2020D66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" y="2228850"/>
            <a:ext cx="18478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2B7A10-18DD-46A8-9D0C-CACED517F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2343150"/>
            <a:ext cx="17335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stockId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thresholdValue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isActive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633620-8B73-4681-B7DA-1FD8B2B91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" y="3048000"/>
            <a:ext cx="18478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A48D33-826C-43EE-8592-ED95FBA79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" y="3162300"/>
            <a:ext cx="1733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isTriggered(snapshot)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getConditionLabel()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buildNotification()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914869-2877-45CB-A4A6-2C9E54713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48000" y="1733550"/>
            <a:ext cx="2095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332DE5-B9BA-4E3A-B057-BA8ACFB85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48000" y="1733550"/>
            <a:ext cx="2095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B7EDFE-B4E7-48CF-AF49-37E26A45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19450" y="1885950"/>
            <a:ext cx="175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PriceAbove / Below</a:t>
            </a:r>
          </a:p>
          <a:p xmlns:a="http://schemas.openxmlformats.org/drawingml/2006/main">
            <a:pPr algn="l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PercentChangeUp / Down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90FDA0-735E-48A7-AAFB-4BC8154F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62300" y="2362200"/>
            <a:ext cx="18669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134441-3655-480D-B11A-47DA3993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19450" y="2476500"/>
            <a:ext cx="1752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concrete rule fields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5E2742-2119-43F7-B588-399BEC749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62300" y="3086100"/>
            <a:ext cx="18669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476852-52F8-4841-A72D-13884E2C2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19450" y="3200400"/>
            <a:ext cx="1752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override isTriggered()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BDE052-8FF8-4A84-8D07-0F1F0EC73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0" y="1733550"/>
            <a:ext cx="2095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C58A6A-3125-4A9D-8FAB-B281A954A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0" y="1733550"/>
            <a:ext cx="2095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70E41F-7A5D-48AA-AB6A-7ED81FF3E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95950" y="188595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AlertEvaluator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7E8EE44-DA04-4403-A1BD-D7B5F36F0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38800" y="2228850"/>
            <a:ext cx="18669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39C3C98-47B2-436D-94F0-5E9128B2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95950" y="2343150"/>
            <a:ext cx="1752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evaluate(rules, snapshots)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65FEA43-6CDD-4C14-A432-E0CDDEFD7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38800" y="2952750"/>
            <a:ext cx="18669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23D796-E8DE-4C1B-B158-4C6079510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95950" y="306705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skip duplicate trigger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generate notifications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4FD8905-640E-47AB-AD7E-98FF527A3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0" y="1733550"/>
            <a:ext cx="2095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57D4E40-D6F8-47A2-9B62-DEAD0441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0" y="1733550"/>
            <a:ext cx="2095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D7FB94-8650-48AB-AF56-B4DA3E8ED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72450" y="188595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</a:defRPr>
            </a:pPr>
            <a:r>
              <a:rPr sz="1200" b="1">
                <a:solidFill>
                  <a:srgbClr val="172026"/>
                </a:solidFill>
              </a:rPr>
              <a:t>NotificationService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5FFB10B-5733-4AE5-8264-B5BD99C59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15300" y="2228850"/>
            <a:ext cx="18669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B81543-E66A-4483-95E9-19A8D5E9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72450" y="2343150"/>
            <a:ext cx="1752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persistTriggeredAlerts()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A28B1D1-CCC4-4744-AE80-B054DCD14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15300" y="2952750"/>
            <a:ext cx="18669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D52DFA5-CE29-43DE-8FFC-189EAEAFE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72450" y="3067050"/>
            <a:ext cx="1752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update lastTriggeredDate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45EDE78-99C5-41AC-849D-01320509C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96500" y="1733550"/>
            <a:ext cx="1524000" cy="20955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147615B-F0E2-47EE-A9A2-C6D750FCC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96500" y="1733550"/>
            <a:ext cx="1524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6B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D6E080A-10F1-4A6A-BA6C-1DA8E119B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67950" y="1885950"/>
            <a:ext cx="1181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Market</a:t>
            </a:r>
          </a:p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Snapshot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82A6117-47C2-427B-B9D1-772C637DF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10800" y="2362200"/>
            <a:ext cx="1295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4B141BA-0D50-4816-B1AE-87C9D9995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67950" y="2476500"/>
            <a:ext cx="1181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currentPrice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previousClose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0416A6C-A060-4D49-966B-8CFCDDD49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10800" y="3086100"/>
            <a:ext cx="1295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3A82B8F-A4CA-400B-92DE-3BADEB845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67950" y="3200400"/>
            <a:ext cx="1181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getPercentChange()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C90A189-8D63-4843-84C7-8A5B7CA51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24000" y="4324350"/>
            <a:ext cx="2457450" cy="1885950"/>
          </a:xfrm>
          <a:prstGeom xmlns:a="http://schemas.openxmlformats.org/drawingml/2006/main" prst="roundRect">
            <a:avLst>
              <a:gd name="adj" fmla="val 404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3B8E077-BF67-4D09-8A8C-775220874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24000" y="4324350"/>
            <a:ext cx="24574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22476C1-F08B-4129-B5E3-B7F68343F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95450" y="4476750"/>
            <a:ext cx="2114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MovingAverageCross</a:t>
            </a:r>
          </a:p>
          <a:p xmlns:a="http://schemas.openxmlformats.org/drawingml/2006/main">
            <a:pPr algn="l">
              <a:defRPr sz="1050" b="1">
                <a:solidFill>
                  <a:srgbClr val="172026"/>
                </a:solidFill>
              </a:defRPr>
            </a:pPr>
            <a:r>
              <a:rPr sz="1050" b="1">
                <a:solidFill>
                  <a:srgbClr val="172026"/>
                </a:solidFill>
              </a:rPr>
              <a:t>Strategy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ADAF99C-7CA3-43CF-8F72-F0A517572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38300" y="4953000"/>
            <a:ext cx="22288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95A8BCF-DD37-4CBE-A33F-1DAA470FD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95450" y="5067300"/>
            <a:ext cx="2114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shortWindow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longWindow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13EB254-8ABD-46CD-BDF1-16DB4AFB5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38300" y="5676900"/>
            <a:ext cx="22288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9F434B7-D3B5-4BB3-A947-090154FC0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95450" y="5791200"/>
            <a:ext cx="21145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generateSignals(priceSeries)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919C992-A318-4F26-8DE7-1DB6694E0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14850" y="4324350"/>
            <a:ext cx="2171700" cy="1885950"/>
          </a:xfrm>
          <a:prstGeom xmlns:a="http://schemas.openxmlformats.org/drawingml/2006/main" prst="roundRect">
            <a:avLst>
              <a:gd name="adj" fmla="val 404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019F6C1-9F67-4BFC-BB52-6FA064B32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14850" y="4324350"/>
            <a:ext cx="2171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3C932BD-B516-475E-9FF9-A51A0664E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86300" y="4476750"/>
            <a:ext cx="1828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BacktestEngine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A48C098-D3F5-44A2-907D-BB0677C7F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29150" y="4819650"/>
            <a:ext cx="19431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9D3F043-FD70-463F-8EAD-02D1491F5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86300" y="4933950"/>
            <a:ext cx="1828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run(strategy, priceSeries,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  initialCapital)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BE7279E-118E-41B2-A5B0-ADF542C11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29150" y="5543550"/>
            <a:ext cx="19431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195ADB7-4756-40E4-84C6-39D2CEEAE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86300" y="5657850"/>
            <a:ext cx="182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simulate trades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build equity curve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9460ADA-935E-4666-BEE9-6ED74235B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19950" y="4324350"/>
            <a:ext cx="1981200" cy="1885950"/>
          </a:xfrm>
          <a:prstGeom xmlns:a="http://schemas.openxmlformats.org/drawingml/2006/main" prst="roundRect">
            <a:avLst>
              <a:gd name="adj" fmla="val 404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E88A0DD-4503-495B-8A7F-7C9D03B99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19950" y="4324350"/>
            <a:ext cx="1981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7D17363-A531-4117-B44E-B52AE1C73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91400" y="4476750"/>
            <a:ext cx="1638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BacktestTrade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00B2A19-B0FB-487A-9DF6-F209497FF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0" y="4819650"/>
            <a:ext cx="17526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73A3C09-9A85-4EEE-9189-17A7C0A13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91400" y="4933950"/>
            <a:ext cx="16383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tradeType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tradeDate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price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quantity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58EAB33-FAB9-41A3-BFAE-50FCECBFF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0" y="5810250"/>
            <a:ext cx="17526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DD70AA0-2101-48D1-9FB6-552A768C5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91400" y="5924550"/>
            <a:ext cx="1638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toPersistence()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4B1C530-27B2-458D-BC1D-6579EB5B8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82150" y="4324350"/>
            <a:ext cx="2038350" cy="1885950"/>
          </a:xfrm>
          <a:prstGeom xmlns:a="http://schemas.openxmlformats.org/drawingml/2006/main" prst="roundRect">
            <a:avLst>
              <a:gd name="adj" fmla="val 404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7DC731C-42DA-4CA4-9B88-FF8D3B108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82150" y="432435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D5826C5-DF40-41D3-B2DF-0F455F045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53600" y="4476750"/>
            <a:ext cx="1695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PerformanceReport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8E9E69B-AE63-453D-8B7B-EFD70E93E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96450" y="4819650"/>
            <a:ext cx="1809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474B4A7-FCCB-4918-92DE-7799EB4CE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53600" y="4933950"/>
            <a:ext cx="1695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totalReturnPercent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maxDrawdownPercent</a:t>
            </a:r>
          </a:p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winRatePercent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74D7E4C-B654-4DBA-803E-95EA439A3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96450" y="5638800"/>
            <a:ext cx="1809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CED0B12-FC80-4C98-BB4A-26E78EC5B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53600" y="5753100"/>
            <a:ext cx="1695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F5B66"/>
                </a:solidFill>
              </a:defRPr>
            </a:pPr>
            <a:r>
              <a:rPr sz="975" b="0">
                <a:solidFill>
                  <a:srgbClr val="4F5B66"/>
                </a:solidFill>
              </a:rPr>
              <a:t>+ fromBacktest()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A1C20B6-F067-48CB-A09A-3D0A9EF32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67000" y="2609850"/>
            <a:ext cx="3238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0CE0168-56BE-494E-B696-50BDC1143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71750" y="2438400"/>
            <a:ext cx="514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5B66"/>
                </a:solidFill>
              </a:defRPr>
            </a:pPr>
            <a:r>
              <a:rPr sz="825" b="0">
                <a:solidFill>
                  <a:srgbClr val="4F5B66"/>
                </a:solidFill>
              </a:rPr>
              <a:t>繼承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E947271-8BDF-44F3-8BD1-EAD162A82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62550" y="2609850"/>
            <a:ext cx="2667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647EF2A3-0A44-4502-95DE-C01DBA948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67300" y="2438400"/>
            <a:ext cx="457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5B66"/>
                </a:solidFill>
              </a:defRPr>
            </a:pPr>
            <a:r>
              <a:rPr sz="825" b="0">
                <a:solidFill>
                  <a:srgbClr val="4F5B66"/>
                </a:solidFill>
              </a:rPr>
              <a:t>使用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DC98A43-FD52-46E7-8E62-B3C7F5F9D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58100" y="2609850"/>
            <a:ext cx="2667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7068204-77C0-4D51-8791-797D99E86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62850" y="2438400"/>
            <a:ext cx="457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5B66"/>
                </a:solidFill>
              </a:defRPr>
            </a:pPr>
            <a:r>
              <a:rPr sz="825" b="0">
                <a:solidFill>
                  <a:srgbClr val="4F5B66"/>
                </a:solidFill>
              </a:rPr>
              <a:t>使用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5EE3CE6-D3FF-4AEC-8ABA-9175114F9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39300" y="2609850"/>
            <a:ext cx="3048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2F96DCC-0462-4998-9E83-285EC473B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44050" y="2438400"/>
            <a:ext cx="495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5B66"/>
                </a:solidFill>
              </a:defRPr>
            </a:pPr>
            <a:r>
              <a:rPr sz="825" b="0">
                <a:solidFill>
                  <a:srgbClr val="4F5B66"/>
                </a:solidFill>
              </a:rPr>
              <a:t>讀取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BAA20FB-1B04-4106-A173-D902554D8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9550" y="5200650"/>
            <a:ext cx="4000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9C7058B-50CC-44E9-AAAA-608E6F92D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24300" y="5029200"/>
            <a:ext cx="5905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5B66"/>
                </a:solidFill>
              </a:defRPr>
            </a:pPr>
            <a:r>
              <a:rPr sz="825" b="0">
                <a:solidFill>
                  <a:srgbClr val="4F5B66"/>
                </a:solidFill>
              </a:rPr>
              <a:t>執行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5ED1BC5-5FA9-47CB-8A24-855E8B08E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43700" y="5200650"/>
            <a:ext cx="3810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9B0DD272-49BF-4614-B00B-D83265524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48450" y="5029200"/>
            <a:ext cx="571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5B66"/>
                </a:solidFill>
              </a:defRPr>
            </a:pPr>
            <a:r>
              <a:rPr sz="825" b="0">
                <a:solidFill>
                  <a:srgbClr val="4F5B66"/>
                </a:solidFill>
              </a:rPr>
              <a:t>建立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87D28891-DAB9-4D53-9DAA-0109BDDCB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39250" y="5200650"/>
            <a:ext cx="2857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F72D17C0-25B3-44F0-B6E5-C659AB5D7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44000" y="5029200"/>
            <a:ext cx="476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5B66"/>
                </a:solidFill>
              </a:defRPr>
            </a:pPr>
            <a:r>
              <a:rPr sz="825" b="0">
                <a:solidFill>
                  <a:srgbClr val="4F5B66"/>
                </a:solidFill>
              </a:rPr>
              <a:t>產生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8950FD3-14E0-47AF-ADF6-B3B849FF8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本頁是主要 OOAD 證據：抽象規則、具體策略、回測引擎與報告物件。</a:t>
            </a:r>
          </a:p>
        </p:txBody>
      </p:sp>
    </p:spTree>
    <p:extLst>
      <p:ext uri="{BB962C8B-B14F-4D97-AF65-F5344CB8AC3E}">
        <p14:creationId xmlns:p14="http://schemas.microsoft.com/office/powerpoint/2010/main" val="185413245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21418D-8775-46E9-B214-D87735B7B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55FB57-B56A-4B83-A472-B09AFA062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503C42-FA05-43C2-94A9-9B1947852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93DE88-3CE6-4D8C-AFE5-94951EA70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1AB135-FD8F-480C-8473-BF69D5475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9A6106-DE76-4C54-96A6-D29B7F427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設計模式 1 - Strategy Pattern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A5996C-0339-4CAA-ADBF-84EDC0862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說明設計意圖、實際使用位置，以及對原型的影響。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58B644-A3DE-4161-A1EB-9535677CA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66900"/>
            <a:ext cx="3086100" cy="3829050"/>
          </a:xfrm>
          <a:prstGeom xmlns:a="http://schemas.openxmlformats.org/drawingml/2006/main" prst="roundRect">
            <a:avLst>
              <a:gd name="adj" fmla="val 246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1D0159-A262-41B2-A34F-4FF62249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66900"/>
            <a:ext cx="3086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A74677-422B-45EC-9A98-C8F17C57C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2038350"/>
            <a:ext cx="2705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設計意圖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22AEC4-B02D-455D-8EA8-F7073C32B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2400300"/>
            <a:ext cx="25908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把可替換的演算法封裝在共同介面後面，讓主要執行流程不依賴特定實作。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因此系統可以切換行為，而不必修改 controller 或 service 的主流程。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FA14BC-6917-4E43-954C-6E8870169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33900" y="1866900"/>
            <a:ext cx="3162300" cy="3829050"/>
          </a:xfrm>
          <a:prstGeom xmlns:a="http://schemas.openxmlformats.org/drawingml/2006/main" prst="roundRect">
            <a:avLst>
              <a:gd name="adj" fmla="val 24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25729A-AB6F-4CCC-9695-812A69D9E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33900" y="1866900"/>
            <a:ext cx="3162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CBB52B-08C7-49F8-926A-BD71E702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24400" y="2038350"/>
            <a:ext cx="2781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使用位置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A8289F-18EB-46E5-B2F6-FB10D7C8C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81550" y="2400300"/>
            <a:ext cx="26670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1. 警示規則</a:t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AlertRule -&gt; PriceAboveAlertRule / PriceBelowAlertRule / PercentChange rules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2. 回測策略</a:t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MovingAverageCrossStrategy 由 BacktestEngine 執行，未來可擴充 RSI 或突破策略。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1A9F16-B7AD-4EF6-9A6B-51804007C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34400" y="1866900"/>
            <a:ext cx="3048000" cy="382905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5A47A2-BAF3-40DA-831D-74FCA4A5E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34400" y="1866900"/>
            <a:ext cx="3048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4E18F6-0264-4F6F-AB9C-0A34A496E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24900" y="2038350"/>
            <a:ext cx="2667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對專題的效果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E45B35-40CA-427D-B973-CC27AD9DA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82050" y="2400300"/>
            <a:ext cx="25527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1. 減少大型 if-else 判斷</a:t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2. 提升擴充性</a:t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3. 讓物件設計更明確</a:t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4. 評估器與引擎可保持穩定，只替換演算法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12E53B-08E4-4EE2-ADFF-25636A73D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43450" y="4838700"/>
            <a:ext cx="10858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AEFD9"/>
          </a:solidFill>
          <a:ln xmlns:a="http://schemas.openxmlformats.org/drawingml/2006/main" w="10478">
            <a:solidFill>
              <a:srgbClr val="23313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F142E7-D013-4583-973F-12A9F2FE3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43450" y="4953000"/>
            <a:ext cx="1085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026"/>
                </a:solidFill>
              </a:defRPr>
            </a:pPr>
            <a:r>
              <a:rPr sz="1200" b="1">
                <a:solidFill>
                  <a:srgbClr val="172026"/>
                </a:solidFill>
              </a:rPr>
              <a:t>AlertRule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799C67-BEB8-4CF3-B3F1-8B6423E0A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67400" y="4972050"/>
            <a:ext cx="5524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A949F0D-292B-4F6B-9DBA-1CB0AF62C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53200" y="4686300"/>
            <a:ext cx="9525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DFF5EC"/>
          </a:solidFill>
          <a:ln xmlns:a="http://schemas.openxmlformats.org/drawingml/2006/main" w="10478">
            <a:solidFill>
              <a:srgbClr val="23313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8A818-DB1F-464F-8F87-ACB61421E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53200" y="4772025"/>
            <a:ext cx="95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PriceAbove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E2BE2D-E3B4-4FC8-AE7B-93C6841C1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53200" y="5105400"/>
            <a:ext cx="9525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5EEFF"/>
          </a:solidFill>
          <a:ln xmlns:a="http://schemas.openxmlformats.org/drawingml/2006/main" w="10478">
            <a:solidFill>
              <a:srgbClr val="23313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95982F-EB64-480F-AED4-EC4BFBF22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53200" y="5191125"/>
            <a:ext cx="95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PercentChange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5A41E2-ECD4-4BA5-A282-EEC38B8A6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期中檢查簡報初稿。正式繳交前請替換組員姓名與實際截圖。</a:t>
            </a:r>
          </a:p>
        </p:txBody>
      </p:sp>
    </p:spTree>
    <p:extLst>
      <p:ext uri="{BB962C8B-B14F-4D97-AF65-F5344CB8AC3E}">
        <p14:creationId xmlns:p14="http://schemas.microsoft.com/office/powerpoint/2010/main" val="208247266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EEAC5A-0CBF-46B8-B893-88DD6C454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2B2F6A-ACAC-473F-B4FF-DDA33BB4F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E35D70-635B-4AE7-B6FB-4E9377DC4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2A944D-B1F4-4CC0-8405-2DFEC980B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BC65D1-B35B-4393-AA31-B1B00572C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95E3A7-0B36-4E57-B4AF-DCB2F0A79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設計模式 2 - Factory Pattern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7F23F8-DD43-40BA-A8E5-670C2E7B0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設計模式必須對專題有實際作用，而不是只在理論上提到。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B2D097-0856-413C-ABAA-0933D7F70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66900"/>
            <a:ext cx="3143250" cy="37909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0F716C-8109-4199-9311-05BD63FB1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66900"/>
            <a:ext cx="3143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14CE1B-59FF-4B48-933B-DDC8791E0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2038350"/>
            <a:ext cx="2762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設計意圖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035B2D-54DC-4071-9238-3B243CFAD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2400300"/>
            <a:ext cx="26479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集中物件建立邏輯，讓上層不直接依賴具體類別。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API layer 不應該自己判斷要建立哪一種具體警示規則物件。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E2A931-F0C9-404C-9E8B-EE1CD888C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14850" y="1866900"/>
            <a:ext cx="3295650" cy="3790950"/>
          </a:xfrm>
          <a:prstGeom xmlns:a="http://schemas.openxmlformats.org/drawingml/2006/main" prst="roundRect">
            <a:avLst>
              <a:gd name="adj" fmla="val 231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067122-85A4-4E69-A071-A8E013049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14850" y="1866900"/>
            <a:ext cx="32956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47D220-8984-4563-9D98-AB18C29A4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05350" y="203835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使用位置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E01AE5-A9A6-4753-8B61-FC5982377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0" y="2400300"/>
            <a:ext cx="280035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Function: createAlertRule(...)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Input: 資料庫中的 alert rule record</a:t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Output: 具體 AlertRule object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在評估前，先把儲存設定轉成可執行的 domain object。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E52E3B-AF35-4DF3-BA9B-CB2C6D8F9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0" y="1866900"/>
            <a:ext cx="3009900" cy="3790950"/>
          </a:xfrm>
          <a:prstGeom xmlns:a="http://schemas.openxmlformats.org/drawingml/2006/main" prst="roundRect">
            <a:avLst>
              <a:gd name="adj" fmla="val 253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3B4F8F-B2A4-4E3A-BC37-3BEF2EEA5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0" y="1866900"/>
            <a:ext cx="3009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851CFB-ABCD-4B29-9379-C1BFBFA2B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63000" y="2038350"/>
            <a:ext cx="2628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對專題的效果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4B1087-16F3-451E-8E6E-92264AB57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20150" y="2400300"/>
            <a:ext cx="25146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1. API code 保持簡潔</a:t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2. 物件建立邏輯可重用</a:t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3. 更容易新增規則類型</a:t>
            </a:r>
          </a:p>
          <a:p xmlns:a="http://schemas.openxmlformats.org/drawingml/2006/main">
            <a:pPr algn="l">
              <a:defRPr sz="1275" b="0">
                <a:solidFill>
                  <a:srgbClr val="172026"/>
                </a:solidFill>
              </a:defRPr>
            </a:pPr>
            <a:r>
              <a:rPr sz="1275" b="0">
                <a:solidFill>
                  <a:srgbClr val="172026"/>
                </a:solidFill>
              </a:rPr>
              <a:t>4. 未來可擴充為 StrategyFactory，支援多種回測策略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D4FBE6-D3B8-45E7-A3F1-822987FD8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00600" y="4610100"/>
            <a:ext cx="14287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BE5DF"/>
          </a:solidFill>
          <a:ln xmlns:a="http://schemas.openxmlformats.org/drawingml/2006/main" w="10478">
            <a:solidFill>
              <a:srgbClr val="23313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A5B1FD-F204-4AFA-B5B7-3158B904D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00600" y="4724400"/>
            <a:ext cx="1428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DB 規則紀錄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7C1F75-15CD-45F7-B34B-7D5A4E1BB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05550" y="4752975"/>
            <a:ext cx="7048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B2D020-8286-4CA9-BE9C-963E80A80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67550" y="4514850"/>
            <a:ext cx="14859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DFF5EC"/>
          </a:solidFill>
          <a:ln xmlns:a="http://schemas.openxmlformats.org/drawingml/2006/main" w="10478">
            <a:solidFill>
              <a:srgbClr val="23313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987E44-68CE-4733-998E-9CF41D0AC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67550" y="4667250"/>
            <a:ext cx="1485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26"/>
                </a:solidFill>
              </a:defRPr>
            </a:pPr>
            <a:r>
              <a:rPr sz="1125" b="1">
                <a:solidFill>
                  <a:srgbClr val="172026"/>
                </a:solidFill>
              </a:rPr>
              <a:t>createAlertRule(...)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745C19-56B6-4D80-BD94-FE1350D3B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10600" y="4752975"/>
            <a:ext cx="7048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2026"/>
          </a:solidFill>
          <a:ln xmlns:a="http://schemas.openxmlformats.org/drawingml/2006/main" w="0">
            <a:solidFill>
              <a:srgbClr val="17202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8E3B49-5F60-4D26-924A-AF0F689B7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91650" y="4400550"/>
            <a:ext cx="17335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AEFD9"/>
          </a:solidFill>
          <a:ln xmlns:a="http://schemas.openxmlformats.org/drawingml/2006/main" w="10478">
            <a:solidFill>
              <a:srgbClr val="23313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3C55250-C90E-4B8A-AEEF-4D60E4F8D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91650" y="4495800"/>
            <a:ext cx="1733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PriceAboveAlertRule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1A20E00-4173-4F6D-B54E-94B5487B3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91650" y="4876800"/>
            <a:ext cx="17335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5EEFF"/>
          </a:solidFill>
          <a:ln xmlns:a="http://schemas.openxmlformats.org/drawingml/2006/main" w="10478">
            <a:solidFill>
              <a:srgbClr val="23313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3102483-0501-4406-B892-966C81C7A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91650" y="4972050"/>
            <a:ext cx="1733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2026"/>
                </a:solidFill>
              </a:defRPr>
            </a:pPr>
            <a:r>
              <a:rPr sz="975" b="1">
                <a:solidFill>
                  <a:srgbClr val="172026"/>
                </a:solidFill>
              </a:rPr>
              <a:t>PercentChangeUpAlertRule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55185A2-0CF9-44D0-B6EA-AB937C51F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期中檢查簡報初稿。正式繳交前請替換組員姓名與實際截圖。</a:t>
            </a:r>
          </a:p>
        </p:txBody>
      </p:sp>
    </p:spTree>
    <p:extLst>
      <p:ext uri="{BB962C8B-B14F-4D97-AF65-F5344CB8AC3E}">
        <p14:creationId xmlns:p14="http://schemas.microsoft.com/office/powerpoint/2010/main" val="190541306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70D95D5-A6F2-4A37-AAD9-0FD2F8BBB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E73D7F-D26D-4C04-AB43-7BA9B91CC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5EE043-411D-4989-9352-4812087CA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B616CF-8E16-4E4F-ADA6-98293E61C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111ACA-52AB-432A-BF3C-BF42178EB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58F469-6F23-43C5-9817-EE47087BD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結論與下一步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55141F-8333-429E-96AE-6BF3ED6FC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用已完成修正與後續方向收束本次期中檢查。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46A9A3-4421-4457-90DE-1384E112D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962150"/>
            <a:ext cx="3429000" cy="2647950"/>
          </a:xfrm>
          <a:prstGeom xmlns:a="http://schemas.openxmlformats.org/drawingml/2006/main" prst="roundRect">
            <a:avLst>
              <a:gd name="adj" fmla="val 2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6DB108-085E-4710-A7AA-91B9FEBBA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9621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4D88FA-6249-4707-A11D-272BEA48B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21336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期中檢查結論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10C3FF-0864-4F12-9B70-C39960CD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2514600"/>
            <a:ext cx="293370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本專題已從資料查詢網站，提升為規則與策略驅動的投資分析平台。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目前能展示物件責任、領域建模、可繪製圖表的架構，以及設計模式的實際效果。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5EBA4D-D7D9-4774-9A58-14E20ACC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81500" y="1962150"/>
            <a:ext cx="3429000" cy="2647950"/>
          </a:xfrm>
          <a:prstGeom xmlns:a="http://schemas.openxmlformats.org/drawingml/2006/main" prst="roundRect">
            <a:avLst>
              <a:gd name="adj" fmla="val 2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9E1CA6-F52D-4D5C-ADE3-2292CFAFA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81500" y="19621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247DA3-FBB8-4DD0-A0B0-7E2118528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0" y="21336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已完成內容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0DA7C0-AF2E-41A0-8C20-7263A5F96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29150" y="2514600"/>
            <a:ext cx="293370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- MySQL 已重建並整合</a:t>
            </a:r>
          </a:p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- Portfolio Domain 已重構</a:t>
            </a:r>
          </a:p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- 已新增警示與通知</a:t>
            </a:r>
          </a:p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- 已新增移動平均回測</a:t>
            </a:r>
          </a:p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- 已整理為 11 個主要 use cases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891657-2F3F-4357-A18D-66313E904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53400" y="1962150"/>
            <a:ext cx="3429000" cy="2647950"/>
          </a:xfrm>
          <a:prstGeom xmlns:a="http://schemas.openxmlformats.org/drawingml/2006/main" prst="roundRect">
            <a:avLst>
              <a:gd name="adj" fmla="val 2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B46D2D-3586-45B1-AE10-9D69D60C7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53400" y="19621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FE5EB0-FBCA-4ACF-9650-2CED763D7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43900" y="213360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下一步開發方向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C80E48-088F-43C3-ABCA-966AA722D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01050" y="2514600"/>
            <a:ext cx="293370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- 新增 RSI 等更多策略</a:t>
            </a:r>
          </a:p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- 加入排程式警示評估</a:t>
            </a:r>
          </a:p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- 比較多組回測參數</a:t>
            </a:r>
          </a:p>
          <a:p xmlns:a="http://schemas.openxmlformats.org/drawingml/2006/main">
            <a:pPr algn="l">
              <a:defRPr sz="1350" b="0">
                <a:solidFill>
                  <a:srgbClr val="172026"/>
                </a:solidFill>
              </a:defRPr>
            </a:pPr>
            <a:r>
              <a:rPr sz="1350" b="0">
                <a:solidFill>
                  <a:srgbClr val="172026"/>
                </a:solidFill>
              </a:rPr>
              <a:t>- 替換正式截圖與組員姓名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30FD6D-5271-4AB4-84B6-3E0E9A409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62100" y="5105400"/>
            <a:ext cx="908685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C049FC-11D1-4647-AAE1-642D4E09D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66900" y="5391150"/>
            <a:ext cx="8477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2026"/>
                </a:solidFill>
              </a:defRPr>
            </a:pPr>
            <a:r>
              <a:rPr sz="1800" b="1">
                <a:solidFill>
                  <a:srgbClr val="172026"/>
                </a:solidFill>
              </a:rPr>
              <a:t>本次報告重點：</a:t>
            </a:r>
          </a:p>
          <a:p xmlns:a="http://schemas.openxmlformats.org/drawingml/2006/main">
            <a:pPr algn="ctr">
              <a:defRPr sz="1800" b="1">
                <a:solidFill>
                  <a:srgbClr val="172026"/>
                </a:solidFill>
              </a:defRPr>
            </a:pPr>
            <a:r>
              <a:rPr sz="1800" b="1">
                <a:solidFill>
                  <a:srgbClr val="172026"/>
                </a:solidFill>
              </a:rPr>
              <a:t>我們不只展示系統能做什麼，也展示物件導向分析與設計如何組織整個系統。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A9E0E5-28E2-4A37-AAF7-7C12CD21B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本版之後建議替換組員姓名，並從實際可運行原型匯出正式截圖。</a:t>
            </a:r>
          </a:p>
        </p:txBody>
      </p:sp>
    </p:spTree>
    <p:extLst>
      <p:ext uri="{BB962C8B-B14F-4D97-AF65-F5344CB8AC3E}">
        <p14:creationId xmlns:p14="http://schemas.microsoft.com/office/powerpoint/2010/main" val="123009780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20CF119-1E5F-46FB-9FAE-11E39BE80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20250" y="-857250"/>
            <a:ext cx="3429000" cy="3429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678622-B5D0-4DB2-A010-E6B95CC94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-857250" y="533400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F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291531-902E-4424-9834-27667814A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2667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E6B52"/>
                </a:solidFill>
              </a:defRPr>
            </a:pPr>
            <a:r>
              <a:rPr sz="825" b="1">
                <a:solidFill>
                  <a:srgbClr val="0E6B52"/>
                </a:solidFill>
              </a:rPr>
              <a:t>CSC0005 專題期中檢查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84A97C-FFB8-4F79-9F82-611E57611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163300" y="2476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E6B52"/>
                </a:solidFill>
              </a:defRPr>
            </a:pPr>
            <a:r>
              <a:rPr sz="900" b="1">
                <a:solidFill>
                  <a:srgbClr val="0E6B52"/>
                </a:solidFill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E36EA9-B04A-49A8-AD27-68EA9D2A1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5143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F669BC-66DC-45DC-B24D-088754CBE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781050"/>
            <a:ext cx="885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026"/>
                </a:solidFill>
              </a:defRPr>
            </a:pPr>
            <a:r>
              <a:rPr sz="2400" b="1">
                <a:solidFill>
                  <a:srgbClr val="172026"/>
                </a:solidFill>
              </a:rPr>
              <a:t>候選 Use Cases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74BD3E-CFBC-4C39-9A38-CFF42F749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12573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F5B66"/>
                </a:solidFill>
              </a:defRPr>
            </a:pPr>
            <a:r>
              <a:rPr sz="1200" b="0">
                <a:solidFill>
                  <a:srgbClr val="4F5B66"/>
                </a:solidFill>
              </a:rPr>
              <a:t>作為備援清單，避免現場若有 use case 被認定過大或過小時缺少替換項目。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DA6814-9C65-44EC-B5E0-2AE99B9E8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85950"/>
            <a:ext cx="33528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4BFD26-7038-4157-9DD0-398435B3C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1885950"/>
            <a:ext cx="3352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B6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92516D-BB01-4656-ACAB-4B144F342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2057400"/>
            <a:ext cx="2971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ALT01 刪除警示規則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0F0B07-731C-4F3F-9F94-C4EA98A18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" y="2419350"/>
            <a:ext cx="2971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已完成。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可替換 alert lifecycle 相關項目，獨立性高。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3B2034-1399-43B8-90DE-9B8DD8662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1885950"/>
            <a:ext cx="33528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B37A1A-3A8B-4860-B36E-A9B9BED36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1885950"/>
            <a:ext cx="3352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5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8C4470-D45A-4C87-A6D0-A0A5F1D05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10100" y="2057400"/>
            <a:ext cx="2971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ALT02 查看投資組合摘要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4EAEA0-E02C-48F7-93CA-D9C08A8D5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10100" y="2419350"/>
            <a:ext cx="2971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已完成。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若老師認為「管理投資組合」太泛，可改用此任務。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0B6B83-B68C-4585-8245-E27196D68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29600" y="1885950"/>
            <a:ext cx="33528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F8758D-7492-4E41-9C57-6D926BE31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29600" y="1885950"/>
            <a:ext cx="3352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9B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2A1840-4C22-4BE9-8C3A-FD33F862F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20100" y="2057400"/>
            <a:ext cx="2971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ALT03 查看投資組合交易紀錄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B2F6C4-56DD-47E3-886C-09242777D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20100" y="2419350"/>
            <a:ext cx="2971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已完成。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可用來替換較偏管理者或系統型的 use case。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D7630C-A4DB-4BCC-9C9B-06EBC397A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62100" y="3848100"/>
            <a:ext cx="33528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702F43-20A6-43B0-B70B-3D8B47987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62100" y="3848100"/>
            <a:ext cx="3352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0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2E109E-DD19-4198-A9CD-86673E81E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52600" y="4019550"/>
            <a:ext cx="2971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ALT04 手動執行警示評估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25DBC7-39E5-423D-8F85-685DEEC8F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52600" y="4381500"/>
            <a:ext cx="2971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已完成。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直接對應 evaluate route，能展示規則批次評估流程。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8C7CE4-6FF7-4332-8C33-A869D3C2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72100" y="3848100"/>
            <a:ext cx="46482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23313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CDE3BF-45AD-4D2D-AA3F-0317AA22B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72100" y="3848100"/>
            <a:ext cx="4648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6B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E94556-9001-44C6-B28C-3AC79C7A5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2600" y="4019550"/>
            <a:ext cx="426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</a:defRPr>
            </a:pPr>
            <a:r>
              <a:rPr sz="1350" b="1">
                <a:solidFill>
                  <a:srgbClr val="172026"/>
                </a:solidFill>
              </a:rPr>
              <a:t>ALT05 比較不同回測參數結果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64AA7A-D20C-4D00-B7C5-E9A32BF24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2600" y="4381500"/>
            <a:ext cx="4267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尚未完成。</a:t>
            </a:r>
          </a:p>
          <a:p xmlns:a="http://schemas.openxmlformats.org/drawingml/2006/main">
            <a:pPr algn="l">
              <a:defRPr sz="1125" b="0">
                <a:solidFill>
                  <a:srgbClr val="4F5B66"/>
                </a:solidFill>
              </a:defRPr>
            </a:pPr>
            <a:r>
              <a:rPr sz="1125" b="0">
                <a:solidFill>
                  <a:srgbClr val="4F5B66"/>
                </a:solidFill>
              </a:rPr>
              <a:t>若後續補做成功，最適合提升策略與報告物件的複雜度。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AD1E8E-7827-409A-9A11-4248563DE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1050" y="5810250"/>
            <a:ext cx="10763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替換建議：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1. 若「查看通知與標記已讀」太像結果頁，可改成「手動執行警示評估」。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2. 若「管理投資組合」太大，可拆成「查看投資組合摘要」。</a:t>
            </a:r>
          </a:p>
          <a:p xmlns:a="http://schemas.openxmlformats.org/drawingml/2006/main">
            <a:pPr algn="l">
              <a:defRPr sz="1125" b="0">
                <a:solidFill>
                  <a:srgbClr val="172026"/>
                </a:solidFill>
              </a:defRPr>
            </a:pPr>
            <a:r>
              <a:rPr sz="1125" b="0">
                <a:solidFill>
                  <a:srgbClr val="172026"/>
                </a:solidFill>
              </a:rPr>
              <a:t>3. 若「更新市場資料」太偏維護，可改成「查看投資組合交易紀錄」。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3ACECEA-12B6-410E-A2F1-EF2659933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5341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F5B66"/>
                </a:solidFill>
              </a:defRPr>
            </a:pPr>
            <a:r>
              <a:rPr sz="750" b="0">
                <a:solidFill>
                  <a:srgbClr val="4F5B66"/>
                </a:solidFill>
              </a:rPr>
              <a:t>此頁可放在最後作為口頭備援，不一定要逐項詳細講解。</a:t>
            </a:r>
          </a:p>
        </p:txBody>
      </p:sp>
    </p:spTree>
    <p:extLst>
      <p:ext uri="{BB962C8B-B14F-4D97-AF65-F5344CB8AC3E}">
        <p14:creationId xmlns:p14="http://schemas.microsoft.com/office/powerpoint/2010/main" val="2297114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2026-05-02T08:43:55.3920000Z</dcterms:created>
  <dcterms:modified xsi:type="dcterms:W3CDTF">2026-05-02T08:43:55.3920000Z</dcterms:modified>
</coreProperties>
</file>