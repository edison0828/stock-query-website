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c2af89aa8bf4fca" /><Relationship Type="http://schemas.openxmlformats.org/officeDocument/2006/relationships/extended-properties" Target="/docProps/app.xml" Id="Rced2ee34c8914415" /><Relationship Type="http://schemas.openxmlformats.org/officeDocument/2006/relationships/officeDocument" Target="/ppt/presentation.xml" Id="R9d3091a17e8d410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e32f6f0bcdf47f0"/>
  </p:sldMasterIdLst>
  <p:notesMasterIdLst>
    <p:notesMasterId xmlns:r="http://schemas.openxmlformats.org/officeDocument/2006/relationships" r:id="R5b2de6dd7cd54616"/>
  </p:notesMasterIdLst>
  <p:sldIdLst>
    <p:sldId xmlns:r="http://schemas.openxmlformats.org/officeDocument/2006/relationships" id="256" r:id="R9f028ddc8ac3406d"/>
    <p:sldId xmlns:r="http://schemas.openxmlformats.org/officeDocument/2006/relationships" id="257" r:id="R129a516dac4445d3"/>
    <p:sldId xmlns:r="http://schemas.openxmlformats.org/officeDocument/2006/relationships" id="258" r:id="R2f9c7b53f25742dc"/>
    <p:sldId xmlns:r="http://schemas.openxmlformats.org/officeDocument/2006/relationships" id="259" r:id="R1a2edf09f16042b9"/>
    <p:sldId xmlns:r="http://schemas.openxmlformats.org/officeDocument/2006/relationships" id="260" r:id="Rcaf1c2cc55584f19"/>
    <p:sldId xmlns:r="http://schemas.openxmlformats.org/officeDocument/2006/relationships" id="261" r:id="R43e54514d2634a96"/>
    <p:sldId xmlns:r="http://schemas.openxmlformats.org/officeDocument/2006/relationships" id="262" r:id="Rf60bd505c51e49cd"/>
    <p:sldId xmlns:r="http://schemas.openxmlformats.org/officeDocument/2006/relationships" id="263" r:id="R197caa4eeaa6475d"/>
    <p:sldId xmlns:r="http://schemas.openxmlformats.org/officeDocument/2006/relationships" id="264" r:id="R9daaa6fde80c4411"/>
    <p:sldId xmlns:r="http://schemas.openxmlformats.org/officeDocument/2006/relationships" id="265" r:id="R21b2fb2b71054597"/>
    <p:sldId xmlns:r="http://schemas.openxmlformats.org/officeDocument/2006/relationships" id="266" r:id="R9cee541d06ef49ae"/>
    <p:sldId xmlns:r="http://schemas.openxmlformats.org/officeDocument/2006/relationships" id="267" r:id="R1382b0c245354e5a"/>
    <p:sldId xmlns:r="http://schemas.openxmlformats.org/officeDocument/2006/relationships" id="268" r:id="R899c1ba76f2747c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32f6f0bcdf47f0" /><Relationship Type="http://schemas.openxmlformats.org/officeDocument/2006/relationships/theme" Target="/ppt/theme/theme1.xml" Id="R5b5a80f771b14b18" /><Relationship Type="http://schemas.openxmlformats.org/officeDocument/2006/relationships/notesMaster" Target="/ppt/notesMasters/notesMaster1.xml" Id="R5b2de6dd7cd54616" /><Relationship Type="http://schemas.openxmlformats.org/officeDocument/2006/relationships/presProps" Target="/ppt/presProps.xml" Id="R4fd6ca87fc09436d" /><Relationship Type="http://schemas.openxmlformats.org/officeDocument/2006/relationships/viewProps" Target="/ppt/viewProps.xml" Id="R2c223452456c4320" /><Relationship Type="http://schemas.openxmlformats.org/officeDocument/2006/relationships/tableStyles" Target="/ppt/tableStyles.xml" Id="R00824250b7824997" /><Relationship Type="http://schemas.openxmlformats.org/officeDocument/2006/relationships/slide" Target="/ppt/slides/slide1.xml" Id="R9f028ddc8ac3406d" /><Relationship Type="http://schemas.openxmlformats.org/officeDocument/2006/relationships/slide" Target="/ppt/slides/slide2.xml" Id="R129a516dac4445d3" /><Relationship Type="http://schemas.openxmlformats.org/officeDocument/2006/relationships/slide" Target="/ppt/slides/slide3.xml" Id="R2f9c7b53f25742dc" /><Relationship Type="http://schemas.openxmlformats.org/officeDocument/2006/relationships/slide" Target="/ppt/slides/slide4.xml" Id="R1a2edf09f16042b9" /><Relationship Type="http://schemas.openxmlformats.org/officeDocument/2006/relationships/slide" Target="/ppt/slides/slide5.xml" Id="Rcaf1c2cc55584f19" /><Relationship Type="http://schemas.openxmlformats.org/officeDocument/2006/relationships/slide" Target="/ppt/slides/slide6.xml" Id="R43e54514d2634a96" /><Relationship Type="http://schemas.openxmlformats.org/officeDocument/2006/relationships/slide" Target="/ppt/slides/slide7.xml" Id="Rf60bd505c51e49cd" /><Relationship Type="http://schemas.openxmlformats.org/officeDocument/2006/relationships/slide" Target="/ppt/slides/slide8.xml" Id="R197caa4eeaa6475d" /><Relationship Type="http://schemas.openxmlformats.org/officeDocument/2006/relationships/slide" Target="/ppt/slides/slide9.xml" Id="R9daaa6fde80c4411" /><Relationship Type="http://schemas.openxmlformats.org/officeDocument/2006/relationships/slide" Target="/ppt/slides/slide10.xml" Id="R21b2fb2b71054597" /><Relationship Type="http://schemas.openxmlformats.org/officeDocument/2006/relationships/slide" Target="/ppt/slides/slide11.xml" Id="R9cee541d06ef49ae" /><Relationship Type="http://schemas.openxmlformats.org/officeDocument/2006/relationships/slide" Target="/ppt/slides/slide12.xml" Id="R1382b0c245354e5a" /><Relationship Type="http://schemas.openxmlformats.org/officeDocument/2006/relationships/slide" Target="/ppt/slides/slide13.xml" Id="R899c1ba76f2747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030663e0620048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3c608c841a34eda" /><Relationship Type="http://schemas.openxmlformats.org/officeDocument/2006/relationships/notesMaster" Target="/ppt/notesMasters/notesMaster1.xml" Id="R713cdb93484b419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926d63eb16d406c" /><Relationship Type="http://schemas.openxmlformats.org/officeDocument/2006/relationships/notesMaster" Target="/ppt/notesMasters/notesMaster1.xml" Id="R8a45e1c68d53487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cc925e7b4db435e" /><Relationship Type="http://schemas.openxmlformats.org/officeDocument/2006/relationships/notesMaster" Target="/ppt/notesMasters/notesMaster1.xml" Id="R21e7bb667d3e407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0b8d43a686845eb" /><Relationship Type="http://schemas.openxmlformats.org/officeDocument/2006/relationships/notesMaster" Target="/ppt/notesMasters/notesMaster1.xml" Id="R72391884c991451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0af9b1c7b514733" /><Relationship Type="http://schemas.openxmlformats.org/officeDocument/2006/relationships/notesMaster" Target="/ppt/notesMasters/notesMaster1.xml" Id="Rf0ad9d42e7f44f0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7ce072be64547b5" /><Relationship Type="http://schemas.openxmlformats.org/officeDocument/2006/relationships/notesMaster" Target="/ppt/notesMasters/notesMaster1.xml" Id="R901e2da7050b48d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ac0f8fb1cd24aec" /><Relationship Type="http://schemas.openxmlformats.org/officeDocument/2006/relationships/notesMaster" Target="/ppt/notesMasters/notesMaster1.xml" Id="R45404414d0374a1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75de40a23ec40eb" /><Relationship Type="http://schemas.openxmlformats.org/officeDocument/2006/relationships/notesMaster" Target="/ppt/notesMasters/notesMaster1.xml" Id="R7985472c666140b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859a7e490994227" /><Relationship Type="http://schemas.openxmlformats.org/officeDocument/2006/relationships/notesMaster" Target="/ppt/notesMasters/notesMaster1.xml" Id="R772a6d4c55fd4b1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de269656c79495c" /><Relationship Type="http://schemas.openxmlformats.org/officeDocument/2006/relationships/notesMaster" Target="/ppt/notesMasters/notesMaster1.xml" Id="R81c7c9666e6244e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a5cb0eba6514c25" /><Relationship Type="http://schemas.openxmlformats.org/officeDocument/2006/relationships/notesMaster" Target="/ppt/notesMasters/notesMaster1.xml" Id="Rad5369dcbe9d4f8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ed680fa77dd4e49" /><Relationship Type="http://schemas.openxmlformats.org/officeDocument/2006/relationships/notesMaster" Target="/ppt/notesMasters/notesMaster1.xml" Id="R80809ec9177d435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af6317061b44143" /><Relationship Type="http://schemas.openxmlformats.org/officeDocument/2006/relationships/notesMaster" Target="/ppt/notesMasters/notesMaster1.xml" Id="R91badf2dd2374fc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 slide. State the project title, the OOAD upgrade direction, and the three core domains.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the project was deliberately upgraded to reduce the CRUD impression and strengthen OOAD-oriented object responsibilities.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Summarize completed work and mention that the slide includes placeholder member names to be replaced before submission.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5fce72842246ce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B2824005-1B44-4ED4-9E18-87DBC4083191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E9422DD4-040C-4F54-8819-4710EAB2EE70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4D9FACF-9DC0-4A36-B80A-C33B4D4F0947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67335A6-D78D-4BA0-9D5D-CCB260EC6BA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60A3D4F-64A0-4F27-A895-8E152D64028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498206ec6a7748d6" /><Relationship Type="http://schemas.openxmlformats.org/officeDocument/2006/relationships/slideLayout" Target="/ppt/slideLayouts/slideLayout2.xml" Id="R41345ee607c4465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2E05370-5F62-4620-894C-CC43094E4069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1345ee607c4465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57eda2e04314706" /><Relationship Type="http://schemas.openxmlformats.org/officeDocument/2006/relationships/notesSlide" Target="/ppt/notesSlides/notesSlide1.xml" Id="R0e4770a8853746b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d28ad0fea048cc" /><Relationship Type="http://schemas.openxmlformats.org/officeDocument/2006/relationships/notesSlide" Target="/ppt/notesSlides/notesSlide2.xml" Id="R6991ff72426548b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d110a12ea8645e9" /><Relationship Type="http://schemas.openxmlformats.org/officeDocument/2006/relationships/notesSlide" Target="/ppt/notesSlides/notesSlide3.xml" Id="Rf216a3fdcf4c4ca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005fa65af894d4f" /><Relationship Type="http://schemas.openxmlformats.org/officeDocument/2006/relationships/notesSlide" Target="/ppt/notesSlides/notesSlide4.xml" Id="Rc2f582e945d3440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27647a865ca4e91" /><Relationship Type="http://schemas.openxmlformats.org/officeDocument/2006/relationships/notesSlide" Target="/ppt/notesSlides/notesSlide5.xml" Id="R32ee558e4a004e2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892e8feb8fe4115" /><Relationship Type="http://schemas.openxmlformats.org/officeDocument/2006/relationships/notesSlide" Target="/ppt/notesSlides/notesSlide6.xml" Id="R8e4b50c0b85c43f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f43f714697e487b" /><Relationship Type="http://schemas.openxmlformats.org/officeDocument/2006/relationships/notesSlide" Target="/ppt/notesSlides/notesSlide7.xml" Id="R051aed5662214c3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0eae10ad18a4c59" /><Relationship Type="http://schemas.openxmlformats.org/officeDocument/2006/relationships/notesSlide" Target="/ppt/notesSlides/notesSlide8.xml" Id="Ra1b81d6681df4b3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6f77af18c0c408c" /><Relationship Type="http://schemas.openxmlformats.org/officeDocument/2006/relationships/notesSlide" Target="/ppt/notesSlides/notesSlide9.xml" Id="R4f60918609d24c1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791312dc4eb453c" /><Relationship Type="http://schemas.openxmlformats.org/officeDocument/2006/relationships/notesSlide" Target="/ppt/notesSlides/notesSlide10.xml" Id="R5f93e117ce01482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a705cc12e50485e" /><Relationship Type="http://schemas.openxmlformats.org/officeDocument/2006/relationships/notesSlide" Target="/ppt/notesSlides/notesSlide11.xml" Id="Ra1dfea2ad28a4c2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26822a54bf4d83" /><Relationship Type="http://schemas.openxmlformats.org/officeDocument/2006/relationships/notesSlide" Target="/ppt/notesSlides/notesSlide12.xml" Id="R1c5f2d2ae8d645e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ce87f1dcc584edc" /><Relationship Type="http://schemas.openxmlformats.org/officeDocument/2006/relationships/notesSlide" Target="/ppt/notesSlides/notesSlide13.xml" Id="Rc95e040fe36143e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60A3D4F-64A0-4F27-A895-8E152D64028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31765E-5096-43FA-BC40-64095208E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86750" y="-952500"/>
            <a:ext cx="4286250" cy="428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5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186C7F-764F-4CBD-B45D-68E08AC5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34500" y="34290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EF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DA7C92-676E-4551-906C-B4D359720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5750" y="476250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E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D811B7-70D5-43C7-AB65-1881EFD7B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" y="819150"/>
            <a:ext cx="9525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5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3D61AB-CF40-4CB1-B22E-075EE448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83820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6B52"/>
                </a:solidFill>
              </a:defRPr>
            </a:pPr>
            <a:r>
              <a:rPr sz="1050" b="1">
                <a:solidFill>
                  <a:srgbClr val="0E6B52"/>
                </a:solidFill>
              </a:rPr>
              <a:t>CSC0005 Object-Oriented Analysis and Design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870D3F-8CA9-4E40-8F02-1F361BD93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" y="1257300"/>
            <a:ext cx="685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026"/>
                </a:solidFill>
              </a:defRPr>
            </a:pPr>
            <a:r>
              <a:rPr sz="3150" b="1">
                <a:solidFill>
                  <a:srgbClr val="172026"/>
                </a:solidFill>
              </a:rPr>
              <a:t>股市投資組合、警示與策略回測分析平台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A64B0E-6452-4683-B5A0-142C9087A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2590800"/>
            <a:ext cx="5143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F5B66"/>
                </a:solidFill>
              </a:defRPr>
            </a:pPr>
            <a:r>
              <a:rPr sz="1650" b="0">
                <a:solidFill>
                  <a:srgbClr val="4F5B66"/>
                </a:solidFill>
              </a:rPr>
              <a:t>Checkpoint presentation draft</a:t>
            </a:r>
          </a:p>
          <a:p xmlns:a="http://schemas.openxmlformats.org/drawingml/2006/main">
            <a:pPr algn="l">
              <a:defRPr sz="1650" b="0">
                <a:solidFill>
                  <a:srgbClr val="4F5B66"/>
                </a:solidFill>
              </a:defRPr>
            </a:pPr>
            <a:r>
              <a:rPr sz="1650" b="0">
                <a:solidFill>
                  <a:srgbClr val="4F5B66"/>
                </a:solidFill>
              </a:rPr>
              <a:t>從資料管理型網站提升為規則與策略驅動平台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BC993C-30D3-45D8-9277-D2DFC6035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3924300"/>
            <a:ext cx="2647950" cy="108585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EB10E0-C064-41E3-8407-4164A91A2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3924300"/>
            <a:ext cx="2647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5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9BA2EE-6AAC-4D99-AFDD-5974C534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4095750"/>
            <a:ext cx="2266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Current scope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2B333B-5884-44DF-BB92-A348C76BC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4457700"/>
            <a:ext cx="2266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F5B66"/>
                </a:solidFill>
              </a:defRPr>
            </a:pPr>
            <a:r>
              <a:rPr sz="1125" b="0">
                <a:solidFill>
                  <a:srgbClr val="4F5B66"/>
                </a:solidFill>
              </a:rPr>
              <a:t>Portfolio Domain</a:t>
            </a:r>
          </a:p>
          <a:p xmlns:a="http://schemas.openxmlformats.org/drawingml/2006/main">
            <a:pPr algn="l">
              <a:defRPr sz="1125" b="0">
                <a:solidFill>
                  <a:srgbClr val="4F5B66"/>
                </a:solidFill>
              </a:defRPr>
            </a:pPr>
            <a:r>
              <a:rPr sz="1125" b="0">
                <a:solidFill>
                  <a:srgbClr val="4F5B66"/>
                </a:solidFill>
              </a:rPr>
              <a:t>Alert &amp; Notification Domain</a:t>
            </a:r>
          </a:p>
          <a:p xmlns:a="http://schemas.openxmlformats.org/drawingml/2006/main">
            <a:pPr algn="l">
              <a:defRPr sz="1125" b="0">
                <a:solidFill>
                  <a:srgbClr val="4F5B66"/>
                </a:solidFill>
              </a:defRPr>
            </a:pPr>
            <a:r>
              <a:rPr sz="1125" b="0">
                <a:solidFill>
                  <a:srgbClr val="4F5B66"/>
                </a:solidFill>
              </a:rPr>
              <a:t>Strategy &amp; Backtest Domain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ADCBD4-8320-407E-BCB1-48AD16C9B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57600" y="3924300"/>
            <a:ext cx="2647950" cy="108585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C8230A-ED35-42CD-94BA-7D7284179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57600" y="3924300"/>
            <a:ext cx="2647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0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4C77CB-32DE-446B-8080-E5ECA1B0B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48100" y="4095750"/>
            <a:ext cx="2266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Checkpoint focus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DD146A-7868-442D-A624-7ECE82D5B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48100" y="4457700"/>
            <a:ext cx="2266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F5B66"/>
                </a:solidFill>
              </a:defRPr>
            </a:pPr>
            <a:r>
              <a:rPr sz="1125" b="0">
                <a:solidFill>
                  <a:srgbClr val="4F5B66"/>
                </a:solidFill>
              </a:rPr>
              <a:t>Use case diagram</a:t>
            </a:r>
          </a:p>
          <a:p xmlns:a="http://schemas.openxmlformats.org/drawingml/2006/main">
            <a:pPr algn="l">
              <a:defRPr sz="1125" b="0">
                <a:solidFill>
                  <a:srgbClr val="4F5B66"/>
                </a:solidFill>
              </a:defRPr>
            </a:pPr>
            <a:r>
              <a:rPr sz="1125" b="0">
                <a:solidFill>
                  <a:srgbClr val="4F5B66"/>
                </a:solidFill>
              </a:rPr>
              <a:t>Activity diagram</a:t>
            </a:r>
          </a:p>
          <a:p xmlns:a="http://schemas.openxmlformats.org/drawingml/2006/main">
            <a:pPr algn="l">
              <a:defRPr sz="1125" b="0">
                <a:solidFill>
                  <a:srgbClr val="4F5B66"/>
                </a:solidFill>
              </a:defRPr>
            </a:pPr>
            <a:r>
              <a:rPr sz="1125" b="0">
                <a:solidFill>
                  <a:srgbClr val="4F5B66"/>
                </a:solidFill>
              </a:rPr>
              <a:t>Architecture &amp; data storage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DE1D61-72A7-4993-8E15-1CC0004CD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0" y="3924300"/>
            <a:ext cx="2647950" cy="108585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500A50-A97A-4E92-A26B-ACE621478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0" y="3924300"/>
            <a:ext cx="2647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B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E53CF5-5901-4DC3-93A1-A91F2400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0" y="4095750"/>
            <a:ext cx="2266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Presenter info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0D239F-EB96-4F5A-A367-186E7F2C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0" y="4457700"/>
            <a:ext cx="2266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F5B66"/>
                </a:solidFill>
              </a:defRPr>
            </a:pPr>
            <a:r>
              <a:rPr sz="1125" b="0">
                <a:solidFill>
                  <a:srgbClr val="4F5B66"/>
                </a:solidFill>
              </a:rPr>
              <a:t>Team members: Replace with actual names</a:t>
            </a:r>
          </a:p>
          <a:p xmlns:a="http://schemas.openxmlformats.org/drawingml/2006/main">
            <a:pPr algn="l">
              <a:defRPr sz="1125" b="0">
                <a:solidFill>
                  <a:srgbClr val="4F5B66"/>
                </a:solidFill>
              </a:defRPr>
            </a:pPr>
            <a:r>
              <a:rPr sz="1125" b="0">
                <a:solidFill>
                  <a:srgbClr val="4F5B66"/>
                </a:solidFill>
              </a:rPr>
              <a:t>Date: 2026/05/08</a:t>
            </a:r>
          </a:p>
          <a:p xmlns:a="http://schemas.openxmlformats.org/drawingml/2006/main">
            <a:pPr algn="l">
              <a:defRPr sz="1125" b="0">
                <a:solidFill>
                  <a:srgbClr val="4F5B66"/>
                </a:solidFill>
              </a:defRPr>
            </a:pPr>
            <a:r>
              <a:rPr sz="1125" b="0">
                <a:solidFill>
                  <a:srgbClr val="4F5B66"/>
                </a:solidFill>
              </a:rPr>
              <a:t>Version: draft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6B4ED6-E42A-4530-9484-E5024FD80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72450" y="1123950"/>
            <a:ext cx="3143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745992-29D5-4710-8BEB-714E71E3D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72450" y="1123950"/>
            <a:ext cx="3143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7B14CF-F877-4783-B1EF-F84B96007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2950" y="1295400"/>
            <a:ext cx="2762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Project thesis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DAF89B-84C3-4D44-93F9-E5289ACB1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2950" y="1657350"/>
            <a:ext cx="27622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F5B66"/>
                </a:solidFill>
              </a:defRPr>
            </a:pPr>
            <a:r>
              <a:rPr sz="1125" b="0">
                <a:solidFill>
                  <a:srgbClr val="4F5B66"/>
                </a:solidFill>
              </a:rPr>
              <a:t>A rule-driven investment analysis platform that integrates stock data, portfolios, alerts, and backtests in one OOAD-oriented system.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AF7CD7-2704-43D2-8049-62F5B499E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534150"/>
            <a:ext cx="971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F5B66"/>
                </a:solidFill>
              </a:defRPr>
            </a:pPr>
            <a:r>
              <a:rPr sz="750" b="0">
                <a:solidFill>
                  <a:srgbClr val="4F5B66"/>
                </a:solidFill>
              </a:rPr>
              <a:t>Editable PowerPoint draft for checkpoint. Replace team names and screenshots before final submission.</a:t>
            </a:r>
          </a:p>
        </p:txBody>
      </p:sp>
    </p:spTree>
    <p:extLst>
      <p:ext uri="{BB962C8B-B14F-4D97-AF65-F5344CB8AC3E}">
        <p14:creationId xmlns:p14="http://schemas.microsoft.com/office/powerpoint/2010/main" val="4256653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60A3D4F-64A0-4F27-A895-8E152D64028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928150-6536-4436-90AD-1BE7732A2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0250" y="-8572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5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26F9D3-5C8A-4946-8B3A-D0618FE1A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857250" y="53340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EF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C3B0B9-DDE8-427D-9DC8-AEA80DFDE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2667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E6B52"/>
                </a:solidFill>
              </a:defRPr>
            </a:pPr>
            <a:r>
              <a:rPr sz="825" b="1">
                <a:solidFill>
                  <a:srgbClr val="0E6B52"/>
                </a:solidFill>
              </a:rPr>
              <a:t>CSC0005 Project Checkpoint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FA1195-779C-4DED-B646-946B3E018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63300" y="2476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E6B52"/>
                </a:solidFill>
              </a:defRPr>
            </a:pPr>
            <a:r>
              <a:rPr sz="900" b="1">
                <a:solidFill>
                  <a:srgbClr val="0E6B52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31CE1A-891A-4ED2-82AD-2801F5D43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0AB904-2DAF-4573-A401-9F228D9CA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781050"/>
            <a:ext cx="885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6"/>
                </a:solidFill>
              </a:defRPr>
            </a:pPr>
            <a:r>
              <a:rPr sz="2400" b="1">
                <a:solidFill>
                  <a:srgbClr val="172026"/>
                </a:solidFill>
              </a:rPr>
              <a:t>Revision Based on Teacher Feedback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57AE66-03E0-45E0-94DE-EA2B82FF4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" y="125730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F5B66"/>
                </a:solidFill>
              </a:defRPr>
            </a:pPr>
            <a:r>
              <a:rPr sz="1200" b="0">
                <a:solidFill>
                  <a:srgbClr val="4F5B66"/>
                </a:solidFill>
              </a:rPr>
              <a:t>Show clearly how the project was revised after the proposal comments.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547FE3-BAD9-4F28-A7B3-8B355625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1885950"/>
            <a:ext cx="34290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099755-17B4-4663-9BBE-3CFCEDE27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1885950"/>
            <a:ext cx="3429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0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C69C85-2168-4B3C-92EB-622CC09AC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" y="205740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Teacher feedback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D1B059-DEEB-4DFE-B8FC-968E70F65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" y="2400300"/>
            <a:ext cx="30099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1. Theme is practical and understandable</a:t>
            </a:r>
          </a:p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2. Architecture generally meets course requirements</a:t>
            </a:r>
          </a:p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3. Some functions looked too similar and too CRUD-oriented</a:t>
            </a:r>
          </a:p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4. Object design must better reflect OOAD thinking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7E2E20-18A3-4CA1-ABE4-34AA25066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62450" y="1885950"/>
            <a:ext cx="34290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965EFF-6A1D-4FF7-B6C3-B7912B502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62450" y="1885950"/>
            <a:ext cx="3429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B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8EC9D0-9A43-4C67-B03D-DF9AAAE1A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52950" y="205740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Original system risk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2FF1EB-3BCA-4963-9AA4-CC9A44F11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0" y="2400300"/>
            <a:ext cx="30099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Mostly focused on stock query, watchlist, portfolio CRUD, and simple summaries.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The system had useful functionality, but the object interaction and algorithmic complexity were not prominent enough for OOAD.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A534B7-E393-4E77-9CEE-41CEC0E8D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15300" y="1885950"/>
            <a:ext cx="34671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1FB711-0F51-44EA-A226-412566A38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15300" y="1885950"/>
            <a:ext cx="3467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5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2DFAF3-0E6D-4EAB-B0CA-0EB7C3607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5800" y="2057400"/>
            <a:ext cx="3086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Our revision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E446A3-9E08-4C9A-8146-82134125D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24850" y="2400300"/>
            <a:ext cx="3048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1. Refactored Portfolio Domain</a:t>
            </a:r>
          </a:p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2. Added Alert &amp; Notification Domain</a:t>
            </a:r>
          </a:p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3. Added Strategy &amp; Backtest Domain</a:t>
            </a:r>
          </a:p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4. Moved logic from route handlers into domain objects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F304F3-8F55-4FE0-AF47-CAFDDD7FA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4514850"/>
            <a:ext cx="2381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BE5DF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18361A-31A1-457A-A963-EF9F9CCD1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474345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26"/>
                </a:solidFill>
              </a:defRPr>
            </a:pPr>
            <a:r>
              <a:rPr sz="1650" b="1">
                <a:solidFill>
                  <a:srgbClr val="172026"/>
                </a:solidFill>
              </a:rPr>
              <a:t>Before</a:t>
            </a:r>
          </a:p>
          <a:p xmlns:a="http://schemas.openxmlformats.org/drawingml/2006/main">
            <a:pPr algn="ctr">
              <a:defRPr sz="1650" b="1">
                <a:solidFill>
                  <a:srgbClr val="172026"/>
                </a:solidFill>
              </a:defRPr>
            </a:pPr>
            <a:r>
              <a:rPr sz="1650" b="1">
                <a:solidFill>
                  <a:srgbClr val="172026"/>
                </a:solidFill>
              </a:rPr>
              <a:t>Data query + CRUD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82E094-155B-4FDE-AE04-1DB150C5D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10050" y="4829175"/>
            <a:ext cx="10477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2026"/>
          </a:solidFill>
          <a:ln xmlns:a="http://schemas.openxmlformats.org/drawingml/2006/main" w="0">
            <a:solidFill>
              <a:srgbClr val="17202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DF5A5E-DBF9-4111-8F92-54AE80F46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00700" y="4514850"/>
            <a:ext cx="3048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DFF5EC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B489A6-755C-4E43-A9CD-0B5CD3D6A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95950" y="4724400"/>
            <a:ext cx="285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026"/>
                </a:solidFill>
              </a:defRPr>
            </a:pPr>
            <a:r>
              <a:rPr sz="1575" b="1">
                <a:solidFill>
                  <a:srgbClr val="172026"/>
                </a:solidFill>
              </a:rPr>
              <a:t>After</a:t>
            </a:r>
          </a:p>
          <a:p xmlns:a="http://schemas.openxmlformats.org/drawingml/2006/main">
            <a:pPr algn="ctr">
              <a:defRPr sz="1575" b="1">
                <a:solidFill>
                  <a:srgbClr val="172026"/>
                </a:solidFill>
              </a:defRPr>
            </a:pPr>
            <a:r>
              <a:rPr sz="1575" b="1">
                <a:solidFill>
                  <a:srgbClr val="172026"/>
                </a:solidFill>
              </a:rPr>
              <a:t>Rule-driven and strategy-driven analysis platform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257F80-840D-4827-8BB0-7C82460F5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8250" y="4829175"/>
            <a:ext cx="10477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2026"/>
          </a:solidFill>
          <a:ln xmlns:a="http://schemas.openxmlformats.org/drawingml/2006/main" w="0">
            <a:solidFill>
              <a:srgbClr val="17202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A5BDD6-9093-4BC8-821C-5E3CD1B5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39350" y="4514850"/>
            <a:ext cx="15430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5EEFF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234974-3F00-4886-B760-54A176C53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34600" y="4724400"/>
            <a:ext cx="13525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Checkpoint fit</a:t>
            </a:r>
          </a:p>
          <a:p xmlns:a="http://schemas.openxmlformats.org/drawingml/2006/main">
            <a:pPr algn="ctr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OOAD focus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A0CA4B-A523-474E-B6FA-1BD4CB884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534150"/>
            <a:ext cx="971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F5B66"/>
                </a:solidFill>
              </a:defRPr>
            </a:pPr>
            <a:r>
              <a:rPr sz="750" b="0">
                <a:solidFill>
                  <a:srgbClr val="4F5B66"/>
                </a:solidFill>
              </a:rPr>
              <a:t>Draft for checkpoint presentation. Replace member names and screenshots before submission.</a:t>
            </a:r>
          </a:p>
        </p:txBody>
      </p:sp>
    </p:spTree>
    <p:extLst>
      <p:ext uri="{BB962C8B-B14F-4D97-AF65-F5344CB8AC3E}">
        <p14:creationId xmlns:p14="http://schemas.microsoft.com/office/powerpoint/2010/main" val="155734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60A3D4F-64A0-4F27-A895-8E152D64028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ED91EB-7EF5-46EF-A9DD-F475F1569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0250" y="-8572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5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6F4690-6DE7-4D1F-8787-C6A064E85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857250" y="53340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EF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8D1F28-E8A9-4A4C-B666-B0EF128E2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2667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E6B52"/>
                </a:solidFill>
              </a:defRPr>
            </a:pPr>
            <a:r>
              <a:rPr sz="825" b="1">
                <a:solidFill>
                  <a:srgbClr val="0E6B52"/>
                </a:solidFill>
              </a:rPr>
              <a:t>CSC0005 Project Checkpoint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938CC9-1D95-4FED-A7AA-C2BFD9C7D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63300" y="2476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E6B52"/>
                </a:solidFill>
              </a:defRPr>
            </a:pPr>
            <a:r>
              <a:rPr sz="900" b="1">
                <a:solidFill>
                  <a:srgbClr val="0E6B52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BF2235-8420-479C-9DC0-E0FC4AD43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8BDD2F-5A66-4156-98E9-6ACA9C7A3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781050"/>
            <a:ext cx="885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6"/>
                </a:solidFill>
              </a:defRPr>
            </a:pPr>
            <a:r>
              <a:rPr sz="2400" b="1">
                <a:solidFill>
                  <a:srgbClr val="172026"/>
                </a:solidFill>
              </a:rPr>
              <a:t>Progress Summary and Work Breakdown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FAD029-FD58-48D3-8E71-B1EB2B7E1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" y="125730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F5B66"/>
                </a:solidFill>
              </a:defRPr>
            </a:pPr>
            <a:r>
              <a:rPr sz="1200" b="0">
                <a:solidFill>
                  <a:srgbClr val="4F5B66"/>
                </a:solidFill>
              </a:rPr>
              <a:t>Checkpoint requires the work completed in recent weeks and the work breakdown across members.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0962CD-D9C9-4651-9DC2-D2FEE5B4B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1790700"/>
            <a:ext cx="21145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791BE7-0C8F-4FE5-8C8E-2DF871FB7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179070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5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82E33C-1B74-4A20-8ABB-CD237A4F8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" y="1962150"/>
            <a:ext cx="1733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Market data rebuild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014AC6-8F67-4B28-A2CA-46E83A6B9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" y="2247900"/>
            <a:ext cx="17335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</a:defRPr>
            </a:pPr>
            <a:r>
              <a:rPr sz="1125" b="0">
                <a:solidFill>
                  <a:srgbClr val="172026"/>
                </a:solidFill>
              </a:rPr>
              <a:t>MySQL rebuilt</a:t>
            </a:r>
          </a:p>
          <a:p xmlns:a="http://schemas.openxmlformats.org/drawingml/2006/main">
            <a:pPr algn="l">
              <a:defRPr sz="1125" b="0">
                <a:solidFill>
                  <a:srgbClr val="172026"/>
                </a:solidFill>
              </a:defRPr>
            </a:pPr>
            <a:r>
              <a:rPr sz="1125" b="0">
                <a:solidFill>
                  <a:srgbClr val="172026"/>
                </a:solidFill>
              </a:rPr>
              <a:t>FinLab data imported</a:t>
            </a:r>
          </a:p>
          <a:p xmlns:a="http://schemas.openxmlformats.org/drawingml/2006/main">
            <a:pPr algn="l">
              <a:defRPr sz="1125" b="0">
                <a:solidFill>
                  <a:srgbClr val="172026"/>
                </a:solidFill>
              </a:defRPr>
            </a:pPr>
            <a:r>
              <a:rPr sz="1125" b="0">
                <a:solidFill>
                  <a:srgbClr val="172026"/>
                </a:solidFill>
              </a:rPr>
              <a:t>Stocks, prices, reports, dividends restored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52BDFB-B607-4A85-AEFA-3F029367F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7500" y="1790700"/>
            <a:ext cx="21145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85E6FB-EB6A-4C3E-9796-9F9088E22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7500" y="179070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545F2B-BC4F-4E6F-809A-FE2BC7191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48000" y="1962150"/>
            <a:ext cx="1733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Portfolio refactor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D73C99-5F1B-4772-A018-A2039EB5D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48000" y="2247900"/>
            <a:ext cx="17335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</a:defRPr>
            </a:pPr>
            <a:r>
              <a:rPr sz="1125" b="0">
                <a:solidFill>
                  <a:srgbClr val="172026"/>
                </a:solidFill>
              </a:rPr>
              <a:t>Portfolio, Position,</a:t>
            </a:r>
          </a:p>
          <a:p xmlns:a="http://schemas.openxmlformats.org/drawingml/2006/main">
            <a:pPr algn="l">
              <a:defRPr sz="1125" b="0">
                <a:solidFill>
                  <a:srgbClr val="172026"/>
                </a:solidFill>
              </a:defRPr>
            </a:pPr>
            <a:r>
              <a:rPr sz="1125" b="0">
                <a:solidFill>
                  <a:srgbClr val="172026"/>
                </a:solidFill>
              </a:rPr>
              <a:t>TransactionValidator,</a:t>
            </a:r>
          </a:p>
          <a:p xmlns:a="http://schemas.openxmlformats.org/drawingml/2006/main">
            <a:pPr algn="l">
              <a:defRPr sz="1125" b="0">
                <a:solidFill>
                  <a:srgbClr val="172026"/>
                </a:solidFill>
              </a:defRPr>
            </a:pPr>
            <a:r>
              <a:rPr sz="1125" b="0">
                <a:solidFill>
                  <a:srgbClr val="172026"/>
                </a:solidFill>
              </a:rPr>
              <a:t>PortfolioPriceService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6E8191-6CD2-480C-854D-060EC0D71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05400" y="1790700"/>
            <a:ext cx="21145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FF5890-F043-4972-A082-9238C1050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05400" y="179070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0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CCE59B-6AEE-4BB4-BE55-C61F54E22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95900" y="1962150"/>
            <a:ext cx="1733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Alert domain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5B985F-7453-4EA7-93B5-AE2F180BF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95900" y="2247900"/>
            <a:ext cx="17335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</a:defRPr>
            </a:pPr>
            <a:r>
              <a:rPr sz="1125" b="0">
                <a:solidFill>
                  <a:srgbClr val="172026"/>
                </a:solidFill>
              </a:rPr>
              <a:t>AlertRule hierarchy</a:t>
            </a:r>
          </a:p>
          <a:p xmlns:a="http://schemas.openxmlformats.org/drawingml/2006/main">
            <a:pPr algn="l">
              <a:defRPr sz="1125" b="0">
                <a:solidFill>
                  <a:srgbClr val="172026"/>
                </a:solidFill>
              </a:defRPr>
            </a:pPr>
            <a:r>
              <a:rPr sz="1125" b="0">
                <a:solidFill>
                  <a:srgbClr val="172026"/>
                </a:solidFill>
              </a:rPr>
              <a:t>AlertEvaluator</a:t>
            </a:r>
          </a:p>
          <a:p xmlns:a="http://schemas.openxmlformats.org/drawingml/2006/main">
            <a:pPr algn="l">
              <a:defRPr sz="1125" b="0">
                <a:solidFill>
                  <a:srgbClr val="172026"/>
                </a:solidFill>
              </a:defRPr>
            </a:pPr>
            <a:r>
              <a:rPr sz="1125" b="0">
                <a:solidFill>
                  <a:srgbClr val="172026"/>
                </a:solidFill>
              </a:rPr>
              <a:t>NotificationService</a:t>
            </a:r>
          </a:p>
          <a:p xmlns:a="http://schemas.openxmlformats.org/drawingml/2006/main">
            <a:pPr algn="l">
              <a:defRPr sz="1125" b="0">
                <a:solidFill>
                  <a:srgbClr val="172026"/>
                </a:solidFill>
              </a:defRPr>
            </a:pPr>
            <a:r>
              <a:rPr sz="1125" b="0">
                <a:solidFill>
                  <a:srgbClr val="172026"/>
                </a:solidFill>
              </a:rPr>
              <a:t>Alerts UI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2168EF-77A3-476F-BB32-8D6AF800E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53300" y="1790700"/>
            <a:ext cx="21145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E1C7FD-EF9C-4FD0-9B17-9A0C1E9B1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53300" y="179070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B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B551A4-FC3C-4841-B002-D55FD7FA7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3800" y="1962150"/>
            <a:ext cx="1733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Backtest domain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852274-843C-4891-9E45-E60DCC35B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3800" y="2247900"/>
            <a:ext cx="17335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</a:defRPr>
            </a:pPr>
            <a:r>
              <a:rPr sz="1125" b="0">
                <a:solidFill>
                  <a:srgbClr val="172026"/>
                </a:solidFill>
              </a:rPr>
              <a:t>MovingAverageCrossStrategy</a:t>
            </a:r>
          </a:p>
          <a:p xmlns:a="http://schemas.openxmlformats.org/drawingml/2006/main">
            <a:pPr algn="l">
              <a:defRPr sz="1125" b="0">
                <a:solidFill>
                  <a:srgbClr val="172026"/>
                </a:solidFill>
              </a:defRPr>
            </a:pPr>
            <a:r>
              <a:rPr sz="1125" b="0">
                <a:solidFill>
                  <a:srgbClr val="172026"/>
                </a:solidFill>
              </a:rPr>
              <a:t>BacktestEngine</a:t>
            </a:r>
          </a:p>
          <a:p xmlns:a="http://schemas.openxmlformats.org/drawingml/2006/main">
            <a:pPr algn="l">
              <a:defRPr sz="1125" b="0">
                <a:solidFill>
                  <a:srgbClr val="172026"/>
                </a:solidFill>
              </a:defRPr>
            </a:pPr>
            <a:r>
              <a:rPr sz="1125" b="0">
                <a:solidFill>
                  <a:srgbClr val="172026"/>
                </a:solidFill>
              </a:rPr>
              <a:t>PerformanceReport</a:t>
            </a:r>
          </a:p>
          <a:p xmlns:a="http://schemas.openxmlformats.org/drawingml/2006/main">
            <a:pPr algn="l">
              <a:defRPr sz="1125" b="0">
                <a:solidFill>
                  <a:srgbClr val="172026"/>
                </a:solidFill>
              </a:defRPr>
            </a:pPr>
            <a:r>
              <a:rPr sz="1125" b="0">
                <a:solidFill>
                  <a:srgbClr val="172026"/>
                </a:solidFill>
              </a:rPr>
              <a:t>Backtests UI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DB207B-4B8F-43A4-8F02-ED25726DA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01200" y="1790700"/>
            <a:ext cx="19812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39DA1A-517C-45F5-B396-7DEFB2B82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01200" y="1790700"/>
            <a:ext cx="1981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B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69D92D-0C97-455B-B6B0-366866F3C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91700" y="1962150"/>
            <a:ext cx="1600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Local integration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BE9D7E-E740-4744-8D57-3D654264C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91700" y="2247900"/>
            <a:ext cx="16002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</a:defRPr>
            </a:pPr>
            <a:r>
              <a:rPr sz="1125" b="0">
                <a:solidFill>
                  <a:srgbClr val="172026"/>
                </a:solidFill>
              </a:rPr>
              <a:t>Next.js + Prisma + MySQL build passes</a:t>
            </a:r>
          </a:p>
          <a:p xmlns:a="http://schemas.openxmlformats.org/drawingml/2006/main">
            <a:pPr algn="l">
              <a:defRPr sz="1125" b="0">
                <a:solidFill>
                  <a:srgbClr val="172026"/>
                </a:solidFill>
              </a:defRPr>
            </a:pPr>
            <a:r>
              <a:rPr sz="1125" b="0">
                <a:solidFill>
                  <a:srgbClr val="172026"/>
                </a:solidFill>
              </a:rPr>
              <a:t>Dashboard / Alerts / Backtests all wired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B3A347-3565-45DF-8998-6FCFB3E77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3429000"/>
            <a:ext cx="34290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A6004D-EB0C-4C86-9AE0-E05C18879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3429000"/>
            <a:ext cx="3429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5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2CD015-989D-4F71-AE2C-9D7694429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" y="36004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Member A - Replace with actual name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3C61F3-70F6-4CB9-A224-1F9AA44F6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3943350"/>
            <a:ext cx="29527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Suggested responsibility:</a:t>
            </a:r>
          </a:p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- Database rebuild and Prisma schema</a:t>
            </a:r>
          </a:p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- Stock / market data APIs</a:t>
            </a:r>
          </a:p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- FinLab import and data maintenance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BEC896E-61CA-49B5-88D0-58BAA886F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81500" y="3429000"/>
            <a:ext cx="34290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20ACF8E-6AA0-446A-A856-2C4A3697C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81500" y="3429000"/>
            <a:ext cx="3429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0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9D3A8DE-325B-41D2-AC2C-30301C167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0" y="36004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Member B - Replace with actual name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AE924A-6C3F-42E5-9418-31231D19B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0100" y="3943350"/>
            <a:ext cx="29527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Suggested responsibility:</a:t>
            </a:r>
          </a:p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- Portfolio domain refactor</a:t>
            </a:r>
          </a:p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- Transactions and portfolio UI</a:t>
            </a:r>
          </a:p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- Activity diagram and data storage slides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CD6839A-0917-4AC9-876C-3A1F98900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53400" y="3429000"/>
            <a:ext cx="34290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3B4B850-1006-4C46-BBFF-0DAF48821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53400" y="3429000"/>
            <a:ext cx="3429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B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7CEEB47-45E6-49E8-B79A-618C10E95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43900" y="36004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Member C - Replace with actual name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7BE0FCD-A871-4299-82AB-BD3832790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0" y="3943350"/>
            <a:ext cx="29527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Suggested responsibility:</a:t>
            </a:r>
          </a:p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- Alerts and notifications</a:t>
            </a:r>
          </a:p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- Strategy &amp; backtest module</a:t>
            </a:r>
          </a:p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- Use case / class diagram / design patterns slides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2D9E37E-8813-4F39-80A9-C5E1B906A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534150"/>
            <a:ext cx="971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F5B66"/>
                </a:solidFill>
              </a:defRPr>
            </a:pPr>
            <a:r>
              <a:rPr sz="750" b="0">
                <a:solidFill>
                  <a:srgbClr val="4F5B66"/>
                </a:solidFill>
              </a:rPr>
              <a:t>Replace the member boxes with actual names and your final work breakdown.</a:t>
            </a:r>
          </a:p>
        </p:txBody>
      </p:sp>
    </p:spTree>
    <p:extLst>
      <p:ext uri="{BB962C8B-B14F-4D97-AF65-F5344CB8AC3E}">
        <p14:creationId xmlns:p14="http://schemas.microsoft.com/office/powerpoint/2010/main" val="197222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60A3D4F-64A0-4F27-A895-8E152D64028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D0C51E-EF8E-488A-B7B6-52196ED25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0250" y="-8572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5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228341-1030-40F0-B0BF-C72983C8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857250" y="53340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EF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A237F8-06B5-4E85-999E-9621A5518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2667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E6B52"/>
                </a:solidFill>
              </a:defRPr>
            </a:pPr>
            <a:r>
              <a:rPr sz="825" b="1">
                <a:solidFill>
                  <a:srgbClr val="0E6B52"/>
                </a:solidFill>
              </a:rPr>
              <a:t>CSC0005 Project Checkpoint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BC2B68-46EE-4DD7-BB4C-620A38AE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63300" y="2476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E6B52"/>
                </a:solidFill>
              </a:defRPr>
            </a:pPr>
            <a:r>
              <a:rPr sz="900" b="1">
                <a:solidFill>
                  <a:srgbClr val="0E6B52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E5193F-3B24-4DDE-8E0C-A1808AEED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AE5DB4-8929-4374-9A77-CAA089C5F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781050"/>
            <a:ext cx="885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6"/>
                </a:solidFill>
              </a:defRPr>
            </a:pPr>
            <a:r>
              <a:rPr sz="2400" b="1">
                <a:solidFill>
                  <a:srgbClr val="172026"/>
                </a:solidFill>
              </a:rPr>
              <a:t>Use Case Diagram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0CCCCD-4CF3-4381-9DA7-BF2D394F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" y="125730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F5B66"/>
                </a:solidFill>
              </a:defRPr>
            </a:pPr>
            <a:r>
              <a:rPr sz="1200" b="0">
                <a:solidFill>
                  <a:srgbClr val="4F5B66"/>
                </a:solidFill>
              </a:rPr>
              <a:t>The actor, subject, and use cases must be shown in graphical notation.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AC102A-4F42-4E17-8712-5F1FB4F71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66950" y="1676400"/>
            <a:ext cx="7429500" cy="4114800"/>
          </a:xfrm>
          <a:prstGeom xmlns:a="http://schemas.openxmlformats.org/drawingml/2006/main" prst="roundRect">
            <a:avLst>
              <a:gd name="adj" fmla="val 1852"/>
            </a:avLst>
          </a:prstGeom>
          <a:solidFill xmlns:a="http://schemas.openxmlformats.org/drawingml/2006/main">
            <a:srgbClr val="FBF8F1"/>
          </a:solidFill>
          <a:ln xmlns:a="http://schemas.openxmlformats.org/drawingml/2006/main" w="13335">
            <a:solidFill>
              <a:srgbClr val="23313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50DAFB-065E-4A48-8D2E-AB31E2C0D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6500" y="17716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6B52"/>
                </a:solidFill>
              </a:defRPr>
            </a:pPr>
            <a:r>
              <a:rPr sz="1200" b="1">
                <a:solidFill>
                  <a:srgbClr val="0E6B52"/>
                </a:solidFill>
              </a:rPr>
              <a:t>System: Stock Portfolio, Alert, and Backtest Platform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7D7A38-6828-478B-AB71-77011F28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" y="2305050"/>
            <a:ext cx="14097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F72C0B-F9F3-42AB-BA18-A4F7BD2CF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" y="2305050"/>
            <a:ext cx="1409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42B742-D3DF-41FF-B390-72BFB758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2476500"/>
            <a:ext cx="1028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Actor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BF5164-126A-41B7-9A1D-46C8A9336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2838450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F5B66"/>
                </a:solidFill>
              </a:defRPr>
            </a:pPr>
            <a:r>
              <a:rPr sz="1125" b="0">
                <a:solidFill>
                  <a:srgbClr val="4F5B66"/>
                </a:solidFill>
              </a:rPr>
              <a:t>Investor / User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5641F9-F26A-4952-B327-B581A29AA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" y="4495800"/>
            <a:ext cx="14097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95CBA1-1CAE-4B7C-B5F5-E36322DD6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" y="4495800"/>
            <a:ext cx="1409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0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CFDBF3-8BEB-4618-86ED-5AAF918FB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4667250"/>
            <a:ext cx="1028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Actor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65C25D-B302-4C12-AAD0-B0368FE94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5029200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F5B66"/>
                </a:solidFill>
              </a:defRPr>
            </a:pPr>
            <a:r>
              <a:rPr sz="1125" b="0">
                <a:solidFill>
                  <a:srgbClr val="4F5B66"/>
                </a:solidFill>
              </a:rPr>
              <a:t>Admin / Data Maintainer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6BE992-7F58-4E91-AB3D-5ED125ABE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29850" y="3352800"/>
            <a:ext cx="14097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617813-650A-419C-9835-533063A80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29850" y="3352800"/>
            <a:ext cx="1409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B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4CC2E8-ED71-4CC2-ACDB-9A6A20C24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20350" y="3524250"/>
            <a:ext cx="1028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External actor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7C15B1-5F41-4EA8-A480-D0EAF0BD1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20350" y="3886200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F5B66"/>
                </a:solidFill>
              </a:defRPr>
            </a:pPr>
            <a:r>
              <a:rPr sz="1125" b="0">
                <a:solidFill>
                  <a:srgbClr val="4F5B66"/>
                </a:solidFill>
              </a:rPr>
              <a:t>FinLab Data Source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617FE9-C710-4F06-8A4E-435CF8E7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76550" y="2343150"/>
            <a:ext cx="20002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CAD7BE-4F2B-4E27-BFA8-062B0C5DC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71800" y="2476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26"/>
                </a:solidFill>
              </a:defRPr>
            </a:pPr>
            <a:r>
              <a:rPr sz="1050" b="1">
                <a:solidFill>
                  <a:srgbClr val="172026"/>
                </a:solidFill>
              </a:rPr>
              <a:t>Search Stock Information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3ED874-8706-403A-AE47-90EE04AAE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0" y="2343150"/>
            <a:ext cx="1733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8244F9-38B0-4B9F-B217-F3CEDF1AF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29250" y="2476500"/>
            <a:ext cx="1543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26"/>
                </a:solidFill>
              </a:defRPr>
            </a:pPr>
            <a:r>
              <a:rPr sz="1050" b="1">
                <a:solidFill>
                  <a:srgbClr val="172026"/>
                </a:solidFill>
              </a:rPr>
              <a:t>Manage Watchlist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41EA41-6448-451A-B586-25C786591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0" y="2343150"/>
            <a:ext cx="167640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FA545D-22A4-4CFB-BEF0-08DDF2741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4750" y="2476500"/>
            <a:ext cx="1485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26"/>
                </a:solidFill>
              </a:defRPr>
            </a:pPr>
            <a:r>
              <a:rPr sz="1050" b="1">
                <a:solidFill>
                  <a:srgbClr val="172026"/>
                </a:solidFill>
              </a:rPr>
              <a:t>Manage Portfolio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94D562-005D-4431-BF73-A9BFC3D70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8500" y="3352800"/>
            <a:ext cx="18097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F998CA-20A6-4567-8DEA-8EFC7F794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3750" y="34861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26"/>
                </a:solidFill>
              </a:defRPr>
            </a:pPr>
            <a:r>
              <a:rPr sz="1050" b="1">
                <a:solidFill>
                  <a:srgbClr val="172026"/>
                </a:solidFill>
              </a:rPr>
              <a:t>Create Alert Rule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D27B01-7EE0-4A9C-BC59-EA82D5CD0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91150" y="3352800"/>
            <a:ext cx="167640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C1CC66-094A-4B98-8ACA-5B3953D40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86400" y="3486150"/>
            <a:ext cx="1485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26"/>
                </a:solidFill>
              </a:defRPr>
            </a:pPr>
            <a:r>
              <a:rPr sz="1050" b="1">
                <a:solidFill>
                  <a:srgbClr val="172026"/>
                </a:solidFill>
              </a:rPr>
              <a:t>Receive Notification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247934-D5BE-4BEE-B461-7320837A3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0" y="3352800"/>
            <a:ext cx="167640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5E9D8F0-2409-4161-B1FC-DD7BF4C17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4750" y="3486150"/>
            <a:ext cx="1485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26"/>
                </a:solidFill>
              </a:defRPr>
            </a:pPr>
            <a:r>
              <a:rPr sz="1050" b="1">
                <a:solidFill>
                  <a:srgbClr val="172026"/>
                </a:solidFill>
              </a:rPr>
              <a:t>Run Strategy Backtest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9BBC8E0-A6EB-476B-877E-CB3B735F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71950" y="4381500"/>
            <a:ext cx="19621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041F13C-8E79-4D81-889F-4561323F6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67200" y="4514850"/>
            <a:ext cx="1771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26"/>
                </a:solidFill>
              </a:defRPr>
            </a:pPr>
            <a:r>
              <a:rPr sz="1050" b="1">
                <a:solidFill>
                  <a:srgbClr val="172026"/>
                </a:solidFill>
              </a:rPr>
              <a:t>View Backtest Result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670CA81-5770-466E-854E-814F6CA95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3700" y="4381500"/>
            <a:ext cx="198120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15A1197-2875-433B-8E9F-1DCF2A6E6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38950" y="4514850"/>
            <a:ext cx="1790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26"/>
                </a:solidFill>
              </a:defRPr>
            </a:pPr>
            <a:r>
              <a:rPr sz="1050" b="1">
                <a:solidFill>
                  <a:srgbClr val="172026"/>
                </a:solidFill>
              </a:rPr>
              <a:t>Refresh Market Data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45A8E9D-6DA7-4B0A-B90B-55D4BFF4C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47850" y="2571750"/>
            <a:ext cx="8763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2026"/>
          </a:solidFill>
          <a:ln xmlns:a="http://schemas.openxmlformats.org/drawingml/2006/main" w="0">
            <a:solidFill>
              <a:srgbClr val="17202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19CB71A-F48A-4A4A-A831-C43ED38F8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47850" y="2743200"/>
            <a:ext cx="8763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2026"/>
          </a:solidFill>
          <a:ln xmlns:a="http://schemas.openxmlformats.org/drawingml/2006/main" w="0">
            <a:solidFill>
              <a:srgbClr val="17202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5E47453-19A0-449A-A9A2-354F7CD90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47850" y="3733800"/>
            <a:ext cx="12192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2026"/>
          </a:solidFill>
          <a:ln xmlns:a="http://schemas.openxmlformats.org/drawingml/2006/main" w="0">
            <a:solidFill>
              <a:srgbClr val="172026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A93E279-CEF4-46FD-B1FD-8BACB151C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47850" y="4819650"/>
            <a:ext cx="12192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2026"/>
          </a:solidFill>
          <a:ln xmlns:a="http://schemas.openxmlformats.org/drawingml/2006/main" w="0">
            <a:solidFill>
              <a:srgbClr val="17202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4EF79CE-81E3-478A-9C53-B1F8A7FB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63050" y="4552950"/>
            <a:ext cx="8763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2026"/>
          </a:solidFill>
          <a:ln xmlns:a="http://schemas.openxmlformats.org/drawingml/2006/main" w="0">
            <a:solidFill>
              <a:srgbClr val="17202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F2BDBB3-4778-40BA-8BDF-464EBDA78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53550" y="3543300"/>
            <a:ext cx="8763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2026"/>
          </a:solidFill>
          <a:ln xmlns:a="http://schemas.openxmlformats.org/drawingml/2006/main" w="0">
            <a:solidFill>
              <a:srgbClr val="17202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DFD74F5-8437-4307-A0CE-06DAEF8CD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000750"/>
            <a:ext cx="609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Investor can query stock data, manage portfolios, create alert rules, and run/view backtests.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A12AF5F-54B9-492A-8F41-26294F5BA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24650" y="6000750"/>
            <a:ext cx="4857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Admin and FinLab are responsible for the market data refresh side of the system.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22F3500-6DA7-4A80-88E3-EB6D5B629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534150"/>
            <a:ext cx="971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F5B66"/>
                </a:solidFill>
              </a:defRPr>
            </a:pPr>
            <a:r>
              <a:rPr sz="750" b="0">
                <a:solidFill>
                  <a:srgbClr val="4F5B66"/>
                </a:solidFill>
              </a:rPr>
              <a:t>Draft for checkpoint presentation. Replace member names and screenshots before submission.</a:t>
            </a:r>
          </a:p>
        </p:txBody>
      </p:sp>
    </p:spTree>
    <p:extLst>
      <p:ext uri="{BB962C8B-B14F-4D97-AF65-F5344CB8AC3E}">
        <p14:creationId xmlns:p14="http://schemas.microsoft.com/office/powerpoint/2010/main" val="11639691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60A3D4F-64A0-4F27-A895-8E152D64028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A4F397-DC07-4241-A2A5-45B01F5F9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0250" y="-8572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5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220160-F749-4C68-9308-DF83F6BF3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857250" y="53340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EF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DA28CD-3B27-4DAD-BAC3-6981B67A5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2667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E6B52"/>
                </a:solidFill>
              </a:defRPr>
            </a:pPr>
            <a:r>
              <a:rPr sz="825" b="1">
                <a:solidFill>
                  <a:srgbClr val="0E6B52"/>
                </a:solidFill>
              </a:rPr>
              <a:t>CSC0005 Project Checkpoint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2D31A3-64CE-49C5-A990-2A0B2024A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63300" y="2476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E6B52"/>
                </a:solidFill>
              </a:defRPr>
            </a:pPr>
            <a:r>
              <a:rPr sz="900" b="1">
                <a:solidFill>
                  <a:srgbClr val="0E6B52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000081-76C3-4C10-BCA2-30DEF0A97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D76307-8C1C-4628-8DC2-D6F7C887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781050"/>
            <a:ext cx="885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6"/>
                </a:solidFill>
              </a:defRPr>
            </a:pPr>
            <a:r>
              <a:rPr sz="2400" b="1">
                <a:solidFill>
                  <a:srgbClr val="172026"/>
                </a:solidFill>
              </a:rPr>
              <a:t>Activity Diagram for the Most Complex Use Case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FB1DBE-0670-483E-BC37-B3A6494A3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" y="125730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F5B66"/>
                </a:solidFill>
              </a:defRPr>
            </a:pPr>
            <a:r>
              <a:rPr sz="1200" b="0">
                <a:solidFill>
                  <a:srgbClr val="4F5B66"/>
                </a:solidFill>
              </a:rPr>
              <a:t>Chosen use case: Run Strategy Backtest.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8DD343-2199-49C7-AF9D-7663B39BC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91150" y="1676400"/>
            <a:ext cx="14287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5EC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4CC684-D12B-4B7E-9825-585CF3992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91150" y="17716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26"/>
                </a:solidFill>
              </a:defRPr>
            </a:pPr>
            <a:r>
              <a:rPr sz="1200" b="1">
                <a:solidFill>
                  <a:srgbClr val="172026"/>
                </a:solidFill>
              </a:rPr>
              <a:t>Start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92EE66-F177-4B69-9892-C2E9B83AA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10150" y="2286000"/>
            <a:ext cx="2190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D57CE6-F042-4EC2-9909-398A52BCC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0" y="2400300"/>
            <a:ext cx="1924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26"/>
                </a:solidFill>
              </a:defRPr>
            </a:pPr>
            <a:r>
              <a:rPr sz="1200" b="1">
                <a:solidFill>
                  <a:srgbClr val="172026"/>
                </a:solidFill>
              </a:rPr>
              <a:t>Input stock, date range,</a:t>
            </a:r>
          </a:p>
          <a:p xmlns:a="http://schemas.openxmlformats.org/drawingml/2006/main">
            <a:pPr algn="ctr">
              <a:defRPr sz="1200" b="1">
                <a:solidFill>
                  <a:srgbClr val="172026"/>
                </a:solidFill>
              </a:defRPr>
            </a:pPr>
            <a:r>
              <a:rPr sz="1200" b="1">
                <a:solidFill>
                  <a:srgbClr val="172026"/>
                </a:solidFill>
              </a:rPr>
              <a:t>MA parameters, initial capital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FFA7CD-A3A4-4179-9D7E-B88F8DD00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10150" y="3200400"/>
            <a:ext cx="2190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EFD71B-2C5C-4F06-9B85-73ED9585E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0" y="3314700"/>
            <a:ext cx="1924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26"/>
                </a:solidFill>
              </a:defRPr>
            </a:pPr>
            <a:r>
              <a:rPr sz="1200" b="1">
                <a:solidFill>
                  <a:srgbClr val="172026"/>
                </a:solidFill>
              </a:rPr>
              <a:t>Load historical</a:t>
            </a:r>
          </a:p>
          <a:p xmlns:a="http://schemas.openxmlformats.org/drawingml/2006/main">
            <a:pPr algn="ctr">
              <a:defRPr sz="1200" b="1">
                <a:solidFill>
                  <a:srgbClr val="172026"/>
                </a:solidFill>
              </a:defRPr>
            </a:pPr>
            <a:r>
              <a:rPr sz="1200" b="1">
                <a:solidFill>
                  <a:srgbClr val="172026"/>
                </a:solidFill>
              </a:rPr>
              <a:t>price data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A6FC3E-BE02-4BC6-8BBC-73610A877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10150" y="4133850"/>
            <a:ext cx="2190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34D816-2857-4A05-846C-BF1FEFA13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0" y="4248150"/>
            <a:ext cx="1924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26"/>
                </a:solidFill>
              </a:defRPr>
            </a:pPr>
            <a:r>
              <a:rPr sz="1200" b="1">
                <a:solidFill>
                  <a:srgbClr val="172026"/>
                </a:solidFill>
              </a:rPr>
              <a:t>Create strategy object</a:t>
            </a:r>
          </a:p>
          <a:p xmlns:a="http://schemas.openxmlformats.org/drawingml/2006/main">
            <a:pPr algn="ctr">
              <a:defRPr sz="1200" b="1">
                <a:solidFill>
                  <a:srgbClr val="172026"/>
                </a:solidFill>
              </a:defRPr>
            </a:pPr>
            <a:r>
              <a:rPr sz="1200" b="1">
                <a:solidFill>
                  <a:srgbClr val="172026"/>
                </a:solidFill>
              </a:rPr>
              <a:t>and calculate indicators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854867-10AE-498B-AC0E-BD5F1917C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10150" y="5067300"/>
            <a:ext cx="2190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CA3975-A195-4781-84D4-0544FE57A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0" y="5181600"/>
            <a:ext cx="1924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26"/>
                </a:solidFill>
              </a:defRPr>
            </a:pPr>
            <a:r>
              <a:rPr sz="1200" b="1">
                <a:solidFill>
                  <a:srgbClr val="172026"/>
                </a:solidFill>
              </a:rPr>
              <a:t>Generate signals,</a:t>
            </a:r>
          </a:p>
          <a:p xmlns:a="http://schemas.openxmlformats.org/drawingml/2006/main">
            <a:pPr algn="ctr">
              <a:defRPr sz="1200" b="1">
                <a:solidFill>
                  <a:srgbClr val="172026"/>
                </a:solidFill>
              </a:defRPr>
            </a:pPr>
            <a:r>
              <a:rPr sz="1200" b="1">
                <a:solidFill>
                  <a:srgbClr val="172026"/>
                </a:solidFill>
              </a:rPr>
              <a:t>simulate trades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A3B720-DBDC-4994-A8FF-F3C3B0C25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10150" y="5962650"/>
            <a:ext cx="2190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7E87C2-EE89-4DE9-8A72-1A9DE99C5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0" y="6076950"/>
            <a:ext cx="1924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26"/>
                </a:solidFill>
              </a:defRPr>
            </a:pPr>
            <a:r>
              <a:rPr sz="1200" b="1">
                <a:solidFill>
                  <a:srgbClr val="172026"/>
                </a:solidFill>
              </a:rPr>
              <a:t>Compute metrics and</a:t>
            </a:r>
          </a:p>
          <a:p xmlns:a="http://schemas.openxmlformats.org/drawingml/2006/main">
            <a:pPr algn="ctr">
              <a:defRPr sz="1200" b="1">
                <a:solidFill>
                  <a:srgbClr val="172026"/>
                </a:solidFill>
              </a:defRPr>
            </a:pPr>
            <a:r>
              <a:rPr sz="1200" b="1">
                <a:solidFill>
                  <a:srgbClr val="172026"/>
                </a:solidFill>
              </a:rPr>
              <a:t>show results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20BC0C-01A3-4C68-9483-3AB5377DC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905500" y="2114550"/>
            <a:ext cx="4000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2026"/>
          </a:solidFill>
          <a:ln xmlns:a="http://schemas.openxmlformats.org/drawingml/2006/main" w="0">
            <a:solidFill>
              <a:srgbClr val="17202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AEEEDA-2061-4768-B25A-1A2084BCB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05450" y="2857500"/>
            <a:ext cx="1200150" cy="5334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AEFD9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775D52-88B6-495B-B31D-022A41790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76900" y="2962275"/>
            <a:ext cx="857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26"/>
                </a:solidFill>
              </a:defRPr>
            </a:pPr>
            <a:r>
              <a:rPr sz="1050" b="1">
                <a:solidFill>
                  <a:srgbClr val="172026"/>
                </a:solidFill>
              </a:rPr>
              <a:t>Parameters</a:t>
            </a:r>
          </a:p>
          <a:p xmlns:a="http://schemas.openxmlformats.org/drawingml/2006/main">
            <a:pPr algn="ctr">
              <a:defRPr sz="1050" b="1">
                <a:solidFill>
                  <a:srgbClr val="172026"/>
                </a:solidFill>
              </a:defRPr>
            </a:pPr>
            <a:r>
              <a:rPr sz="1050" b="1">
                <a:solidFill>
                  <a:srgbClr val="172026"/>
                </a:solidFill>
              </a:rPr>
              <a:t>valid?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1ED933-2C0C-46D1-8DCD-3C514303E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905500" y="3714750"/>
            <a:ext cx="4000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2026"/>
          </a:solidFill>
          <a:ln xmlns:a="http://schemas.openxmlformats.org/drawingml/2006/main" w="0">
            <a:solidFill>
              <a:srgbClr val="17202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D3FE05-BDEE-42E9-AE0D-0223DC035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05450" y="3790950"/>
            <a:ext cx="1200150" cy="5334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AEFD9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D5DBC7-2D7D-41A7-97B7-3EDFC7B3D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9750" y="3895725"/>
            <a:ext cx="971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26"/>
                </a:solidFill>
              </a:defRPr>
            </a:pPr>
            <a:r>
              <a:rPr sz="1050" b="1">
                <a:solidFill>
                  <a:srgbClr val="172026"/>
                </a:solidFill>
              </a:rPr>
              <a:t>Enough</a:t>
            </a:r>
          </a:p>
          <a:p xmlns:a="http://schemas.openxmlformats.org/drawingml/2006/main">
            <a:pPr algn="ctr">
              <a:defRPr sz="1050" b="1">
                <a:solidFill>
                  <a:srgbClr val="172026"/>
                </a:solidFill>
              </a:defRPr>
            </a:pPr>
            <a:r>
              <a:rPr sz="1050" b="1">
                <a:solidFill>
                  <a:srgbClr val="172026"/>
                </a:solidFill>
              </a:rPr>
              <a:t>historical data?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CFE453-D1C2-4F30-9EB9-4BEF063CE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905500" y="4648200"/>
            <a:ext cx="4000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2026"/>
          </a:solidFill>
          <a:ln xmlns:a="http://schemas.openxmlformats.org/drawingml/2006/main" w="0">
            <a:solidFill>
              <a:srgbClr val="17202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899337-C963-4449-B26D-8F7C9AF93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905500" y="5581650"/>
            <a:ext cx="4000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2026"/>
          </a:solidFill>
          <a:ln xmlns:a="http://schemas.openxmlformats.org/drawingml/2006/main" w="0">
            <a:solidFill>
              <a:srgbClr val="17202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8BD22D-8C1F-4A56-80DD-C51DE3F0C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10200" y="6534150"/>
            <a:ext cx="1390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5EC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F91FAE-4C6C-4EC5-B413-5CA7AEE87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10200" y="6581775"/>
            <a:ext cx="1390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26"/>
                </a:solidFill>
              </a:defRPr>
            </a:pPr>
            <a:r>
              <a:rPr sz="1050" b="1">
                <a:solidFill>
                  <a:srgbClr val="172026"/>
                </a:solidFill>
              </a:rPr>
              <a:t>End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4ABB1E-16F2-488D-8C3C-6AC10F819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3950" y="2667000"/>
            <a:ext cx="25908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51F3668-1091-4089-A8B2-1FD471E3C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3950" y="2667000"/>
            <a:ext cx="2590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B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E4F5E70-9D6C-449F-8223-DDA4F9DD5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4450" y="2838450"/>
            <a:ext cx="2209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No branch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4FD7E14-3BE1-4C44-A9C8-477FA0B28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4450" y="3200400"/>
            <a:ext cx="2209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F5B66"/>
                </a:solidFill>
              </a:defRPr>
            </a:pPr>
            <a:r>
              <a:rPr sz="1125" b="0">
                <a:solidFill>
                  <a:srgbClr val="4F5B66"/>
                </a:solidFill>
              </a:rPr>
              <a:t>Show validation error and stop the backtest.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4578462-6422-4F90-B95B-E559D46D2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3800" y="2990850"/>
            <a:ext cx="1047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2026"/>
          </a:solidFill>
          <a:ln xmlns:a="http://schemas.openxmlformats.org/drawingml/2006/main" w="0">
            <a:solidFill>
              <a:srgbClr val="17202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D76F7F4-5A5C-44EB-AA3A-B51CAF5F3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34350" y="3600450"/>
            <a:ext cx="27813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78A3098-EAAB-42C9-9E7B-F68D508BD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34350" y="3600450"/>
            <a:ext cx="2781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B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C1D2C7A-57A9-4776-8116-ED4EA4F6C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24850" y="3771900"/>
            <a:ext cx="2400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No branch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751B7C9-333A-4A1E-BDAA-855409E1E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24850" y="4133850"/>
            <a:ext cx="2400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F5B66"/>
                </a:solidFill>
              </a:defRPr>
            </a:pPr>
            <a:r>
              <a:rPr sz="1125" b="0">
                <a:solidFill>
                  <a:srgbClr val="4F5B66"/>
                </a:solidFill>
              </a:rPr>
              <a:t>Show insufficient data message; user changes parameters.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967FCCD-E558-4818-A46E-4E04B00B8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91350" y="3924300"/>
            <a:ext cx="1047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2026"/>
          </a:solidFill>
          <a:ln xmlns:a="http://schemas.openxmlformats.org/drawingml/2006/main" w="0">
            <a:solidFill>
              <a:srgbClr val="17202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99C5F23-832A-4FB8-81C7-03360DFF5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10350" y="3028950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F5B66"/>
                </a:solidFill>
              </a:defRPr>
            </a:pPr>
            <a:r>
              <a:rPr sz="900" b="0">
                <a:solidFill>
                  <a:srgbClr val="4F5B66"/>
                </a:solidFill>
              </a:rPr>
              <a:t>Yes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09A0F8A-BD4C-49DE-983A-1EA68F21D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57700" y="3028950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F5B66"/>
                </a:solidFill>
              </a:defRPr>
            </a:pPr>
            <a:r>
              <a:rPr sz="900" b="0">
                <a:solidFill>
                  <a:srgbClr val="4F5B66"/>
                </a:solidFill>
              </a:rPr>
              <a:t>No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6ECB4F2-4DAD-4CA3-BFFE-AD9F0905D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10350" y="3962400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F5B66"/>
                </a:solidFill>
              </a:defRPr>
            </a:pPr>
            <a:r>
              <a:rPr sz="900" b="0">
                <a:solidFill>
                  <a:srgbClr val="4F5B66"/>
                </a:solidFill>
              </a:rPr>
              <a:t>Yes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5C30908-8C5F-4133-A324-8147B9A10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34300" y="3943350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F5B66"/>
                </a:solidFill>
              </a:defRPr>
            </a:pPr>
            <a:r>
              <a:rPr sz="900" b="0">
                <a:solidFill>
                  <a:srgbClr val="4F5B66"/>
                </a:solidFill>
              </a:rPr>
              <a:t>No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19A2BC9-70F6-41B6-A820-118886F0B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534150"/>
            <a:ext cx="971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F5B66"/>
                </a:solidFill>
              </a:defRPr>
            </a:pPr>
            <a:r>
              <a:rPr sz="750" b="0">
                <a:solidFill>
                  <a:srgbClr val="4F5B66"/>
                </a:solidFill>
              </a:rPr>
              <a:t>Draft for checkpoint presentation. Replace member names and screenshots before submission.</a:t>
            </a:r>
          </a:p>
        </p:txBody>
      </p:sp>
    </p:spTree>
    <p:extLst>
      <p:ext uri="{BB962C8B-B14F-4D97-AF65-F5344CB8AC3E}">
        <p14:creationId xmlns:p14="http://schemas.microsoft.com/office/powerpoint/2010/main" val="4412474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60A3D4F-64A0-4F27-A895-8E152D64028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1AA04F-4B38-4B8A-A428-F4C61E2F3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0250" y="-8572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5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718454-154D-4000-B73A-FE6FBD32A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857250" y="53340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EF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089D60-5EA5-4B8E-9B84-81E33CBFD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2667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E6B52"/>
                </a:solidFill>
              </a:defRPr>
            </a:pPr>
            <a:r>
              <a:rPr sz="825" b="1">
                <a:solidFill>
                  <a:srgbClr val="0E6B52"/>
                </a:solidFill>
              </a:rPr>
              <a:t>CSC0005 Project Checkpoint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25C4CA-911B-4642-B201-F2A2E3C89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63300" y="2476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E6B52"/>
                </a:solidFill>
              </a:defRPr>
            </a:pPr>
            <a:r>
              <a:rPr sz="900" b="1">
                <a:solidFill>
                  <a:srgbClr val="0E6B52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2C63D6-A887-4849-80F5-DCB61722D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E61094-4E1E-4A22-BE91-0FB62A4EC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781050"/>
            <a:ext cx="885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6"/>
                </a:solidFill>
              </a:defRPr>
            </a:pPr>
            <a:r>
              <a:rPr sz="2400" b="1">
                <a:solidFill>
                  <a:srgbClr val="172026"/>
                </a:solidFill>
              </a:rPr>
              <a:t>Architecture Diagram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F94F72-6427-4B51-B1AD-0290A99C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" y="125730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F5B66"/>
                </a:solidFill>
              </a:defRPr>
            </a:pPr>
            <a:r>
              <a:rPr sz="1200" b="0">
                <a:solidFill>
                  <a:srgbClr val="4F5B66"/>
                </a:solidFill>
              </a:rPr>
              <a:t>This slide shows the main application components, framework choices, and request-response structure.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6E935E-3D32-490B-AE56-6AF61E0C5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2419350"/>
            <a:ext cx="1714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5EEFF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E9CB2E-8118-4425-B23F-9C1A85CE8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2628900"/>
            <a:ext cx="1485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Web Browser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F40C5F-2D42-46AE-8DBE-99DA8E02F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67050" y="2419350"/>
            <a:ext cx="18669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FF5EC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F65DAE-FC66-4BF0-AA9B-CB51807CA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81350" y="2628900"/>
            <a:ext cx="1638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Next.js App Router UI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D82A9F-C33B-4E83-BDC4-483FD85FD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0" y="2419350"/>
            <a:ext cx="18288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AEFD9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75BB53-5D94-4E06-8A2D-4BE30CD09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38800" y="2628900"/>
            <a:ext cx="1600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Next.js API Routes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F9F663-1FE4-4608-A761-58A6F4EB0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62900" y="2190750"/>
            <a:ext cx="19431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BE5DF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6C3749-F592-4B4F-95F2-879A719D5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77200" y="2400300"/>
            <a:ext cx="171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Domain Layer</a:t>
            </a:r>
          </a:p>
          <a:p xmlns:a="http://schemas.openxmlformats.org/drawingml/2006/main">
            <a:pPr algn="ctr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Portfolio / Alerts / Backtests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66F2DD-1255-4137-9EEF-6BA88D3E8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0" y="2419350"/>
            <a:ext cx="1143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5EEFF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16638D-A4CC-4BFE-9692-2CAC8BE5E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01300" y="2628900"/>
            <a:ext cx="914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Prisma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27D6A9-A15E-40AB-A877-BAB3CAA9B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0" y="3771900"/>
            <a:ext cx="1143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FF5EC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64677B-4898-44FE-BC16-1BBEAAC0B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01300" y="3981450"/>
            <a:ext cx="914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MySQL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C23C2A-C1D7-485D-886A-998F0DD56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33650" y="2724150"/>
            <a:ext cx="4000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2026"/>
          </a:solidFill>
          <a:ln xmlns:a="http://schemas.openxmlformats.org/drawingml/2006/main" w="0">
            <a:solidFill>
              <a:srgbClr val="17202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8E6AE9-23E3-4BD8-A309-D0F4A9AFE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29200" y="2724150"/>
            <a:ext cx="4000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2026"/>
          </a:solidFill>
          <a:ln xmlns:a="http://schemas.openxmlformats.org/drawingml/2006/main" w="0">
            <a:solidFill>
              <a:srgbClr val="17202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E592EF-0E2C-4AEF-88A6-BD111460C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48550" y="2724150"/>
            <a:ext cx="4000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2026"/>
          </a:solidFill>
          <a:ln xmlns:a="http://schemas.openxmlformats.org/drawingml/2006/main" w="0">
            <a:solidFill>
              <a:srgbClr val="17202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CB94EE-106C-4F34-AB75-48D2B9F28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82200" y="2724150"/>
            <a:ext cx="2286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2026"/>
          </a:solidFill>
          <a:ln xmlns:a="http://schemas.openxmlformats.org/drawingml/2006/main" w="0">
            <a:solidFill>
              <a:srgbClr val="17202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2B0847-F8FA-4E5D-936D-B9A116915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0744200" y="3352800"/>
            <a:ext cx="2286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2026"/>
          </a:solidFill>
          <a:ln xmlns:a="http://schemas.openxmlformats.org/drawingml/2006/main" w="0">
            <a:solidFill>
              <a:srgbClr val="17202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CE38B7-6505-4683-B6CB-46548422D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38350" y="4210050"/>
            <a:ext cx="27241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763B54-C514-4A3A-AB89-0D5D37AF5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38350" y="4210050"/>
            <a:ext cx="2724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8146EA-13D4-4559-BE54-4D55D138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8850" y="4381500"/>
            <a:ext cx="2343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Authentication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5FF07D-F6C0-45E7-B6FB-2D5A5921A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8850" y="4743450"/>
            <a:ext cx="2343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F5B66"/>
                </a:solidFill>
              </a:defRPr>
            </a:pPr>
            <a:r>
              <a:rPr sz="1125" b="0">
                <a:solidFill>
                  <a:srgbClr val="4F5B66"/>
                </a:solidFill>
              </a:rPr>
              <a:t>NextAuth handles login/session and protects dashboard pages and APIs.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966CC7-FA2B-45E8-894D-165B2B714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0" y="4629150"/>
            <a:ext cx="7620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2026"/>
          </a:solidFill>
          <a:ln xmlns:a="http://schemas.openxmlformats.org/drawingml/2006/main" w="0">
            <a:solidFill>
              <a:srgbClr val="17202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002A74-F2DE-479D-ACD9-375C5BC37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0" y="4210050"/>
            <a:ext cx="27241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557508-AF61-44B0-BCBD-48AACF4CB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0" y="4210050"/>
            <a:ext cx="2724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0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164E532-E963-48DD-886A-B23D4EDBF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750" y="4381500"/>
            <a:ext cx="2343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External data import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9E05085-2E09-4C93-9D8D-25F85FDC2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750" y="4743450"/>
            <a:ext cx="2343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F5B66"/>
                </a:solidFill>
              </a:defRPr>
            </a:pPr>
            <a:r>
              <a:rPr sz="1125" b="0">
                <a:solidFill>
                  <a:srgbClr val="4F5B66"/>
                </a:solidFill>
              </a:rPr>
              <a:t>FinLab import script rebuilds market data and writes into MySQL.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75E77C1-9A70-4482-B9AE-B7B35C408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0" y="4629150"/>
            <a:ext cx="11430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2026"/>
          </a:solidFill>
          <a:ln xmlns:a="http://schemas.openxmlformats.org/drawingml/2006/main" w="0">
            <a:solidFill>
              <a:srgbClr val="17202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9975B8D-25E3-4A89-B123-D3FC4F326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829300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F5B66"/>
                </a:solidFill>
              </a:defRPr>
            </a:pPr>
            <a:r>
              <a:rPr sz="1050" b="0">
                <a:solidFill>
                  <a:srgbClr val="4F5B66"/>
                </a:solidFill>
              </a:rPr>
              <a:t>Request-response path: Browser -&gt; UI -&gt; API -&gt; Domain -&gt; Prisma -&gt; MySQL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1248622-C910-4573-9023-65D1510E8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05790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F5B66"/>
                </a:solidFill>
              </a:defRPr>
            </a:pPr>
            <a:r>
              <a:rPr sz="1050" b="0">
                <a:solidFill>
                  <a:srgbClr val="4F5B66"/>
                </a:solidFill>
              </a:rPr>
              <a:t>Frameworks: Next.js, Prisma, MySQL, NextAuth, FinLab import script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4826B97-7959-4861-B737-A4915AF38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534150"/>
            <a:ext cx="971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F5B66"/>
                </a:solidFill>
              </a:defRPr>
            </a:pPr>
            <a:r>
              <a:rPr sz="750" b="0">
                <a:solidFill>
                  <a:srgbClr val="4F5B66"/>
                </a:solidFill>
              </a:rPr>
              <a:t>Draft for checkpoint presentation. Replace member names and screenshots before submission.</a:t>
            </a:r>
          </a:p>
        </p:txBody>
      </p:sp>
    </p:spTree>
    <p:extLst>
      <p:ext uri="{BB962C8B-B14F-4D97-AF65-F5344CB8AC3E}">
        <p14:creationId xmlns:p14="http://schemas.microsoft.com/office/powerpoint/2010/main" val="4910519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60A3D4F-64A0-4F27-A895-8E152D64028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71D9E8-42BA-45B5-B492-EA58B8378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0250" y="-8572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5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110E01-6DCC-4BB2-A6C1-D881769E1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857250" y="53340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EF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8AE040-B0A2-4D76-82D8-E0AC58BE2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2667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E6B52"/>
                </a:solidFill>
              </a:defRPr>
            </a:pPr>
            <a:r>
              <a:rPr sz="825" b="1">
                <a:solidFill>
                  <a:srgbClr val="0E6B52"/>
                </a:solidFill>
              </a:rPr>
              <a:t>CSC0005 Project Checkpoint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9C57E0-C722-4E9B-809F-F442CDBC5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63300" y="2476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E6B52"/>
                </a:solidFill>
              </a:defRPr>
            </a:pPr>
            <a:r>
              <a:rPr sz="900" b="1">
                <a:solidFill>
                  <a:srgbClr val="0E6B52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1EE713-7B19-4189-9630-73DBDA814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F90430-B653-4A40-814B-B50FE130E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781050"/>
            <a:ext cx="885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6"/>
                </a:solidFill>
              </a:defRPr>
            </a:pPr>
            <a:r>
              <a:rPr sz="2400" b="1">
                <a:solidFill>
                  <a:srgbClr val="172026"/>
                </a:solidFill>
              </a:rPr>
              <a:t>Data Storage Design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8DBF24-6325-4886-8F43-D2DBFD582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" y="125730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F5B66"/>
                </a:solidFill>
              </a:defRPr>
            </a:pPr>
            <a:r>
              <a:rPr sz="1200" b="0">
                <a:solidFill>
                  <a:srgbClr val="4F5B66"/>
                </a:solidFill>
              </a:rPr>
              <a:t>Explain how data is stored, where it is stored, and what classes access it at run-time.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118DA7-78ED-424F-982D-84A592B43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1866900"/>
            <a:ext cx="5143500" cy="201930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787927-5DC3-4409-8DDA-16C45CA6D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186690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5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FF93EB-59A1-40A2-A10E-751833979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" y="2038350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Market data in MySQL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E84B67-835C-4725-BD2B-254BBA121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2362200"/>
            <a:ext cx="46863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Core tables:</a:t>
            </a:r>
          </a:p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- stocks</a:t>
            </a:r>
          </a:p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- historicalprices</a:t>
            </a:r>
          </a:p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- financialreports</a:t>
            </a:r>
          </a:p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- dividends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Run-time access classes:</a:t>
            </a:r>
          </a:p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- Stock APIs</a:t>
            </a:r>
          </a:p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- AlertMarketDataService</a:t>
            </a:r>
          </a:p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- BacktestMarketDataService</a:t>
            </a:r>
          </a:p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- PortfolioPriceService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0FE3C0-0969-41E0-944A-48EAE3D20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8900" y="1866900"/>
            <a:ext cx="5143500" cy="201930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48973B-FA46-43A4-B4BA-A45BE92EF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8900" y="186690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D61E9A-F9E5-402F-9BB2-BF68C88B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29400" y="2038350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User and portfolio data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FBF62D-4328-4847-A1C4-5E6D3A694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0" y="2362200"/>
            <a:ext cx="46863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Core tables:</a:t>
            </a:r>
          </a:p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- users</a:t>
            </a:r>
          </a:p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- watchlistitems</a:t>
            </a:r>
          </a:p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- portfolios</a:t>
            </a:r>
          </a:p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- transactions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Run-time access classes:</a:t>
            </a:r>
          </a:p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- Portfolio</a:t>
            </a:r>
          </a:p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- Position</a:t>
            </a:r>
          </a:p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- PortfolioTransaction</a:t>
            </a:r>
          </a:p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- TransactionValidator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0FE7FC-59EC-4052-8CE6-F6845635D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210050"/>
            <a:ext cx="5143500" cy="201930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A12659-B7B5-48C2-9BBF-67AF813EF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2100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0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D837C2-1BEC-4672-BAB6-7751F56E3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" y="4381500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Rule and notification data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A82CCC-0A08-4090-9B09-57AF026D6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4705350"/>
            <a:ext cx="46863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Core tables:</a:t>
            </a:r>
          </a:p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- alertrules</a:t>
            </a:r>
          </a:p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- notifications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Run-time access classes:</a:t>
            </a:r>
          </a:p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- AlertRule hierarchy</a:t>
            </a:r>
          </a:p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- AlertEvaluator</a:t>
            </a:r>
          </a:p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- NotificationService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029760-70C8-4C48-9B84-EDEBB28BD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8900" y="4210050"/>
            <a:ext cx="5143500" cy="201930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D0FEA7-DF85-496D-ACDA-759DBCB35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8900" y="42100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B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C151B1-47E9-498A-83AD-37F946175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29400" y="4381500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Strategy and backtest data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4E92F7-72EA-44B4-A5E7-1ACF675D8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0" y="4705350"/>
            <a:ext cx="46863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Core tables:</a:t>
            </a:r>
          </a:p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- backtestruns</a:t>
            </a:r>
          </a:p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- backtesttrades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Run-time access classes:</a:t>
            </a:r>
          </a:p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- MovingAverageCrossStrategy</a:t>
            </a:r>
          </a:p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- BacktestEngine</a:t>
            </a:r>
          </a:p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- PerformanceReport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6B8E71-1F6B-45FC-9EDE-423FEF2F1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534150"/>
            <a:ext cx="971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F5B66"/>
                </a:solidFill>
              </a:defRPr>
            </a:pPr>
            <a:r>
              <a:rPr sz="750" b="0">
                <a:solidFill>
                  <a:srgbClr val="4F5B66"/>
                </a:solidFill>
              </a:rPr>
              <a:t>All checkpoint data is stored in MySQL and accessed through Prisma plus domain services.</a:t>
            </a:r>
          </a:p>
        </p:txBody>
      </p:sp>
    </p:spTree>
    <p:extLst>
      <p:ext uri="{BB962C8B-B14F-4D97-AF65-F5344CB8AC3E}">
        <p14:creationId xmlns:p14="http://schemas.microsoft.com/office/powerpoint/2010/main" val="4086285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60A3D4F-64A0-4F27-A895-8E152D64028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3288F5-30AC-4337-AFDF-9E6EC8937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0250" y="-8572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5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EAFFB2-60E8-4D8B-9580-087DD94A7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857250" y="53340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EF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B9F117-7AB3-4DA5-BD72-B690942B9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2667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E6B52"/>
                </a:solidFill>
              </a:defRPr>
            </a:pPr>
            <a:r>
              <a:rPr sz="825" b="1">
                <a:solidFill>
                  <a:srgbClr val="0E6B52"/>
                </a:solidFill>
              </a:rPr>
              <a:t>CSC0005 Project Checkpoint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CAFDDC-5524-40D3-A4FD-617A4A080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63300" y="2476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E6B52"/>
                </a:solidFill>
              </a:defRPr>
            </a:pPr>
            <a:r>
              <a:rPr sz="900" b="1">
                <a:solidFill>
                  <a:srgbClr val="0E6B52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9ECA68-A605-4E24-9902-6853D6D03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55833A-012E-4B22-A3B5-DBEF5F0FE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781050"/>
            <a:ext cx="885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6"/>
                </a:solidFill>
              </a:defRPr>
            </a:pPr>
            <a:r>
              <a:rPr sz="2400" b="1">
                <a:solidFill>
                  <a:srgbClr val="172026"/>
                </a:solidFill>
              </a:rPr>
              <a:t>UI Mockups / Prototype Screens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3E41D4-6083-4163-A76E-FD9E743DB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" y="125730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F5B66"/>
                </a:solidFill>
              </a:defRPr>
            </a:pPr>
            <a:r>
              <a:rPr sz="1200" b="0">
                <a:solidFill>
                  <a:srgbClr val="4F5B66"/>
                </a:solidFill>
              </a:rPr>
              <a:t>Use real prototype-inspired mockups to show navigation and data presentation.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DCB3F4-22EA-43A1-94B8-A655ECC8C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1809750"/>
            <a:ext cx="249555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05B06D-0526-457A-A744-F90388444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1809750"/>
            <a:ext cx="2495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5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CD0845-0725-42D3-86C4-DBA68E0ED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1866900"/>
            <a:ext cx="2228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Dashboard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51713C-DD93-4E17-B7DF-C289EFA4E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2247900"/>
            <a:ext cx="2152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F2DAF2-1BC5-46FB-9CE2-D10070F09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2933700"/>
            <a:ext cx="21526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23313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D0536A-3155-4D76-9268-5B1D7E30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3450" y="3848100"/>
            <a:ext cx="2038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9D67DB-269B-44E1-8A1A-4E3F777C3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3450" y="4038600"/>
            <a:ext cx="2038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F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6628E6-DBB0-400E-B63A-E6AEA0DA5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3450" y="4229100"/>
            <a:ext cx="2038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C7947B-6101-47C2-B322-7B69B8EBD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3450" y="4419600"/>
            <a:ext cx="2038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F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54D70E-3E82-4EB5-8FB1-176C06907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0" y="2381250"/>
            <a:ext cx="8001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23313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34CA29-4837-48CD-AF99-CDB98CA97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71850" y="1809750"/>
            <a:ext cx="249555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2F6E8B-2E07-46B3-9CC6-11B2DFE56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71850" y="1809750"/>
            <a:ext cx="2495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26FB06-1C2C-4C41-97FA-B693791CB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05200" y="1866900"/>
            <a:ext cx="2228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Stock Detail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BD821C-EDEB-4E60-828D-C70D1F64F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43300" y="2247900"/>
            <a:ext cx="2152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DFD05D-2942-41C4-BCFF-95EA7AB31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43300" y="2933700"/>
            <a:ext cx="21526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2331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21D3A6-4E80-43CE-ACBC-6CFEAE361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00450" y="3848100"/>
            <a:ext cx="2038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28942C-A4CB-4A8B-8DC3-2BB3FFC95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00450" y="4038600"/>
            <a:ext cx="2038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F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7B442A-669F-4374-B477-27AE0C763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00450" y="4229100"/>
            <a:ext cx="2038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E70C42-7888-437F-9760-59835A346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00450" y="4419600"/>
            <a:ext cx="2038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F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867EAF-E286-49BC-A87E-D70BC2DD1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00450" y="4610100"/>
            <a:ext cx="2038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C86A84-C8A9-4D86-8EB7-DFDBD162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0" y="2381250"/>
            <a:ext cx="8001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23313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5ECDFF-6FF9-4A4C-9793-2972B1888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38850" y="1809750"/>
            <a:ext cx="249555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E989EF-7BE2-4822-B77B-8125D551D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38850" y="1809750"/>
            <a:ext cx="2495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0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A00D9F-D019-4813-A286-E1246A246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72200" y="1866900"/>
            <a:ext cx="2228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Alerts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2F7CACC-C5ED-40E3-A55A-812CC5E17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0300" y="2247900"/>
            <a:ext cx="2152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867ECBA-727C-4EDD-A04B-804AFF43A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0300" y="2933700"/>
            <a:ext cx="21526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23313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4A916F1-CA4F-4B03-8421-0631D608A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67450" y="3848100"/>
            <a:ext cx="2038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16F2D63-1169-4DD4-9D97-2A6094BB6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67450" y="4038600"/>
            <a:ext cx="2038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F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8AED5A2-1A3D-49E4-9117-18048B6BA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67450" y="4229100"/>
            <a:ext cx="2038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A1BF4BE-A40C-4422-B5A3-B2094B826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67450" y="4419600"/>
            <a:ext cx="2038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F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A326F8D-F308-41B6-9681-29B4CEF3E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0" y="2381250"/>
            <a:ext cx="8001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23313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B36D6B6-3544-4219-9CBC-8B0BA59B1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05850" y="1809750"/>
            <a:ext cx="249555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2BBDB19-B224-459B-AA8C-AB05A9541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05850" y="1809750"/>
            <a:ext cx="2495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B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9B652B9-1FB8-4A27-A58E-28C1FD31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39200" y="1866900"/>
            <a:ext cx="2228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Backtests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715E3D3-4B53-478F-80C2-111FB4002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77300" y="2247900"/>
            <a:ext cx="2152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F0E4F9C-22C0-411D-BCB0-77A36D76E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77300" y="2933700"/>
            <a:ext cx="21526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23313B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4B84A49-1E6D-47F7-A434-310718CA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34450" y="3848100"/>
            <a:ext cx="2038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EEAAFB4-AFE2-4F92-992B-59C21B0DF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34450" y="4038600"/>
            <a:ext cx="2038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F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ACBD1E1-5A47-439D-BF60-E29DAC3FB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34450" y="4229100"/>
            <a:ext cx="2038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1356B77-74A3-47EB-9E95-B0FB29530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34450" y="4419600"/>
            <a:ext cx="2038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F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58445A5-C25F-4289-B77C-72760E07B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0" y="2381250"/>
            <a:ext cx="8001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23313B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EE343EB-94B1-4DA7-ADE7-B11D09BA5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" y="4324350"/>
            <a:ext cx="30861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F8F162E-0A67-42FD-9987-A15C5DC76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" y="4324350"/>
            <a:ext cx="3086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5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243C6FE-9456-4C31-9B04-372FDA7C2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" y="4495800"/>
            <a:ext cx="2705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Navigation logic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2654A7D-6C04-401A-A7B0-C6F101B7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" y="4857750"/>
            <a:ext cx="2705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F5B66"/>
                </a:solidFill>
              </a:defRPr>
            </a:pPr>
            <a:r>
              <a:rPr sz="1125" b="0">
                <a:solidFill>
                  <a:srgbClr val="4F5B66"/>
                </a:solidFill>
              </a:rPr>
              <a:t>Sidebar provides routes to dashboard, stocks, watchlist, portfolios, alerts, and backtests.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DDA91B6-96C5-4DF5-AB7D-090FE5320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52950" y="4324350"/>
            <a:ext cx="30861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1568116-778C-47F5-8658-D62C74841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52950" y="4324350"/>
            <a:ext cx="3086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3C4E347-FBBB-4B6B-B2ED-E5ACCC009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43450" y="4495800"/>
            <a:ext cx="2705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Data display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F6EFE44-2F37-482E-9BAB-8FC49013E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43450" y="4857750"/>
            <a:ext cx="2705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F5B66"/>
                </a:solidFill>
              </a:defRPr>
            </a:pPr>
            <a:r>
              <a:rPr sz="1125" b="0">
                <a:solidFill>
                  <a:srgbClr val="4F5B66"/>
                </a:solidFill>
              </a:rPr>
              <a:t>Prices, financial reports, alert rules, equity curves, and trade history are shown as cards, charts, and tables.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59DC0E7-019C-4129-A378-46F64DD3A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15300" y="4324350"/>
            <a:ext cx="30861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DCD6575-4178-4280-A3A5-3980EA862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15300" y="4324350"/>
            <a:ext cx="3086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0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CA3CFB6-1778-4197-B60D-73D064FCD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5800" y="4495800"/>
            <a:ext cx="2705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Key user path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C89313B-359D-48BB-A9CB-AD367698A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5800" y="4857750"/>
            <a:ext cx="2705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F5B66"/>
                </a:solidFill>
              </a:defRPr>
            </a:pPr>
            <a:r>
              <a:rPr sz="1125" b="0">
                <a:solidFill>
                  <a:srgbClr val="4F5B66"/>
                </a:solidFill>
              </a:rPr>
              <a:t>User can search a stock, create an alert, and run a backtest from the stock detail page.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248A023-5F0B-49FD-9EA0-63FE2665C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534150"/>
            <a:ext cx="971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F5B66"/>
                </a:solidFill>
              </a:defRPr>
            </a:pPr>
            <a:r>
              <a:rPr sz="750" b="0">
                <a:solidFill>
                  <a:srgbClr val="4F5B66"/>
                </a:solidFill>
              </a:rPr>
              <a:t>Replace this slide with real screenshots from localhost before final submission if time allows.</a:t>
            </a:r>
          </a:p>
        </p:txBody>
      </p:sp>
    </p:spTree>
    <p:extLst>
      <p:ext uri="{BB962C8B-B14F-4D97-AF65-F5344CB8AC3E}">
        <p14:creationId xmlns:p14="http://schemas.microsoft.com/office/powerpoint/2010/main" val="18504987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60A3D4F-64A0-4F27-A895-8E152D64028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41976F-AE63-492F-B8F8-72937B66D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0250" y="-8572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5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790808-B884-4C18-8E72-2C9EA2007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857250" y="53340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EF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8225CE-436C-43D9-A9A6-BE2E9935B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2667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E6B52"/>
                </a:solidFill>
              </a:defRPr>
            </a:pPr>
            <a:r>
              <a:rPr sz="825" b="1">
                <a:solidFill>
                  <a:srgbClr val="0E6B52"/>
                </a:solidFill>
              </a:rPr>
              <a:t>CSC0005 Project Checkpoint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12AB91-ACC3-4478-AB33-60525AFD5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63300" y="2476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E6B52"/>
                </a:solidFill>
              </a:defRPr>
            </a:pPr>
            <a:r>
              <a:rPr sz="900" b="1">
                <a:solidFill>
                  <a:srgbClr val="0E6B52"/>
                </a:solidFill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39D392-C37E-4871-94E1-BAF703D4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4DABA9-D859-44FD-90F9-4DA9B52E9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781050"/>
            <a:ext cx="885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6"/>
                </a:solidFill>
              </a:defRPr>
            </a:pPr>
            <a:r>
              <a:rPr sz="2400" b="1">
                <a:solidFill>
                  <a:srgbClr val="172026"/>
                </a:solidFill>
              </a:rPr>
              <a:t>Class Diagram A - Portfolio Domain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4346D5-C0B7-4975-A20E-D2674F652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" y="125730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F5B66"/>
                </a:solidFill>
              </a:defRPr>
            </a:pPr>
            <a:r>
              <a:rPr sz="1200" b="0">
                <a:solidFill>
                  <a:srgbClr val="4F5B66"/>
                </a:solidFill>
              </a:rPr>
              <a:t>This diagram shows how portfolio computation was moved into domain objects.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FC5AB5-30AA-4D8C-917C-39CACE423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1943100"/>
            <a:ext cx="2038350" cy="19431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669F22-F0B3-4BEF-B5F5-92A990D9E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1943100"/>
            <a:ext cx="2038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5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2472EA-6742-48D1-AA4E-8FFDA0E25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2095500"/>
            <a:ext cx="169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User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97FB9B-C1D7-49C1-81ED-BEF42B34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2438400"/>
            <a:ext cx="1809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3FCAD4-AEA9-4C67-99C0-0C790FBEF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2552700"/>
            <a:ext cx="16954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userId</a:t>
            </a:r>
          </a:p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username</a:t>
            </a:r>
          </a:p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email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2F5C8F-4344-4175-BB53-9C7841844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3257550"/>
            <a:ext cx="1809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30EC37-66D8-43F7-A593-2BFE23A6F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3371850"/>
            <a:ext cx="1695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createPortfolio()</a:t>
            </a:r>
          </a:p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viewSummary()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434683-7424-435E-B75C-369450A24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8500" y="1657350"/>
            <a:ext cx="2247900" cy="238125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2B9F05-EE9E-43B4-82FE-C47E6FB4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8500" y="1657350"/>
            <a:ext cx="2247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720613-4661-471D-B0EF-68CAE689D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09950" y="180975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Portfolio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66974C-7C1A-4A65-B35E-15C532A26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52800" y="2152650"/>
            <a:ext cx="2019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612911-34CB-4832-BC2A-21C1EA5B2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09950" y="2266950"/>
            <a:ext cx="1905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portfolioId</a:t>
            </a:r>
          </a:p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name</a:t>
            </a:r>
          </a:p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transactions[]</a:t>
            </a:r>
          </a:p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positions[]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8D1304-A986-461E-A4D3-14AD6D61E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52800" y="3143250"/>
            <a:ext cx="2019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C96F54-AA53-4560-BA17-7B9EEB752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09950" y="3257550"/>
            <a:ext cx="1905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buildPositions()</a:t>
            </a:r>
          </a:p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createSnapshot()</a:t>
            </a:r>
          </a:p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getSummary()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81E784-A143-41DB-BC7C-9FA127AA0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62650" y="1657350"/>
            <a:ext cx="2247900" cy="238125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0EBE95-3407-4092-9843-F0E51F04F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62650" y="1657350"/>
            <a:ext cx="2247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0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5E7154-DAF3-408C-B2CB-790B67803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34100" y="180975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Position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3A84E5-157E-4039-B2A7-217174D80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6950" y="2152650"/>
            <a:ext cx="2019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D23AA2-024A-464F-A2F0-FD2BEC41A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34100" y="2266950"/>
            <a:ext cx="1905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stockId</a:t>
            </a:r>
          </a:p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quantity</a:t>
            </a:r>
          </a:p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averageCost</a:t>
            </a:r>
          </a:p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realizedPnl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1F9CFC-752F-451F-8C66-09A9D02FC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6950" y="3143250"/>
            <a:ext cx="2019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8DF568-345D-4DCC-B7E4-3E2AC8D92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34100" y="3257550"/>
            <a:ext cx="1905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getMarketValue()</a:t>
            </a:r>
          </a:p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getUnrealizedPnl()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FFD4FC7-AE90-44AE-841B-59C86EFD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86800" y="1657350"/>
            <a:ext cx="26670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A78254-44A9-4BBD-989F-48B17BC1F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86800" y="1657350"/>
            <a:ext cx="2667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B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81A1F5-7466-449D-9F41-973D88EF3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8250" y="1809750"/>
            <a:ext cx="2324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6"/>
                </a:solidFill>
              </a:defRPr>
            </a:pPr>
            <a:r>
              <a:rPr sz="1200" b="1">
                <a:solidFill>
                  <a:srgbClr val="172026"/>
                </a:solidFill>
              </a:rPr>
              <a:t>PortfolioTransaction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AA0E641-4A73-4454-858F-AE9CAD25F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01100" y="2152650"/>
            <a:ext cx="2438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D6D7FE0-E55C-4C03-A651-64B7395E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8250" y="2266950"/>
            <a:ext cx="23241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transactionId</a:t>
            </a:r>
          </a:p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type</a:t>
            </a:r>
          </a:p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quantity</a:t>
            </a:r>
          </a:p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pricePerShare</a:t>
            </a:r>
          </a:p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commission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2F9D983-960D-4583-BAF8-211B70078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01100" y="3314700"/>
            <a:ext cx="2438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2876F7D-51D5-4B1F-BD82-7DA74E423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8250" y="3429000"/>
            <a:ext cx="2324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getGrossAmount()</a:t>
            </a:r>
          </a:p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getNetAmount()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1805091-0001-41B1-877C-B9D4D1060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0500" y="4438650"/>
            <a:ext cx="23622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9A9ED51-0C5C-4E9D-A216-D54E3F6B2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0500" y="4438650"/>
            <a:ext cx="2362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B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ED5C2EA-4C13-4D5D-B36F-15D1D6F41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71950" y="4591050"/>
            <a:ext cx="2019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6"/>
                </a:solidFill>
              </a:defRPr>
            </a:pPr>
            <a:r>
              <a:rPr sz="1200" b="1">
                <a:solidFill>
                  <a:srgbClr val="172026"/>
                </a:solidFill>
              </a:rPr>
              <a:t>TransactionValidator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03718C6-9A62-4461-B2D4-001B18B07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14800" y="4933950"/>
            <a:ext cx="21336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32E18F7-28E8-4C82-BC7A-3B2F10673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71950" y="5048250"/>
            <a:ext cx="2019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normalizeInput()</a:t>
            </a:r>
          </a:p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validateSell()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1C3C71A-0170-448C-AFF8-C6AEABFC4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14800" y="5657850"/>
            <a:ext cx="21336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1263605-DAEF-4933-A11D-D5D8AABDD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71950" y="5772150"/>
            <a:ext cx="2019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canSell()</a:t>
            </a:r>
          </a:p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validateRequiredFields()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0874B01-B4FF-4335-AF22-6E32C218E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0" y="4438650"/>
            <a:ext cx="23622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7154C51-D49D-41D5-B983-2D3574FA0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0" y="4438650"/>
            <a:ext cx="2362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4ECA569-EB0D-4731-AF10-D7969E5F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86600" y="4591050"/>
            <a:ext cx="2019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6"/>
                </a:solidFill>
              </a:defRPr>
            </a:pPr>
            <a:r>
              <a:rPr sz="1200" b="1">
                <a:solidFill>
                  <a:srgbClr val="172026"/>
                </a:solidFill>
              </a:rPr>
              <a:t>PortfolioPriceService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7E1F8A2-0FCA-42E5-A234-2EA28B67D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29450" y="4933950"/>
            <a:ext cx="21336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D77F630-852E-44A3-9D14-A231F1956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86600" y="5048250"/>
            <a:ext cx="2019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getLatestPrices()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2941D86-8D8E-427B-8E6A-BF0038A5A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29450" y="5657850"/>
            <a:ext cx="21336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31C3E3D-EFB2-4CA2-ABE8-51B7B03F7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86600" y="5772150"/>
            <a:ext cx="2019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mapPricesToPositions()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543A9FD-B983-4694-AE73-9AAFB1E4B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81300" y="2457450"/>
            <a:ext cx="3810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2026"/>
          </a:solidFill>
          <a:ln xmlns:a="http://schemas.openxmlformats.org/drawingml/2006/main" w="0">
            <a:solidFill>
              <a:srgbClr val="17202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A270C73-D72F-496D-B8E4-0244D5281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86050" y="2286000"/>
            <a:ext cx="57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4F5B66"/>
                </a:solidFill>
              </a:defRPr>
            </a:pPr>
            <a:r>
              <a:rPr sz="825" b="0">
                <a:solidFill>
                  <a:srgbClr val="4F5B66"/>
                </a:solidFill>
              </a:rPr>
              <a:t>owns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1A0EC0B-7DE3-49D9-9512-677B6501C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43550" y="2457450"/>
            <a:ext cx="3429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2026"/>
          </a:solidFill>
          <a:ln xmlns:a="http://schemas.openxmlformats.org/drawingml/2006/main" w="0">
            <a:solidFill>
              <a:srgbClr val="17202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ECA0D3A-1279-4C36-9F4F-D3A4AE087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48300" y="2286000"/>
            <a:ext cx="533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4F5B66"/>
                </a:solidFill>
              </a:defRPr>
            </a:pPr>
            <a:r>
              <a:rPr sz="825" b="0">
                <a:solidFill>
                  <a:srgbClr val="4F5B66"/>
                </a:solidFill>
              </a:rPr>
              <a:t>builds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1611EE0-4F65-4E22-B8F9-0868028E5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48650" y="2457450"/>
            <a:ext cx="3619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2026"/>
          </a:solidFill>
          <a:ln xmlns:a="http://schemas.openxmlformats.org/drawingml/2006/main" w="0">
            <a:solidFill>
              <a:srgbClr val="17202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01658AE-B7CA-4FDC-900D-E3C47F453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53400" y="2286000"/>
            <a:ext cx="552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4F5B66"/>
                </a:solidFill>
              </a:defRPr>
            </a:pPr>
            <a:r>
              <a:rPr sz="825" b="0">
                <a:solidFill>
                  <a:srgbClr val="4F5B66"/>
                </a:solidFill>
              </a:rPr>
              <a:t>uses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56E48C1-FFD5-47A8-AE6B-E09544FC4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048250" y="4152900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2026"/>
          </a:solidFill>
          <a:ln xmlns:a="http://schemas.openxmlformats.org/drawingml/2006/main" w="0">
            <a:solidFill>
              <a:srgbClr val="172026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911731F-3C19-4046-BABB-FA4B28905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677150" y="4152900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2026"/>
          </a:solidFill>
          <a:ln xmlns:a="http://schemas.openxmlformats.org/drawingml/2006/main" w="0">
            <a:solidFill>
              <a:srgbClr val="172026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B30E691-A4E0-459C-AC5F-288A0A205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6172200"/>
            <a:ext cx="723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F5B66"/>
                </a:solidFill>
              </a:defRPr>
            </a:pPr>
            <a:r>
              <a:rPr sz="1050" b="0">
                <a:solidFill>
                  <a:srgbClr val="4F5B66"/>
                </a:solidFill>
              </a:rPr>
              <a:t>Portfolio now aggregates transactions, creates positions, and produces summary snapshots.</a:t>
            </a:r>
          </a:p>
          <a:p xmlns:a="http://schemas.openxmlformats.org/drawingml/2006/main">
            <a:pPr algn="l">
              <a:defRPr sz="1050" b="0">
                <a:solidFill>
                  <a:srgbClr val="4F5B66"/>
                </a:solidFill>
              </a:defRPr>
            </a:pPr>
            <a:r>
              <a:rPr sz="1050" b="0">
                <a:solidFill>
                  <a:srgbClr val="4F5B66"/>
                </a:solidFill>
              </a:rPr>
              <a:t>This refactor makes the route handlers thinner and the object responsibilities clearer.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61013E4-6CB7-4487-9620-88445B5A6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534150"/>
            <a:ext cx="971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F5B66"/>
                </a:solidFill>
              </a:defRPr>
            </a:pPr>
            <a:r>
              <a:rPr sz="750" b="0">
                <a:solidFill>
                  <a:srgbClr val="4F5B66"/>
                </a:solidFill>
              </a:rPr>
              <a:t>Draft for checkpoint presentation. Replace member names and screenshots before submission.</a:t>
            </a:r>
          </a:p>
        </p:txBody>
      </p:sp>
    </p:spTree>
    <p:extLst>
      <p:ext uri="{BB962C8B-B14F-4D97-AF65-F5344CB8AC3E}">
        <p14:creationId xmlns:p14="http://schemas.microsoft.com/office/powerpoint/2010/main" val="13699001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60A3D4F-64A0-4F27-A895-8E152D64028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A30A45-6FA7-4D07-A76D-E052F4126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0250" y="-8572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5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AC1EB9-374D-4DB5-BE81-C239DBCC8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857250" y="53340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EF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76E84C-E951-4066-98E4-98E0A7C0E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2667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E6B52"/>
                </a:solidFill>
              </a:defRPr>
            </a:pPr>
            <a:r>
              <a:rPr sz="825" b="1">
                <a:solidFill>
                  <a:srgbClr val="0E6B52"/>
                </a:solidFill>
              </a:rPr>
              <a:t>CSC0005 Project Checkpoint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3EE677-4076-46AA-A579-76D2C01CB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63300" y="2476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E6B52"/>
                </a:solidFill>
              </a:defRPr>
            </a:pPr>
            <a:r>
              <a:rPr sz="900" b="1">
                <a:solidFill>
                  <a:srgbClr val="0E6B52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C0461E-6356-4E6B-BB24-4780F8B8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AFEC55-5DEC-4705-8D34-2A40A5DA8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781050"/>
            <a:ext cx="885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6"/>
                </a:solidFill>
              </a:defRPr>
            </a:pPr>
            <a:r>
              <a:rPr sz="2400" b="1">
                <a:solidFill>
                  <a:srgbClr val="172026"/>
                </a:solidFill>
              </a:rPr>
              <a:t>Class Diagram B - Alert and Backtest Domains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2A9F49-17A0-4E1D-8315-BEEF0E32D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" y="125730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F5B66"/>
                </a:solidFill>
              </a:defRPr>
            </a:pPr>
            <a:r>
              <a:rPr sz="1200" b="0">
                <a:solidFill>
                  <a:srgbClr val="4F5B66"/>
                </a:solidFill>
              </a:rPr>
              <a:t>The new domains are what increase the OOAD complexity beyond CRUD.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F76EB9-E7AB-4AA1-B16B-F51040F18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1733550"/>
            <a:ext cx="2076450" cy="209550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CC976A-DA8B-4235-980E-2740DF9BF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1733550"/>
            <a:ext cx="2076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0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B65131-F307-4878-8E76-295A32563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1885950"/>
            <a:ext cx="1733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6"/>
                </a:solidFill>
              </a:defRPr>
            </a:pPr>
            <a:r>
              <a:rPr sz="1200" b="1">
                <a:solidFill>
                  <a:srgbClr val="172026"/>
                </a:solidFill>
              </a:rPr>
              <a:t>AlertRule &lt;&lt;abstract&gt;&gt;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38C6E0-F502-4F09-BB36-F777BF5CA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2228850"/>
            <a:ext cx="1847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1AE295-0C68-4175-BDDE-52BDDF201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2343150"/>
            <a:ext cx="17335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stockId</a:t>
            </a:r>
          </a:p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thresholdValue</a:t>
            </a:r>
          </a:p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isActive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41FBC1-DA92-4C5D-A7CF-E93DDC9A7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3048000"/>
            <a:ext cx="1847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7B2B7C-62D0-4909-9A7B-B5C2A9C86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3162300"/>
            <a:ext cx="17335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isTriggered(snapshot)</a:t>
            </a:r>
          </a:p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getConditionLabel()</a:t>
            </a:r>
          </a:p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buildNotification()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3CEC83-B9EA-4DA2-A784-C0C33F2FE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48000" y="1733550"/>
            <a:ext cx="2095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C89898-19AB-4DDB-96A2-8A2D8F903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48000" y="1733550"/>
            <a:ext cx="2095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5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80C41D-6988-4276-810A-F45E8C242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19450" y="1885950"/>
            <a:ext cx="1752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6"/>
                </a:solidFill>
              </a:defRPr>
            </a:pPr>
            <a:r>
              <a:rPr sz="1050" b="1">
                <a:solidFill>
                  <a:srgbClr val="172026"/>
                </a:solidFill>
              </a:rPr>
              <a:t>PriceAbove / Below</a:t>
            </a:r>
          </a:p>
          <a:p xmlns:a="http://schemas.openxmlformats.org/drawingml/2006/main">
            <a:pPr algn="l">
              <a:defRPr sz="1050" b="1">
                <a:solidFill>
                  <a:srgbClr val="172026"/>
                </a:solidFill>
              </a:defRPr>
            </a:pPr>
            <a:r>
              <a:rPr sz="1050" b="1">
                <a:solidFill>
                  <a:srgbClr val="172026"/>
                </a:solidFill>
              </a:rPr>
              <a:t>PercentChangeUp / Down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5D69FF-C23F-4D9A-9F85-2FB44F2E9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2300" y="2362200"/>
            <a:ext cx="1866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3AEB6A-1505-4068-A2FB-66529E08E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19450" y="2476500"/>
            <a:ext cx="1752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concrete rule fields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8D998F-3E66-4E44-881C-96F1EFC4C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2300" y="3086100"/>
            <a:ext cx="1866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3772F1-DCA5-433B-8F86-92E367353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19450" y="3200400"/>
            <a:ext cx="1752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override isTriggered()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152438-68FB-4178-9DEB-28C943C64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0" y="1733550"/>
            <a:ext cx="2095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6E459D-D037-46F0-A1C5-9035B0A9E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0" y="1733550"/>
            <a:ext cx="2095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139719-1C19-456E-A17E-E2DCD75DC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95950" y="1885950"/>
            <a:ext cx="1752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AlertEvaluator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81D4F8-CD4C-4D23-A9CD-143982D26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38800" y="2228850"/>
            <a:ext cx="1866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474714-1A13-474F-AAF6-6C8C36E95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95950" y="2343150"/>
            <a:ext cx="1752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evaluate(rules, snapshots)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681F60-F865-486E-B3DD-63B99F36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38800" y="2952750"/>
            <a:ext cx="1866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F203E2-694D-4A03-9768-C3E66B11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95950" y="3067050"/>
            <a:ext cx="17526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skip duplicate trigger</a:t>
            </a:r>
          </a:p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generate notifications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836CEE-ABB9-4FA5-B63A-D4EE16FF2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0" y="1733550"/>
            <a:ext cx="2095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FADCAB-D0C7-47F0-8A35-E2687CBF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0" y="1733550"/>
            <a:ext cx="2095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B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E3C999-CA13-4E27-92BB-85214CE6C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72450" y="1885950"/>
            <a:ext cx="1752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6"/>
                </a:solidFill>
              </a:defRPr>
            </a:pPr>
            <a:r>
              <a:rPr sz="1200" b="1">
                <a:solidFill>
                  <a:srgbClr val="172026"/>
                </a:solidFill>
              </a:rPr>
              <a:t>NotificationService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136CD64-47DA-48F9-BE91-AE8D3805E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15300" y="2228850"/>
            <a:ext cx="1866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D073CD5-468C-48BB-A1D4-7E21F11FC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72450" y="2343150"/>
            <a:ext cx="1752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persistTriggeredAlerts()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6BE8A8B-A153-43CC-8DE9-CE986059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15300" y="2952750"/>
            <a:ext cx="1866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368549C-5334-41EA-93DF-55C39FE3F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72450" y="3067050"/>
            <a:ext cx="17526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update lastTriggeredDate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19CD315-5D28-42A6-94AB-765A6BCF8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0" y="1733550"/>
            <a:ext cx="1524000" cy="2095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9BD3F58-4CDF-4A1F-8B3C-A995EEF29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0" y="1733550"/>
            <a:ext cx="152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B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BFFBA1C-D8AC-4F52-AAB4-240F75AF5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67950" y="1885950"/>
            <a:ext cx="1181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Market</a:t>
            </a:r>
          </a:p>
          <a:p xmlns:a="http://schemas.openxmlformats.org/drawingml/2006/main">
            <a:pPr algn="l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Snapshot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582F2ED-1C35-4658-B6F3-62BE47981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10800" y="2362200"/>
            <a:ext cx="1295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4368F84-C6D2-4B53-B180-16DAA4C69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67950" y="2476500"/>
            <a:ext cx="1181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currentPrice</a:t>
            </a:r>
          </a:p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previousClose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932CFAF-B6C4-44B2-A210-0805A1E48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10800" y="3086100"/>
            <a:ext cx="1295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C662D48-4321-4A23-8A32-E8D8447B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67950" y="3200400"/>
            <a:ext cx="1181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getPercentChange()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F7FBAFB-ACF3-4C49-8AF8-C59D55EFA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0" y="4324350"/>
            <a:ext cx="2457450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2B7F645-94B4-4E06-8531-EC150983E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0" y="4324350"/>
            <a:ext cx="2457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5DC14DE-6E0F-4CD7-A9A7-04E0EEA19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5450" y="4476750"/>
            <a:ext cx="2114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6"/>
                </a:solidFill>
              </a:defRPr>
            </a:pPr>
            <a:r>
              <a:rPr sz="1050" b="1">
                <a:solidFill>
                  <a:srgbClr val="172026"/>
                </a:solidFill>
              </a:rPr>
              <a:t>MovingAverageCross</a:t>
            </a:r>
          </a:p>
          <a:p xmlns:a="http://schemas.openxmlformats.org/drawingml/2006/main">
            <a:pPr algn="l">
              <a:defRPr sz="1050" b="1">
                <a:solidFill>
                  <a:srgbClr val="172026"/>
                </a:solidFill>
              </a:defRPr>
            </a:pPr>
            <a:r>
              <a:rPr sz="1050" b="1">
                <a:solidFill>
                  <a:srgbClr val="172026"/>
                </a:solidFill>
              </a:rPr>
              <a:t>Strategy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D09DDA7-5A8B-4F76-8A6F-FBC9AAB08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8300" y="4953000"/>
            <a:ext cx="2228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E7F01A4-96B0-468F-8445-D83B8E656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5450" y="5067300"/>
            <a:ext cx="2114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shortWindow</a:t>
            </a:r>
          </a:p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longWindow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4B112D6-AE5E-4FEB-811A-F3A56DA36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8300" y="5676900"/>
            <a:ext cx="2228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A873302-9FEF-4931-8132-9DE661E87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5450" y="5791200"/>
            <a:ext cx="2114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generateSignals(priceSeries)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9385418-C8C3-4E49-88F4-88F766EB5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14850" y="4324350"/>
            <a:ext cx="2171700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23C0591-0753-45F6-AB8C-88CD8935B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14850" y="4324350"/>
            <a:ext cx="2171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0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778CE11-DE14-4917-BBDE-860EE6360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86300" y="4476750"/>
            <a:ext cx="1828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BacktestEngine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EAC41B3-F866-4B32-BB9E-B414B8BA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9150" y="4819650"/>
            <a:ext cx="1943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E852312-DC90-4D4F-AB51-5E95C4359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86300" y="4933950"/>
            <a:ext cx="1828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run(strategy, priceSeries,</a:t>
            </a:r>
          </a:p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  initialCapital)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3AA1A60-CDB3-4B80-83C5-AED59247C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9150" y="5543550"/>
            <a:ext cx="1943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F915C5F-CAC3-42C8-8B50-640658D15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86300" y="5657850"/>
            <a:ext cx="1828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simulate trades</a:t>
            </a:r>
          </a:p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build equity curve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249D664-36DD-49A1-9298-D01EAA7F5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19950" y="4324350"/>
            <a:ext cx="1981200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49F816B-F5D5-4DC0-8989-5A10A5A45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19950" y="4324350"/>
            <a:ext cx="1981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B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D1B9057-7CD9-450A-9D9A-AB3C80856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91400" y="4476750"/>
            <a:ext cx="1638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BacktestTrade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44DEC67-99AD-4D2F-8E32-538865A83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4819650"/>
            <a:ext cx="17526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1797021-2842-4903-A460-8B9325A47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91400" y="4933950"/>
            <a:ext cx="1638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tradeType</a:t>
            </a:r>
          </a:p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tradeDate</a:t>
            </a:r>
          </a:p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price</a:t>
            </a:r>
          </a:p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quantity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2003CE2-B88C-4D3F-904F-526A8E843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5810250"/>
            <a:ext cx="17526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ED97D8E-81DE-479E-91C7-C85868FE3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91400" y="5924550"/>
            <a:ext cx="1638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toPersistence()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796363D-DC91-4243-AFAF-3CF28B048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82150" y="4324350"/>
            <a:ext cx="2038350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C560997-560E-4C92-8F6B-797C09074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82150" y="4324350"/>
            <a:ext cx="2038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5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F966F73-0E85-4659-ACF9-13D6C7E84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53600" y="4476750"/>
            <a:ext cx="169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PerformanceReport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8AF405D-68B7-4EFB-8BC3-FA8338FF9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96450" y="4819650"/>
            <a:ext cx="1809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4E64F89-899D-41BE-9EE0-1DDB08359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53600" y="4933950"/>
            <a:ext cx="16954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totalReturnPercent</a:t>
            </a:r>
          </a:p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maxDrawdownPercent</a:t>
            </a:r>
          </a:p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winRatePercent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BA066ED-F17B-4EE1-A2FB-BE6D7D454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96450" y="5638800"/>
            <a:ext cx="1809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6C4DB91-B20F-4847-B5E3-256CE04A1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53600" y="5753100"/>
            <a:ext cx="1695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fromBacktest()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8E803E7-E147-450D-90DF-2A74A28A8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7000" y="2609850"/>
            <a:ext cx="3238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2026"/>
          </a:solidFill>
          <a:ln xmlns:a="http://schemas.openxmlformats.org/drawingml/2006/main" w="0">
            <a:solidFill>
              <a:srgbClr val="172026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30A7234-2A33-4328-B440-473B33E2E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1750" y="2438400"/>
            <a:ext cx="514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4F5B66"/>
                </a:solidFill>
              </a:defRPr>
            </a:pPr>
            <a:r>
              <a:rPr sz="825" b="0">
                <a:solidFill>
                  <a:srgbClr val="4F5B66"/>
                </a:solidFill>
              </a:rPr>
              <a:t>extends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48357D4-A5E0-416E-B216-CDB5142CB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62550" y="2609850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2026"/>
          </a:solidFill>
          <a:ln xmlns:a="http://schemas.openxmlformats.org/drawingml/2006/main" w="0">
            <a:solidFill>
              <a:srgbClr val="172026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E2ACACB-1F33-4C7F-ABC5-15E50324D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67300" y="2438400"/>
            <a:ext cx="457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4F5B66"/>
                </a:solidFill>
              </a:defRPr>
            </a:pPr>
            <a:r>
              <a:rPr sz="825" b="0">
                <a:solidFill>
                  <a:srgbClr val="4F5B66"/>
                </a:solidFill>
              </a:rPr>
              <a:t>uses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4D3CCD6-7FA2-43D4-8B91-B630EF225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58100" y="2609850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2026"/>
          </a:solidFill>
          <a:ln xmlns:a="http://schemas.openxmlformats.org/drawingml/2006/main" w="0">
            <a:solidFill>
              <a:srgbClr val="172026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C1163C1-BA55-4980-B081-9F6240659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62850" y="2438400"/>
            <a:ext cx="457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4F5B66"/>
                </a:solidFill>
              </a:defRPr>
            </a:pPr>
            <a:r>
              <a:rPr sz="825" b="0">
                <a:solidFill>
                  <a:srgbClr val="4F5B66"/>
                </a:solidFill>
              </a:rPr>
              <a:t>uses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AA1F4FB-B8F2-4388-B11A-256072E07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39300" y="2609850"/>
            <a:ext cx="304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2026"/>
          </a:solidFill>
          <a:ln xmlns:a="http://schemas.openxmlformats.org/drawingml/2006/main" w="0">
            <a:solidFill>
              <a:srgbClr val="172026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C7A61AD-A7FA-48BD-9A91-3E235D0E1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44050" y="2438400"/>
            <a:ext cx="495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4F5B66"/>
                </a:solidFill>
              </a:defRPr>
            </a:pPr>
            <a:r>
              <a:rPr sz="825" b="0">
                <a:solidFill>
                  <a:srgbClr val="4F5B66"/>
                </a:solidFill>
              </a:rPr>
              <a:t>reads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27A577E-6570-403E-B5D3-B03354E18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19550" y="5200650"/>
            <a:ext cx="4000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2026"/>
          </a:solidFill>
          <a:ln xmlns:a="http://schemas.openxmlformats.org/drawingml/2006/main" w="0">
            <a:solidFill>
              <a:srgbClr val="172026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8E70F791-A2BC-44FD-874E-A271CCA4B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24300" y="5029200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4F5B66"/>
                </a:solidFill>
              </a:defRPr>
            </a:pPr>
            <a:r>
              <a:rPr sz="825" b="0">
                <a:solidFill>
                  <a:srgbClr val="4F5B66"/>
                </a:solidFill>
              </a:rPr>
              <a:t>executes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362D866-AC7B-4B5C-88F2-988DA4D68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3700" y="5200650"/>
            <a:ext cx="3810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2026"/>
          </a:solidFill>
          <a:ln xmlns:a="http://schemas.openxmlformats.org/drawingml/2006/main" w="0">
            <a:solidFill>
              <a:srgbClr val="172026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AF1866C-EB21-4FE5-BA5A-D7BD8491C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48450" y="5029200"/>
            <a:ext cx="57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4F5B66"/>
                </a:solidFill>
              </a:defRPr>
            </a:pPr>
            <a:r>
              <a:rPr sz="825" b="0">
                <a:solidFill>
                  <a:srgbClr val="4F5B66"/>
                </a:solidFill>
              </a:rPr>
              <a:t>creates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8D0AFAF-D356-4415-819D-65EFC4968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39250" y="5200650"/>
            <a:ext cx="2857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2026"/>
          </a:solidFill>
          <a:ln xmlns:a="http://schemas.openxmlformats.org/drawingml/2006/main" w="0">
            <a:solidFill>
              <a:srgbClr val="172026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D638A4C-05CE-4141-BDDA-C4369395A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0" y="5029200"/>
            <a:ext cx="47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4F5B66"/>
                </a:solidFill>
              </a:defRPr>
            </a:pPr>
            <a:r>
              <a:rPr sz="825" b="0">
                <a:solidFill>
                  <a:srgbClr val="4F5B66"/>
                </a:solidFill>
              </a:rPr>
              <a:t>builds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38E20A6-A0F8-4592-91E4-D549F99F5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534150"/>
            <a:ext cx="971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F5B66"/>
                </a:solidFill>
              </a:defRPr>
            </a:pPr>
            <a:r>
              <a:rPr sz="750" b="0">
                <a:solidFill>
                  <a:srgbClr val="4F5B66"/>
                </a:solidFill>
              </a:rPr>
              <a:t>This slide is the core OOAD evidence: abstract rules, concrete strategies, an engine, and report objects.</a:t>
            </a:r>
          </a:p>
        </p:txBody>
      </p:sp>
    </p:spTree>
    <p:extLst>
      <p:ext uri="{BB962C8B-B14F-4D97-AF65-F5344CB8AC3E}">
        <p14:creationId xmlns:p14="http://schemas.microsoft.com/office/powerpoint/2010/main" val="187436175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60A3D4F-64A0-4F27-A895-8E152D64028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A72344-A1E5-40D4-8F8E-09859BBD6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0250" y="-8572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5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1A23AA-4B83-464F-AFB3-400A2001B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857250" y="53340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EF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541767-68EF-4DA2-A3CF-07FF26A0F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2667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E6B52"/>
                </a:solidFill>
              </a:defRPr>
            </a:pPr>
            <a:r>
              <a:rPr sz="825" b="1">
                <a:solidFill>
                  <a:srgbClr val="0E6B52"/>
                </a:solidFill>
              </a:rPr>
              <a:t>CSC0005 Project Checkpoint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262143-E3C1-4BA7-B76D-323634A0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63300" y="2476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E6B52"/>
                </a:solidFill>
              </a:defRPr>
            </a:pPr>
            <a:r>
              <a:rPr sz="900" b="1">
                <a:solidFill>
                  <a:srgbClr val="0E6B52"/>
                </a:solidFill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7871DC-41E0-4DA0-BA3F-E6004D9DA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CC709-4A6C-497F-8E6B-2D955EFA5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781050"/>
            <a:ext cx="885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6"/>
                </a:solidFill>
              </a:defRPr>
            </a:pPr>
            <a:r>
              <a:rPr sz="2400" b="1">
                <a:solidFill>
                  <a:srgbClr val="172026"/>
                </a:solidFill>
              </a:rPr>
              <a:t>Design Pattern 1 - Strategy Pattern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84E5F5-4D72-41A6-846E-3E40BB060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" y="125730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F5B66"/>
                </a:solidFill>
              </a:defRPr>
            </a:pPr>
            <a:r>
              <a:rPr sz="1200" b="0">
                <a:solidFill>
                  <a:srgbClr val="4F5B66"/>
                </a:solidFill>
              </a:rPr>
              <a:t>Describe its intent, then show where it appears and what effect it has on the prototype.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748A7F-D591-4092-B26D-310AC47DA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1866900"/>
            <a:ext cx="3086100" cy="3829050"/>
          </a:xfrm>
          <a:prstGeom xmlns:a="http://schemas.openxmlformats.org/drawingml/2006/main" prst="roundRect">
            <a:avLst>
              <a:gd name="adj" fmla="val 246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38AABE-63EC-4198-8F81-14F6F35A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1866900"/>
            <a:ext cx="3086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5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BF30CA-C425-49A0-A641-7238963A8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" y="2038350"/>
            <a:ext cx="2705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Intent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0F64B4-013D-4975-9CBF-BE48AAC68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2400300"/>
            <a:ext cx="25908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6"/>
                </a:solidFill>
              </a:defRPr>
            </a:pPr>
            <a:r>
              <a:rPr sz="1275" b="0">
                <a:solidFill>
                  <a:srgbClr val="172026"/>
                </a:solidFill>
              </a:rPr>
              <a:t>Encapsulate interchangeable algorithms behind a common interface so the main execution flow does not depend on concrete implementations.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172026"/>
                </a:solidFill>
              </a:defRPr>
            </a:pPr>
            <a:r>
              <a:rPr sz="1275" b="0">
                <a:solidFill>
                  <a:srgbClr val="172026"/>
                </a:solidFill>
              </a:rPr>
              <a:t>This helps the system switch behavior without changing the controller or service logic.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37CA48-DA38-4847-9C87-7D48C6B10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33900" y="1866900"/>
            <a:ext cx="3162300" cy="3829050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F6E9DC-6B44-446B-BFA8-FC27C5604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33900" y="1866900"/>
            <a:ext cx="3162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436917-DBC3-461F-9BF1-8FA0477EE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24400" y="2038350"/>
            <a:ext cx="2781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Where we use 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9F814F-7A78-4950-9C68-0761071C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81550" y="2400300"/>
            <a:ext cx="26670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6"/>
                </a:solidFill>
              </a:defRPr>
            </a:pPr>
            <a:r>
              <a:rPr sz="1275" b="0">
                <a:solidFill>
                  <a:srgbClr val="172026"/>
                </a:solidFill>
              </a:rPr>
              <a:t>1. Alert rules</a:t>
            </a:r>
          </a:p>
          <a:p xmlns:a="http://schemas.openxmlformats.org/drawingml/2006/main">
            <a:pPr algn="l">
              <a:defRPr sz="1275" b="0">
                <a:solidFill>
                  <a:srgbClr val="172026"/>
                </a:solidFill>
              </a:defRPr>
            </a:pPr>
            <a:r>
              <a:rPr sz="1275" b="0">
                <a:solidFill>
                  <a:srgbClr val="172026"/>
                </a:solidFill>
              </a:rPr>
              <a:t>AlertRule -&gt; PriceAboveAlertRule / PriceBelowAlertRule / PercentChange rules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172026"/>
                </a:solidFill>
              </a:defRPr>
            </a:pPr>
            <a:r>
              <a:rPr sz="1275" b="0">
                <a:solidFill>
                  <a:srgbClr val="172026"/>
                </a:solidFill>
              </a:rPr>
              <a:t>2. Backtest strategy</a:t>
            </a:r>
          </a:p>
          <a:p xmlns:a="http://schemas.openxmlformats.org/drawingml/2006/main">
            <a:pPr algn="l">
              <a:defRPr sz="1275" b="0">
                <a:solidFill>
                  <a:srgbClr val="172026"/>
                </a:solidFill>
              </a:defRPr>
            </a:pPr>
            <a:r>
              <a:rPr sz="1275" b="0">
                <a:solidFill>
                  <a:srgbClr val="172026"/>
                </a:solidFill>
              </a:rPr>
              <a:t>MovingAverageCrossStrategy is executed by BacktestEngine and can be extended by future RSI or breakout strategies.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9D333C-6F56-49A4-A1F3-B63F9A5BE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34400" y="1866900"/>
            <a:ext cx="3048000" cy="382905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D7D1E4-04C8-4F2D-B641-061FB6566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34400" y="1866900"/>
            <a:ext cx="3048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0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84B8A4-067D-4C8E-8892-A8CF0FC78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24900" y="203835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Effect on project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030680-F1EF-4181-9789-822343A00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82050" y="2400300"/>
            <a:ext cx="25527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6"/>
                </a:solidFill>
              </a:defRPr>
            </a:pPr>
            <a:r>
              <a:rPr sz="1275" b="0">
                <a:solidFill>
                  <a:srgbClr val="172026"/>
                </a:solidFill>
              </a:rPr>
              <a:t>1. Reduces large if-else blocks</a:t>
            </a:r>
          </a:p>
          <a:p xmlns:a="http://schemas.openxmlformats.org/drawingml/2006/main">
            <a:pPr algn="l">
              <a:defRPr sz="1275" b="0">
                <a:solidFill>
                  <a:srgbClr val="172026"/>
                </a:solidFill>
              </a:defRPr>
            </a:pPr>
            <a:r>
              <a:rPr sz="1275" b="0">
                <a:solidFill>
                  <a:srgbClr val="172026"/>
                </a:solidFill>
              </a:rPr>
              <a:t>2. Improves extensibility</a:t>
            </a:r>
          </a:p>
          <a:p xmlns:a="http://schemas.openxmlformats.org/drawingml/2006/main">
            <a:pPr algn="l">
              <a:defRPr sz="1275" b="0">
                <a:solidFill>
                  <a:srgbClr val="172026"/>
                </a:solidFill>
              </a:defRPr>
            </a:pPr>
            <a:r>
              <a:rPr sz="1275" b="0">
                <a:solidFill>
                  <a:srgbClr val="172026"/>
                </a:solidFill>
              </a:rPr>
              <a:t>3. Makes the OO design more visible</a:t>
            </a:r>
          </a:p>
          <a:p xmlns:a="http://schemas.openxmlformats.org/drawingml/2006/main">
            <a:pPr algn="l">
              <a:defRPr sz="1275" b="0">
                <a:solidFill>
                  <a:srgbClr val="172026"/>
                </a:solidFill>
              </a:defRPr>
            </a:pPr>
            <a:r>
              <a:rPr sz="1275" b="0">
                <a:solidFill>
                  <a:srgbClr val="172026"/>
                </a:solidFill>
              </a:rPr>
              <a:t>4. Lets evaluators and engines stay stable while algorithms vary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83CA5F-1174-4953-9F24-89E3B33E3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43450" y="4838700"/>
            <a:ext cx="10858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AEFD9"/>
          </a:solidFill>
          <a:ln xmlns:a="http://schemas.openxmlformats.org/drawingml/2006/main" w="10478">
            <a:solidFill>
              <a:srgbClr val="23313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0D61EA-2BDD-47C9-A236-B4DD946A8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43450" y="4953000"/>
            <a:ext cx="1085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26"/>
                </a:solidFill>
              </a:defRPr>
            </a:pPr>
            <a:r>
              <a:rPr sz="1200" b="1">
                <a:solidFill>
                  <a:srgbClr val="172026"/>
                </a:solidFill>
              </a:rPr>
              <a:t>AlertRule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CCB4C0-8A4D-472D-96DF-50B7C662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67400" y="4972050"/>
            <a:ext cx="5524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2026"/>
          </a:solidFill>
          <a:ln xmlns:a="http://schemas.openxmlformats.org/drawingml/2006/main" w="0">
            <a:solidFill>
              <a:srgbClr val="17202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C9E108-4B77-4ED1-9FDD-EABCC19CD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53200" y="4686300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FF5EC"/>
          </a:solidFill>
          <a:ln xmlns:a="http://schemas.openxmlformats.org/drawingml/2006/main" w="10478">
            <a:solidFill>
              <a:srgbClr val="23313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6AA4F6-8E38-4AB3-9992-BDFCE998A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53200" y="4772025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26"/>
                </a:solidFill>
              </a:defRPr>
            </a:pPr>
            <a:r>
              <a:rPr sz="975" b="1">
                <a:solidFill>
                  <a:srgbClr val="172026"/>
                </a:solidFill>
              </a:rPr>
              <a:t>PriceAbove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EC3CA3-9583-42CC-AA66-C7713B384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53200" y="5105400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5EEFF"/>
          </a:solidFill>
          <a:ln xmlns:a="http://schemas.openxmlformats.org/drawingml/2006/main" w="10478">
            <a:solidFill>
              <a:srgbClr val="23313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CE566E-C358-4B77-8C6E-8F0362633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53200" y="5191125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26"/>
                </a:solidFill>
              </a:defRPr>
            </a:pPr>
            <a:r>
              <a:rPr sz="975" b="1">
                <a:solidFill>
                  <a:srgbClr val="172026"/>
                </a:solidFill>
              </a:rPr>
              <a:t>PercentChange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54D3CF-7627-441F-9911-195BAC4AA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534150"/>
            <a:ext cx="971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F5B66"/>
                </a:solidFill>
              </a:defRPr>
            </a:pPr>
            <a:r>
              <a:rPr sz="750" b="0">
                <a:solidFill>
                  <a:srgbClr val="4F5B66"/>
                </a:solidFill>
              </a:rPr>
              <a:t>Draft for checkpoint presentation. Replace member names and screenshots before submission.</a:t>
            </a:r>
          </a:p>
        </p:txBody>
      </p:sp>
    </p:spTree>
    <p:extLst>
      <p:ext uri="{BB962C8B-B14F-4D97-AF65-F5344CB8AC3E}">
        <p14:creationId xmlns:p14="http://schemas.microsoft.com/office/powerpoint/2010/main" val="156602464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60A3D4F-64A0-4F27-A895-8E152D64028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901A79-9A98-4680-B5D9-F5A222407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0250" y="-8572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5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CC322F-E89C-485D-AD06-B600820B1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857250" y="53340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EF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99BF06-6AB9-4629-B538-C25DEC81C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2667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E6B52"/>
                </a:solidFill>
              </a:defRPr>
            </a:pPr>
            <a:r>
              <a:rPr sz="825" b="1">
                <a:solidFill>
                  <a:srgbClr val="0E6B52"/>
                </a:solidFill>
              </a:rPr>
              <a:t>CSC0005 Project Checkpoint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E419C6-B4B9-424C-AAE2-469D45ED8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63300" y="2476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E6B52"/>
                </a:solidFill>
              </a:defRPr>
            </a:pPr>
            <a:r>
              <a:rPr sz="900" b="1">
                <a:solidFill>
                  <a:srgbClr val="0E6B52"/>
                </a:solidFill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3A7FED-16EC-472A-A7E3-906456E41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5025E1-5E63-4A96-937E-C13CE656B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781050"/>
            <a:ext cx="885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6"/>
                </a:solidFill>
              </a:defRPr>
            </a:pPr>
            <a:r>
              <a:rPr sz="2400" b="1">
                <a:solidFill>
                  <a:srgbClr val="172026"/>
                </a:solidFill>
              </a:rPr>
              <a:t>Design Pattern 2 - Factory Pattern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A88880-A2B0-40F0-83A7-FA3B5C458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" y="125730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F5B66"/>
                </a:solidFill>
              </a:defRPr>
            </a:pPr>
            <a:r>
              <a:rPr sz="1200" b="0">
                <a:solidFill>
                  <a:srgbClr val="4F5B66"/>
                </a:solidFill>
              </a:rPr>
              <a:t>The pattern must have a real effect on the project, not just be mentioned in theory.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80E493-21A7-4731-A272-471794A96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1866900"/>
            <a:ext cx="3143250" cy="37909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B0DD17-188A-4043-ACE8-1D437C0E7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1866900"/>
            <a:ext cx="3143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B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11DDFA-1828-4BFC-B763-348B59165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" y="2038350"/>
            <a:ext cx="2762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Intent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A2F34E-1774-417A-8A59-E2E209F70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2400300"/>
            <a:ext cx="26479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6"/>
                </a:solidFill>
              </a:defRPr>
            </a:pPr>
            <a:r>
              <a:rPr sz="1275" b="0">
                <a:solidFill>
                  <a:srgbClr val="172026"/>
                </a:solidFill>
              </a:rPr>
              <a:t>Centralize object creation logic so upper layers do not depend on concrete classes directly.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172026"/>
                </a:solidFill>
              </a:defRPr>
            </a:pPr>
            <a:r>
              <a:rPr sz="1275" b="0">
                <a:solidFill>
                  <a:srgbClr val="172026"/>
                </a:solidFill>
              </a:rPr>
              <a:t>The API layer should not decide which concrete rule object to instantiate by itself.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A1E7D4-1B09-47C0-916F-EB78EB048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14850" y="1866900"/>
            <a:ext cx="3295650" cy="3790950"/>
          </a:xfrm>
          <a:prstGeom xmlns:a="http://schemas.openxmlformats.org/drawingml/2006/main" prst="roundRect">
            <a:avLst>
              <a:gd name="adj" fmla="val 231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E7A4FD-3861-4683-873F-1DEDE4374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14850" y="1866900"/>
            <a:ext cx="32956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5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A1B27B-D610-431F-A90A-8CAF1FA6A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05350" y="2038350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Where we use 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B7EA53-5528-4B08-8B77-B34E7D74E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0" y="2400300"/>
            <a:ext cx="280035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6"/>
                </a:solidFill>
              </a:defRPr>
            </a:pPr>
            <a:r>
              <a:rPr sz="1275" b="0">
                <a:solidFill>
                  <a:srgbClr val="172026"/>
                </a:solidFill>
              </a:rPr>
              <a:t>Function: createAlertRule(...)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172026"/>
                </a:solidFill>
              </a:defRPr>
            </a:pPr>
            <a:r>
              <a:rPr sz="1275" b="0">
                <a:solidFill>
                  <a:srgbClr val="172026"/>
                </a:solidFill>
              </a:rPr>
              <a:t>Input: alert rule record from database</a:t>
            </a:r>
          </a:p>
          <a:p xmlns:a="http://schemas.openxmlformats.org/drawingml/2006/main">
            <a:pPr algn="l">
              <a:defRPr sz="1275" b="0">
                <a:solidFill>
                  <a:srgbClr val="172026"/>
                </a:solidFill>
              </a:defRPr>
            </a:pPr>
            <a:r>
              <a:rPr sz="1275" b="0">
                <a:solidFill>
                  <a:srgbClr val="172026"/>
                </a:solidFill>
              </a:rPr>
              <a:t>Output: concrete AlertRule object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172026"/>
                </a:solidFill>
              </a:defRPr>
            </a:pPr>
            <a:r>
              <a:rPr sz="1275" b="0">
                <a:solidFill>
                  <a:srgbClr val="172026"/>
                </a:solidFill>
              </a:rPr>
              <a:t>This converts stored configuration into executable domain objects before evaluation.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9BA2F3-8E32-4501-9ED4-CB5C0953D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0" y="1866900"/>
            <a:ext cx="3009900" cy="3790950"/>
          </a:xfrm>
          <a:prstGeom xmlns:a="http://schemas.openxmlformats.org/drawingml/2006/main" prst="roundRect">
            <a:avLst>
              <a:gd name="adj" fmla="val 253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A0F86F-83F9-440B-8830-A78850071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0" y="1866900"/>
            <a:ext cx="3009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0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3D807E-10B5-49A8-A7DE-4CA81D725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0" y="2038350"/>
            <a:ext cx="2628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Effect on project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879178-E423-4F89-9EEF-FDCBE4155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0150" y="2400300"/>
            <a:ext cx="25146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6"/>
                </a:solidFill>
              </a:defRPr>
            </a:pPr>
            <a:r>
              <a:rPr sz="1275" b="0">
                <a:solidFill>
                  <a:srgbClr val="172026"/>
                </a:solidFill>
              </a:rPr>
              <a:t>1. API code stays simpler</a:t>
            </a:r>
          </a:p>
          <a:p xmlns:a="http://schemas.openxmlformats.org/drawingml/2006/main">
            <a:pPr algn="l">
              <a:defRPr sz="1275" b="0">
                <a:solidFill>
                  <a:srgbClr val="172026"/>
                </a:solidFill>
              </a:defRPr>
            </a:pPr>
            <a:r>
              <a:rPr sz="1275" b="0">
                <a:solidFill>
                  <a:srgbClr val="172026"/>
                </a:solidFill>
              </a:rPr>
              <a:t>2. Object creation logic is reusable</a:t>
            </a:r>
          </a:p>
          <a:p xmlns:a="http://schemas.openxmlformats.org/drawingml/2006/main">
            <a:pPr algn="l">
              <a:defRPr sz="1275" b="0">
                <a:solidFill>
                  <a:srgbClr val="172026"/>
                </a:solidFill>
              </a:defRPr>
            </a:pPr>
            <a:r>
              <a:rPr sz="1275" b="0">
                <a:solidFill>
                  <a:srgbClr val="172026"/>
                </a:solidFill>
              </a:rPr>
              <a:t>3. Easier to add new rule types</a:t>
            </a:r>
          </a:p>
          <a:p xmlns:a="http://schemas.openxmlformats.org/drawingml/2006/main">
            <a:pPr algn="l">
              <a:defRPr sz="1275" b="0">
                <a:solidFill>
                  <a:srgbClr val="172026"/>
                </a:solidFill>
              </a:defRPr>
            </a:pPr>
            <a:r>
              <a:rPr sz="1275" b="0">
                <a:solidFill>
                  <a:srgbClr val="172026"/>
                </a:solidFill>
              </a:rPr>
              <a:t>4. Can be extended later to StrategyFactory for multiple backtest strategies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35F1EB-E04B-4381-8DB2-61822EDC6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00600" y="461010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BE5DF"/>
          </a:solidFill>
          <a:ln xmlns:a="http://schemas.openxmlformats.org/drawingml/2006/main" w="10478">
            <a:solidFill>
              <a:srgbClr val="23313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A9D6B7-6221-437B-8700-BE09D4D7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00600" y="472440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26"/>
                </a:solidFill>
              </a:defRPr>
            </a:pPr>
            <a:r>
              <a:rPr sz="1125" b="1">
                <a:solidFill>
                  <a:srgbClr val="172026"/>
                </a:solidFill>
              </a:rPr>
              <a:t>DB rule record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5B93E5-5574-45A4-9585-7CA1402CE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05550" y="4752975"/>
            <a:ext cx="704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2026"/>
          </a:solidFill>
          <a:ln xmlns:a="http://schemas.openxmlformats.org/drawingml/2006/main" w="0">
            <a:solidFill>
              <a:srgbClr val="17202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3667DA-260F-42A9-920A-7C881677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7550" y="4514850"/>
            <a:ext cx="14859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DFF5EC"/>
          </a:solidFill>
          <a:ln xmlns:a="http://schemas.openxmlformats.org/drawingml/2006/main" w="10478">
            <a:solidFill>
              <a:srgbClr val="23313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29E22C-550A-42FA-9F27-48E27425D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7550" y="4667250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26"/>
                </a:solidFill>
              </a:defRPr>
            </a:pPr>
            <a:r>
              <a:rPr sz="1125" b="1">
                <a:solidFill>
                  <a:srgbClr val="172026"/>
                </a:solidFill>
              </a:rPr>
              <a:t>createAlertRule(...)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925979-E097-4CC4-9BCB-D626DC90B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10600" y="4752975"/>
            <a:ext cx="704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2026"/>
          </a:solidFill>
          <a:ln xmlns:a="http://schemas.openxmlformats.org/drawingml/2006/main" w="0">
            <a:solidFill>
              <a:srgbClr val="17202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C5CABF-8BF8-4377-933D-538B59401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91650" y="4400550"/>
            <a:ext cx="17335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AEFD9"/>
          </a:solidFill>
          <a:ln xmlns:a="http://schemas.openxmlformats.org/drawingml/2006/main" w="10478">
            <a:solidFill>
              <a:srgbClr val="23313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AEBC6F-F18B-47D6-AAE8-6282CB0E4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91650" y="4495800"/>
            <a:ext cx="1733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26"/>
                </a:solidFill>
              </a:defRPr>
            </a:pPr>
            <a:r>
              <a:rPr sz="975" b="1">
                <a:solidFill>
                  <a:srgbClr val="172026"/>
                </a:solidFill>
              </a:rPr>
              <a:t>PriceAboveAlertRule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ABD9B0-7647-47E2-8C41-C8A2D9F47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91650" y="4876800"/>
            <a:ext cx="17335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5EEFF"/>
          </a:solidFill>
          <a:ln xmlns:a="http://schemas.openxmlformats.org/drawingml/2006/main" w="10478">
            <a:solidFill>
              <a:srgbClr val="23313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890936-C189-40C2-89BA-8AF47822A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91650" y="4972050"/>
            <a:ext cx="1733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26"/>
                </a:solidFill>
              </a:defRPr>
            </a:pPr>
            <a:r>
              <a:rPr sz="975" b="1">
                <a:solidFill>
                  <a:srgbClr val="172026"/>
                </a:solidFill>
              </a:rPr>
              <a:t>PercentChangeUpAlertRule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B6116E-A508-4177-9B93-C3C5821BB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534150"/>
            <a:ext cx="971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F5B66"/>
                </a:solidFill>
              </a:defRPr>
            </a:pPr>
            <a:r>
              <a:rPr sz="750" b="0">
                <a:solidFill>
                  <a:srgbClr val="4F5B66"/>
                </a:solidFill>
              </a:rPr>
              <a:t>Draft for checkpoint presentation. Replace member names and screenshots before submission.</a:t>
            </a:r>
          </a:p>
        </p:txBody>
      </p:sp>
    </p:spTree>
    <p:extLst>
      <p:ext uri="{BB962C8B-B14F-4D97-AF65-F5344CB8AC3E}">
        <p14:creationId xmlns:p14="http://schemas.microsoft.com/office/powerpoint/2010/main" val="79091692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60A3D4F-64A0-4F27-A895-8E152D64028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CFCB78-B8F0-4095-B891-3E919CE36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0250" y="-8572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5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9C9E17-7486-4276-947D-4790CA600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857250" y="53340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EF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B726FA-829C-4488-BD0D-E77F2FD94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2667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E6B52"/>
                </a:solidFill>
              </a:defRPr>
            </a:pPr>
            <a:r>
              <a:rPr sz="825" b="1">
                <a:solidFill>
                  <a:srgbClr val="0E6B52"/>
                </a:solidFill>
              </a:rPr>
              <a:t>CSC0005 Project Checkpoint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2A05B2-DF2B-4E2E-B181-4E1B63B5D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63300" y="2476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E6B52"/>
                </a:solidFill>
              </a:defRPr>
            </a:pPr>
            <a:r>
              <a:rPr sz="900" b="1">
                <a:solidFill>
                  <a:srgbClr val="0E6B52"/>
                </a:solidFill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F4985E-586D-46B8-890D-1BA610A5F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B83055-5F54-40DE-8E8D-EAA9413CC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781050"/>
            <a:ext cx="885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6"/>
                </a:solidFill>
              </a:defRPr>
            </a:pPr>
            <a:r>
              <a:rPr sz="2400" b="1">
                <a:solidFill>
                  <a:srgbClr val="172026"/>
                </a:solidFill>
              </a:rPr>
              <a:t>Conclusion and Next Steps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7A22EF-C425-481F-957E-B47BA3010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" y="125730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F5B66"/>
                </a:solidFill>
              </a:defRPr>
            </a:pPr>
            <a:r>
              <a:rPr sz="1200" b="0">
                <a:solidFill>
                  <a:srgbClr val="4F5B66"/>
                </a:solidFill>
              </a:rPr>
              <a:t>Close the checkpoint by showing what has already changed and what will be done next.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20BDDF-9846-488D-995F-BB77649DA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1962150"/>
            <a:ext cx="3429000" cy="264795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E76EE6-4755-46E1-B4FF-68A6E8A2F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1962150"/>
            <a:ext cx="3429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5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C56189-883F-4289-94E3-E8D936884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" y="213360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Checkpoint conclusion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697785-7C89-42CB-BF83-1989B22CC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2514600"/>
            <a:ext cx="29337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6"/>
                </a:solidFill>
              </a:defRPr>
            </a:pPr>
            <a:r>
              <a:rPr sz="1350" b="0">
                <a:solidFill>
                  <a:srgbClr val="172026"/>
                </a:solidFill>
              </a:rPr>
              <a:t>The project has evolved from a data-query website into a rule-driven investment analysis platform.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72026"/>
                </a:solidFill>
              </a:defRPr>
            </a:pPr>
            <a:r>
              <a:rPr sz="1350" b="0">
                <a:solidFill>
                  <a:srgbClr val="172026"/>
                </a:solidFill>
              </a:rPr>
              <a:t>It now demonstrates object responsibilities, domain modeling, diagram-ready structure, and concrete design pattern effects.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CC8559-B6C0-4583-8BFC-243DB0A62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81500" y="1962150"/>
            <a:ext cx="3429000" cy="264795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C37C81-55CF-4BCB-8DF1-6C39EF306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81500" y="1962150"/>
            <a:ext cx="3429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289FA8-7859-45B5-9B27-B16325C70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0" y="213360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What is already implemented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BD1BA3-D5DF-4042-B092-018A120DC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9150" y="2514600"/>
            <a:ext cx="29337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6"/>
                </a:solidFill>
              </a:defRPr>
            </a:pPr>
            <a:r>
              <a:rPr sz="1350" b="0">
                <a:solidFill>
                  <a:srgbClr val="172026"/>
                </a:solidFill>
              </a:rPr>
              <a:t>- MySQL rebuilt and integrated</a:t>
            </a:r>
          </a:p>
          <a:p xmlns:a="http://schemas.openxmlformats.org/drawingml/2006/main">
            <a:pPr algn="l">
              <a:defRPr sz="1350" b="0">
                <a:solidFill>
                  <a:srgbClr val="172026"/>
                </a:solidFill>
              </a:defRPr>
            </a:pPr>
            <a:r>
              <a:rPr sz="1350" b="0">
                <a:solidFill>
                  <a:srgbClr val="172026"/>
                </a:solidFill>
              </a:rPr>
              <a:t>- Portfolio Domain refactored</a:t>
            </a:r>
          </a:p>
          <a:p xmlns:a="http://schemas.openxmlformats.org/drawingml/2006/main">
            <a:pPr algn="l">
              <a:defRPr sz="1350" b="0">
                <a:solidFill>
                  <a:srgbClr val="172026"/>
                </a:solidFill>
              </a:defRPr>
            </a:pPr>
            <a:r>
              <a:rPr sz="1350" b="0">
                <a:solidFill>
                  <a:srgbClr val="172026"/>
                </a:solidFill>
              </a:rPr>
              <a:t>- Alerts and notifications added</a:t>
            </a:r>
          </a:p>
          <a:p xmlns:a="http://schemas.openxmlformats.org/drawingml/2006/main">
            <a:pPr algn="l">
              <a:defRPr sz="1350" b="0">
                <a:solidFill>
                  <a:srgbClr val="172026"/>
                </a:solidFill>
              </a:defRPr>
            </a:pPr>
            <a:r>
              <a:rPr sz="1350" b="0">
                <a:solidFill>
                  <a:srgbClr val="172026"/>
                </a:solidFill>
              </a:rPr>
              <a:t>- Moving-average backtest added</a:t>
            </a:r>
          </a:p>
          <a:p xmlns:a="http://schemas.openxmlformats.org/drawingml/2006/main">
            <a:pPr algn="l">
              <a:defRPr sz="1350" b="0">
                <a:solidFill>
                  <a:srgbClr val="172026"/>
                </a:solidFill>
              </a:defRPr>
            </a:pPr>
            <a:r>
              <a:rPr sz="1350" b="0">
                <a:solidFill>
                  <a:srgbClr val="172026"/>
                </a:solidFill>
              </a:rPr>
              <a:t>- Dashboard navigation updated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6B6564-D49B-4587-AAB2-5A8110434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53400" y="1962150"/>
            <a:ext cx="3429000" cy="264795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058621-48C9-4117-83CA-C10A3F758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53400" y="1962150"/>
            <a:ext cx="3429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0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42A982-4315-4259-9D2E-EC0F7A47D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43900" y="213360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Next development direction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C36B5E-1D22-49B5-84E0-2CB408055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01050" y="2514600"/>
            <a:ext cx="29337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6"/>
                </a:solidFill>
              </a:defRPr>
            </a:pPr>
            <a:r>
              <a:rPr sz="1350" b="0">
                <a:solidFill>
                  <a:srgbClr val="172026"/>
                </a:solidFill>
              </a:rPr>
              <a:t>- Add more strategies such as RSI</a:t>
            </a:r>
          </a:p>
          <a:p xmlns:a="http://schemas.openxmlformats.org/drawingml/2006/main">
            <a:pPr algn="l">
              <a:defRPr sz="1350" b="0">
                <a:solidFill>
                  <a:srgbClr val="172026"/>
                </a:solidFill>
              </a:defRPr>
            </a:pPr>
            <a:r>
              <a:rPr sz="1350" b="0">
                <a:solidFill>
                  <a:srgbClr val="172026"/>
                </a:solidFill>
              </a:rPr>
              <a:t>- Add scheduled alert evaluation</a:t>
            </a:r>
          </a:p>
          <a:p xmlns:a="http://schemas.openxmlformats.org/drawingml/2006/main">
            <a:pPr algn="l">
              <a:defRPr sz="1350" b="0">
                <a:solidFill>
                  <a:srgbClr val="172026"/>
                </a:solidFill>
              </a:defRPr>
            </a:pPr>
            <a:r>
              <a:rPr sz="1350" b="0">
                <a:solidFill>
                  <a:srgbClr val="172026"/>
                </a:solidFill>
              </a:rPr>
              <a:t>- Compare multiple backtest parameters</a:t>
            </a:r>
          </a:p>
          <a:p xmlns:a="http://schemas.openxmlformats.org/drawingml/2006/main">
            <a:pPr algn="l">
              <a:defRPr sz="1350" b="0">
                <a:solidFill>
                  <a:srgbClr val="172026"/>
                </a:solidFill>
              </a:defRPr>
            </a:pPr>
            <a:r>
              <a:rPr sz="1350" b="0">
                <a:solidFill>
                  <a:srgbClr val="172026"/>
                </a:solidFill>
              </a:rPr>
              <a:t>- Replace placeholders with final screenshots and member names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DE1F57-457E-40AE-BB6E-FEA17E34E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2100" y="5105400"/>
            <a:ext cx="90868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86B660-B4C0-48BC-859B-14FF4616A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6900" y="5391150"/>
            <a:ext cx="8477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26"/>
                </a:solidFill>
              </a:defRPr>
            </a:pPr>
            <a:r>
              <a:rPr sz="1800" b="1">
                <a:solidFill>
                  <a:srgbClr val="172026"/>
                </a:solidFill>
              </a:rPr>
              <a:t>Final message for presentation:</a:t>
            </a:r>
          </a:p>
          <a:p xmlns:a="http://schemas.openxmlformats.org/drawingml/2006/main">
            <a:pPr algn="ctr">
              <a:defRPr sz="1800" b="1">
                <a:solidFill>
                  <a:srgbClr val="172026"/>
                </a:solidFill>
              </a:defRPr>
            </a:pPr>
            <a:r>
              <a:rPr sz="1800" b="1">
                <a:solidFill>
                  <a:srgbClr val="172026"/>
                </a:solidFill>
              </a:rPr>
              <a:t>Our checkpoint focus is not only what the system can do, but how object-oriented analysis and design now structure the system.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F77BFF-97B7-44AA-A5FB-FAD224B01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534150"/>
            <a:ext cx="971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F5B66"/>
                </a:solidFill>
              </a:defRPr>
            </a:pPr>
            <a:r>
              <a:rPr sz="750" b="0">
                <a:solidFill>
                  <a:srgbClr val="4F5B66"/>
                </a:solidFill>
              </a:rPr>
              <a:t>After this draft, the next best step is replacing placeholders and exporting final screenshots from the running prototype.</a:t>
            </a:r>
          </a:p>
        </p:txBody>
      </p:sp>
    </p:spTree>
    <p:extLst>
      <p:ext uri="{BB962C8B-B14F-4D97-AF65-F5344CB8AC3E}">
        <p14:creationId xmlns:p14="http://schemas.microsoft.com/office/powerpoint/2010/main" val="164267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2026-04-25T08:26:44.3140000Z</dcterms:created>
  <dcterms:modified xsi:type="dcterms:W3CDTF">2026-04-25T08:26:44.3140000Z</dcterms:modified>
</coreProperties>
</file>